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1fce244e9028452a" Type="http://schemas.openxmlformats.org/officeDocument/2006/relationships/extended-properties" Target="docProps/app.xml"/><Relationship Id="R927f87c3c8874e81" Type="http://schemas.openxmlformats.org/package/2006/relationships/metadata/core-properties" Target="docProps/core.xml"/><Relationship Id="Rbc157105a61f4bf9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28729cab17f4c1b"/>
  </p:sldMasterIdLst>
  <p:notesMasterIdLst>
    <p:notesMasterId xmlns:r="http://schemas.openxmlformats.org/officeDocument/2006/relationships" r:id="R203dae9e2cfe4a29"/>
  </p:notesMasterIdLst>
  <p:sldIdLst>
    <p:sldId xmlns:r="http://schemas.openxmlformats.org/officeDocument/2006/relationships" id="256" r:id="R52644e94f5d443f4"/>
    <p:sldId xmlns:r="http://schemas.openxmlformats.org/officeDocument/2006/relationships" id="257" r:id="R91a75af6edf540e3"/>
    <p:sldId xmlns:r="http://schemas.openxmlformats.org/officeDocument/2006/relationships" id="258" r:id="Rab292a9b5308499e"/>
    <p:sldId xmlns:r="http://schemas.openxmlformats.org/officeDocument/2006/relationships" id="259" r:id="R6b33079234094aeb"/>
    <p:sldId xmlns:r="http://schemas.openxmlformats.org/officeDocument/2006/relationships" id="260" r:id="R0f75b9c5e2f54d82"/>
    <p:sldId xmlns:r="http://schemas.openxmlformats.org/officeDocument/2006/relationships" id="261" r:id="Rdd1c4dcff4564b52"/>
    <p:sldId xmlns:r="http://schemas.openxmlformats.org/officeDocument/2006/relationships" id="262" r:id="R850d6e49ee194614"/>
    <p:sldId xmlns:r="http://schemas.openxmlformats.org/officeDocument/2006/relationships" id="263" r:id="R1be9d67a12ae4b18"/>
    <p:sldId xmlns:r="http://schemas.openxmlformats.org/officeDocument/2006/relationships" id="264" r:id="Rdbd28ea190944f5b"/>
    <p:sldId xmlns:r="http://schemas.openxmlformats.org/officeDocument/2006/relationships" id="265" r:id="R51c6d38e815c4c89"/>
    <p:sldId xmlns:r="http://schemas.openxmlformats.org/officeDocument/2006/relationships" id="266" r:id="R922258c076414a02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f75b9c5e2f54d82" Type="http://schemas.openxmlformats.org/officeDocument/2006/relationships/slide" Target="slides/slide5.xml"/><Relationship Id="R1be9d67a12ae4b18" Type="http://schemas.openxmlformats.org/officeDocument/2006/relationships/slide" Target="slides/slide8.xml"/><Relationship Id="R203dae9e2cfe4a29" Type="http://schemas.openxmlformats.org/officeDocument/2006/relationships/notesMaster" Target="notesMasters/notesMaster1.xml"/><Relationship Id="R328729cab17f4c1b" Type="http://schemas.openxmlformats.org/officeDocument/2006/relationships/slideMaster" Target="slideMasters/slideMaster1.xml"/><Relationship Id="R3a8e4e4a93034036" Type="http://schemas.openxmlformats.org/officeDocument/2006/relationships/tableStyles" Target="tableStyles.xml"/><Relationship Id="R478a3da4c8b54077" Type="http://schemas.openxmlformats.org/officeDocument/2006/relationships/presProps" Target="presProps.xml"/><Relationship Id="R51c6d38e815c4c89" Type="http://schemas.openxmlformats.org/officeDocument/2006/relationships/slide" Target="slides/slide10.xml"/><Relationship Id="R52644e94f5d443f4" Type="http://schemas.openxmlformats.org/officeDocument/2006/relationships/slide" Target="slides/slide1.xml"/><Relationship Id="R6b33079234094aeb" Type="http://schemas.openxmlformats.org/officeDocument/2006/relationships/slide" Target="slides/slide4.xml"/><Relationship Id="R850d6e49ee194614" Type="http://schemas.openxmlformats.org/officeDocument/2006/relationships/slide" Target="slides/slide7.xml"/><Relationship Id="R8ad509e0a2714679" Type="http://schemas.openxmlformats.org/officeDocument/2006/relationships/theme" Target="theme/theme1.xml"/><Relationship Id="R91a75af6edf540e3" Type="http://schemas.openxmlformats.org/officeDocument/2006/relationships/slide" Target="slides/slide2.xml"/><Relationship Id="R922258c076414a02" Type="http://schemas.openxmlformats.org/officeDocument/2006/relationships/slide" Target="slides/slide11.xml"/><Relationship Id="Rab292a9b5308499e" Type="http://schemas.openxmlformats.org/officeDocument/2006/relationships/slide" Target="slides/slide3.xml"/><Relationship Id="Rdbd28ea190944f5b" Type="http://schemas.openxmlformats.org/officeDocument/2006/relationships/slide" Target="slides/slide9.xml"/><Relationship Id="Rdd1c4dcff4564b52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53a113f044bc4429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BB MapScore">
      <a:dk1>
        <a:srgbClr val="0A0B0C"/>
      </a:dk1>
      <a:lt1>
        <a:srgbClr val="FFFFFF"/>
      </a:lt1>
      <a:dk2>
        <a:srgbClr val="171B20"/>
      </a:dk2>
      <a:lt2>
        <a:srgbClr val="F6EFE3"/>
      </a:lt2>
      <a:accent1>
        <a:srgbClr val="D5A756"/>
      </a:accent1>
      <a:accent2>
        <a:srgbClr val="F3CF7C"/>
      </a:accent2>
      <a:accent3>
        <a:srgbClr val="A2732F"/>
      </a:accent3>
      <a:accent4>
        <a:srgbClr val="56606B"/>
      </a:accent4>
      <a:accent5>
        <a:srgbClr val="F6EFE3"/>
      </a:accent5>
      <a:accent6>
        <a:srgbClr val="121415"/>
      </a:accent6>
      <a:hlink>
        <a:srgbClr val="D5A756"/>
      </a:hlink>
      <a:folHlink>
        <a:srgbClr val="F3CF7C"/>
      </a:folHlink>
    </a:clrScheme>
    <a:fontScheme name="">
      <a:majorFont>
        <a:latin typeface="Manrope"/>
        <a:ea typeface=""/>
        <a:cs typeface=""/>
      </a:majorFont>
      <a:minorFont>
        <a:latin typeface="Manrope"/>
        <a:ea typeface=""/>
        <a:cs typeface=""/>
      </a:minorFont>
    </a:fontScheme>
    <a:fmtScheme name="CBB MapScor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4e272f8853f94a49" Type="http://schemas.openxmlformats.org/officeDocument/2006/relationships/slide" Target="../slides/slide1.xml"/><Relationship Id="Reec43254bd7d4238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d4866184fe7143d6" Type="http://schemas.openxmlformats.org/officeDocument/2006/relationships/slide" Target="../slides/slide2.xml"/><Relationship Id="Rfb052f380ec04705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69544c3cbadd420d" Type="http://schemas.openxmlformats.org/officeDocument/2006/relationships/slide" Target="../slides/slide3.xml"/><Relationship Id="R6cfbd19ddab146f9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411a0ebb797e44d4" Type="http://schemas.openxmlformats.org/officeDocument/2006/relationships/slide" Target="../slides/slide4.xml"/><Relationship Id="R767cb3ef76f24cb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2e7bdacadabf479c" Type="http://schemas.openxmlformats.org/officeDocument/2006/relationships/notesMaster" Target="../notesMasters/notesMaster1.xml"/><Relationship Id="R752153f13f0742a5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50b0041140b34852" Type="http://schemas.openxmlformats.org/officeDocument/2006/relationships/slide" Target="../slides/slide6.xml"/><Relationship Id="Rf7e9f6f2ff974966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34f7d24bdeda43fe" Type="http://schemas.openxmlformats.org/officeDocument/2006/relationships/notesMaster" Target="../notesMasters/notesMaster1.xml"/><Relationship Id="R578f06eb3c5a4ace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05bc2c5fe57a4b49" Type="http://schemas.openxmlformats.org/officeDocument/2006/relationships/slide" Target="../slides/slide8.xml"/><Relationship Id="R27e7b0e2527144ec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24b269b28fff4116" Type="http://schemas.openxmlformats.org/officeDocument/2006/relationships/slide" Target="../slides/slide9.xml"/><Relationship Id="R8f0959322e624f0c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798a5a7dfe5c45ca" Type="http://schemas.openxmlformats.org/officeDocument/2006/relationships/notesMaster" Target="../notesMasters/notesMaster1.xml"/><Relationship Id="Rea028450a603481c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77772ab2af3f4ed1" Type="http://schemas.openxmlformats.org/officeDocument/2006/relationships/slide" Target="../slides/slide11.xml"/><Relationship Id="Rf21ff63347ff4f61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MapScore is Covered Bridge Brands’ managed local visibility service for local businesses. Avoid promising specific ranking positions, revenue or timeframes. The background is a decorative illustration, not a real map or report.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about the prospect’s current profile, posting routine, review handling and connected accounts, and which tasks take the most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Google decides whether a review breaks its policies and whether to remove it; negative sentiment alone is not grounds for removal. Publishing requires the right account permissions and the client’s approval preferences.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Existing-website SEO recommendations and supported widgets are part of MapScore. Directory citations are included in the plan; delivery depends on the citation service being active for the location.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provider-reported customer examples from the technology behind MapScore, not CBB clients. Dollar amounts are estimated potential revenue, not verified sales. Results vary.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Home Crush (home goods retailer): Google Maps ranking heatmaps before and after 30 days, from provider materials. The search keyword for this grid is not stated in the supplied materials. This is a provider customer example, not a CBB client, and it does not promise similar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Covers onboarding, preferences and approvals, business-specific content, connected accounts, competitor analysis and ongoing updates, backed by CBB support. Activity depends on account settings and access.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Review excerpts and ratings come from provider materials and describe individual experiences. The ratings and customer counts are provider figures, not CBB reviews or client counts.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Each item is part of the single MapScore plan. Features that publish to an account need that account connected first.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MapScore is $395 per month per business location, with no setup fee and no term commitment. Payments are non-refundable. Each additional location needs its own plan.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Book a Free Guided Audit from the MapScore page. During the 30-minute call, the CBB officer shares the audit page, guides the prospect through it, reviews the results and introduces MapScore. Contact: david@coveredbridgebrands.com, 814-893-1075.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78caf1341a7e4fe7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aa89f42d5df742ba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8a0158e2cc9a446f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fc4d3f57bb1b404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b7220fd080f0496d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e8c6b2cd8b0d40b9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B117010-6F92-46A4-823D-4B5AF47F03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3886200"/>
            <a:ext cx="14630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A93C169-6FA9-4078-870D-98AEEDBBB08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43200" y="5657850"/>
            <a:ext cx="12801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A858886-8E09-4336-BA4C-FC85E1213F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4286250"/>
            <a:ext cx="1463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AC30F16-8E89-45E4-92F3-3EEF466A67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7534EA7-5501-4845-AE09-64EE275D92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162306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E3F9652-11D3-46D0-85C1-6552E36F35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423F8DB-81F5-45B1-BF98-ABFCB5CE38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62049EF-DE20-4991-8403-B9556200CA7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7155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4DDE3DC-5B0B-4ACB-9EF3-F9393BDB70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310A20C-C184-443A-9A39-9BBE18B3D08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375965c6bde04ac8" Type="http://schemas.openxmlformats.org/officeDocument/2006/relationships/slideLayout" Target="../slideLayouts/slideLayout2.xml"/><Relationship Id="R3888d40c93c24b1f" Type="http://schemas.openxmlformats.org/officeDocument/2006/relationships/slideLayout" Target="../slideLayouts/slideLayout3.xml"/><Relationship Id="R6db205f0c3bf46b6" Type="http://schemas.openxmlformats.org/officeDocument/2006/relationships/theme" Target="theme/theme2.xml"/><Relationship Id="Raf641f3c3b564e30" Type="http://schemas.openxmlformats.org/officeDocument/2006/relationships/slideLayout" Target="../slideLayouts/slideLayout6.xml"/><Relationship Id="Re3b49b6895fa4f16" Type="http://schemas.openxmlformats.org/officeDocument/2006/relationships/slideLayout" Target="../slideLayouts/slideLayout1.xml"/><Relationship Id="Recd723e0c8904754" Type="http://schemas.openxmlformats.org/officeDocument/2006/relationships/slideLayout" Target="../slideLayouts/slideLayout5.xml"/><Relationship Id="Rf31a5550bc6b486c" Type="http://schemas.openxmlformats.org/officeDocument/2006/relationships/slideLayout" Target="../slideLayouts/slideLayout4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b49b6895fa4f16"/>
    <p:sldLayoutId xmlns:r="http://schemas.openxmlformats.org/officeDocument/2006/relationships" id="2147483650" r:id="R375965c6bde04ac8"/>
    <p:sldLayoutId xmlns:r="http://schemas.openxmlformats.org/officeDocument/2006/relationships" id="2147483651" r:id="R3888d40c93c24b1f"/>
    <p:sldLayoutId xmlns:r="http://schemas.openxmlformats.org/officeDocument/2006/relationships" id="2147483652" r:id="Rf31a5550bc6b486c"/>
    <p:sldLayoutId xmlns:r="http://schemas.openxmlformats.org/officeDocument/2006/relationships" id="2147483653" r:id="Recd723e0c8904754"/>
    <p:sldLayoutId xmlns:r="http://schemas.openxmlformats.org/officeDocument/2006/relationships" id="2147483654" r:id="Raf641f3c3b564e3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BB MapScore">
      <a:dk1>
        <a:srgbClr val="0A0B0C"/>
      </a:dk1>
      <a:lt1>
        <a:srgbClr val="FFFFFF"/>
      </a:lt1>
      <a:dk2>
        <a:srgbClr val="171B20"/>
      </a:dk2>
      <a:lt2>
        <a:srgbClr val="F6EFE3"/>
      </a:lt2>
      <a:accent1>
        <a:srgbClr val="D5A756"/>
      </a:accent1>
      <a:accent2>
        <a:srgbClr val="F3CF7C"/>
      </a:accent2>
      <a:accent3>
        <a:srgbClr val="A2732F"/>
      </a:accent3>
      <a:accent4>
        <a:srgbClr val="56606B"/>
      </a:accent4>
      <a:accent5>
        <a:srgbClr val="F6EFE3"/>
      </a:accent5>
      <a:accent6>
        <a:srgbClr val="121415"/>
      </a:accent6>
      <a:hlink>
        <a:srgbClr val="D5A756"/>
      </a:hlink>
      <a:folHlink>
        <a:srgbClr val="F3CF7C"/>
      </a:folHlink>
    </a:clrScheme>
    <a:fontScheme name="">
      <a:majorFont>
        <a:latin typeface="Manrope"/>
        <a:ea typeface=""/>
        <a:cs typeface=""/>
      </a:majorFont>
      <a:minorFont>
        <a:latin typeface="Manrope"/>
        <a:ea typeface=""/>
        <a:cs typeface=""/>
      </a:minorFont>
    </a:fontScheme>
    <a:fmtScheme name="CBB MapScor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26cfe1e0dbe34a78" Type="http://schemas.openxmlformats.org/officeDocument/2006/relationships/notesSlide" Target="../notesSlides/notesSlide1.xml"/><Relationship Id="R4e654cd9b1ef4064" Type="http://schemas.openxmlformats.org/officeDocument/2006/relationships/slideLayout" Target="../slideLayouts/slideLayout6.xml"/><Relationship Id="R7c2a9334cfe441b4" Type="http://schemas.openxmlformats.org/officeDocument/2006/relationships/image" Target="../media/image.png"/><Relationship Id="R8edcf1b8b2814866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43e9e8cf3fee4183" Type="http://schemas.openxmlformats.org/officeDocument/2006/relationships/slideLayout" Target="../slideLayouts/slideLayout6.xml"/><Relationship Id="Rebb5d5f1f0c0491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6c0dd41965bd4035" Type="http://schemas.openxmlformats.org/officeDocument/2006/relationships/image" Target="../media/image4.png"/><Relationship Id="R7c03ecd0c08f497b" Type="http://schemas.openxmlformats.org/officeDocument/2006/relationships/image" Target="../media/image6.png"/><Relationship Id="R7e917abd2e684afd" Type="http://schemas.openxmlformats.org/officeDocument/2006/relationships/notesSlide" Target="../notesSlides/notesSlide3.xml"/><Relationship Id="Ra678a9c26a5545a8" Type="http://schemas.openxmlformats.org/officeDocument/2006/relationships/image" Target="../media/image5.png"/><Relationship Id="Rabd3bd44f3604fc7" Type="http://schemas.openxmlformats.org/officeDocument/2006/relationships/slideLayout" Target="../slideLayouts/slideLayout6.xml"/><Relationship Id="Rf1465b5cc3fd480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bd24792cca894091" Type="http://schemas.openxmlformats.org/officeDocument/2006/relationships/notesSlide" Target="../notesSlides/notesSlide4.xml"/><Relationship Id="Rde0c6a1b6c0542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38a54172fec449d2" Type="http://schemas.openxmlformats.org/officeDocument/2006/relationships/notesSlide" Target="../notesSlides/notesSlide5.xml"/><Relationship Id="Rb40e266ace144233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0fecf26a36c9497c" Type="http://schemas.openxmlformats.org/officeDocument/2006/relationships/image" Target="../media/image8.png"/><Relationship Id="R341f9df8209841f9" Type="http://schemas.openxmlformats.org/officeDocument/2006/relationships/notesSlide" Target="../notesSlides/notesSlide6.xml"/><Relationship Id="R4e9bcf5a23224a40" Type="http://schemas.openxmlformats.org/officeDocument/2006/relationships/image" Target="../media/image7.png"/><Relationship Id="Re55190901c8a4db9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3cf82cbf687b45a8" Type="http://schemas.openxmlformats.org/officeDocument/2006/relationships/notesSlide" Target="../notesSlides/notesSlide7.xml"/><Relationship Id="Re9248cc262e140dc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805b49a8338e4307" Type="http://schemas.openxmlformats.org/officeDocument/2006/relationships/notesSlide" Target="../notesSlides/notesSlide8.xml"/><Relationship Id="Rc0511b5b53f1408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1772e230c4404106" Type="http://schemas.openxmlformats.org/officeDocument/2006/relationships/notesSlide" Target="../notesSlides/notesSlide9.xml"/><Relationship Id="R1dbbb29cff5f4c21" Type="http://schemas.openxmlformats.org/officeDocument/2006/relationships/image" Target="../media/image9.png"/><Relationship Id="R664b9adfa01846f4" Type="http://schemas.openxmlformats.org/officeDocument/2006/relationships/image" Target="../media/image16.png"/><Relationship Id="Raf6e44f64a7b4639" Type="http://schemas.openxmlformats.org/officeDocument/2006/relationships/image" Target="../media/image15.png"/><Relationship Id="Rc2f7edd75d2f404c" Type="http://schemas.openxmlformats.org/officeDocument/2006/relationships/image" Target="../media/image11.png"/><Relationship Id="Rca044750ea0640cb" Type="http://schemas.openxmlformats.org/officeDocument/2006/relationships/image" Target="../media/image12.png"/><Relationship Id="Rce8413c9319a46b3" Type="http://schemas.openxmlformats.org/officeDocument/2006/relationships/slideLayout" Target="../slideLayouts/slideLayout6.xml"/><Relationship Id="Rcf559b3fad6c45a7" Type="http://schemas.openxmlformats.org/officeDocument/2006/relationships/image" Target="../media/image14.png"/><Relationship Id="Rd8b5eb76c714428a" Type="http://schemas.openxmlformats.org/officeDocument/2006/relationships/image" Target="../media/image10.png"/><Relationship Id="Rfff82693a56c4d36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7a45fb30e97845bb" Type="http://schemas.openxmlformats.org/officeDocument/2006/relationships/slideLayout" Target="../slideLayouts/slideLayout6.xml"/><Relationship Id="Rc04907e52c3d40bc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055c3b01eeb34b20" Type="http://schemas.openxmlformats.org/officeDocument/2006/relationships/image" Target="../media/image17.png"/><Relationship Id="R0e5a7bd37d6e4fda" Type="http://schemas.openxmlformats.org/officeDocument/2006/relationships/image" Target="../media/image18.png"/><Relationship Id="R381fafb7c29c4eaf" Type="http://schemas.openxmlformats.org/officeDocument/2006/relationships/notesSlide" Target="../notesSlides/notesSlide11.xml"/><Relationship Id="Rebf67dbdc0674fdc" Type="http://schemas.openxmlformats.org/officeDocument/2006/relationships/slideLayout" Target="../slideLayouts/slideLayout6.xml"/><Relationship Id="rId6" Type="http://schemas.openxmlformats.org/officeDocument/2006/relationships/hyperlink" Target="https://coveredbridgebrands.com/mapscore#ms-book" TargetMode="Externa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0B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20C2C3-3E7F-4317-BC38-3844D42A8B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2a9334cfe441b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BD79E0-43CE-4733-BE26-BAE2728B17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dcf1b8b2814866"/>
          <a:stretch xmlns:a="http://schemas.openxmlformats.org/drawingml/2006/main"/>
        </p:blipFill>
        <p:spPr>
          <a:xfrm xmlns:a="http://schemas.openxmlformats.org/drawingml/2006/main">
            <a:off x="1000125" y="400050"/>
            <a:ext cx="4667250" cy="1555750"/>
          </a:xfrm>
          <a:prstGeom xmlns:a="http://schemas.openxmlformats.org/drawingml/2006/main" prst="rect">
            <a:avLst/>
          </a:prstGeom>
        </p:spPr>
      </p:pic>
      <p:sp>
        <p:nvSpPr>
          <p:cNvPr id="3" name="Product name">
            <a:extLst xmlns:a="http://schemas.openxmlformats.org/drawingml/2006/main">
              <a:ext uri="{FF2B5EF4-FFF2-40B4-BE49-F238E27FC236}">
                <a16:creationId xmlns:a16="http://schemas.microsoft.com/office/drawing/2014/main" id="{BF2D5F6E-3043-4A81-8B0D-C16E8364E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14625"/>
            <a:ext cx="981075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050" b="1">
                <a:solidFill>
                  <a:srgbClr val="F6EFE3"/>
                </a:solidFill>
                <a:latin typeface="Sora"/>
                <a:ea typeface="Sora"/>
                <a:cs typeface="Sora"/>
              </a:defRPr>
            </a:defPPr>
            <a:lvl1pPr algn="l">
              <a:defRPr sz="13050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1pPr>
            <a:lvl2pPr algn="l">
              <a:defRPr sz="13050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2pPr>
            <a:lvl3pPr algn="l">
              <a:defRPr sz="13050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3pPr>
            <a:lvl4pPr algn="l">
              <a:defRPr sz="13050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4pPr>
            <a:lvl5pPr algn="l">
              <a:defRPr sz="13050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5pPr>
            <a:lvl6pPr algn="l">
              <a:defRPr sz="13050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6pPr>
            <a:lvl7pPr algn="l">
              <a:defRPr sz="13050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7pPr>
            <a:lvl8pPr algn="l">
              <a:defRPr sz="13050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8pPr>
            <a:lvl9pPr algn="l">
              <a:defRPr sz="13050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050" b="1">
                <a:solidFill>
                  <a:srgbClr val="F6EFE3"/>
                </a:solidFill>
                <a:latin typeface="Sora"/>
                <a:ea typeface="Sora"/>
                <a:cs typeface="Sora"/>
              </a:defRPr>
            </a:pPr>
            <a:r>
              <a:rPr sz="13050" b="1">
                <a:solidFill>
                  <a:srgbClr val="F6EFE3"/>
                </a:solidFill>
                <a:latin typeface="Sora"/>
                <a:ea typeface="Sora"/>
                <a:cs typeface="Sora"/>
              </a:rPr>
              <a:t>MapScore</a:t>
            </a:r>
          </a:p>
        </p:txBody>
      </p:sp>
      <p:sp>
        <p:nvSpPr>
          <p:cNvPr id="4" name="Cover statement">
            <a:extLst xmlns:a="http://schemas.openxmlformats.org/drawingml/2006/main">
              <a:ext uri="{FF2B5EF4-FFF2-40B4-BE49-F238E27FC236}">
                <a16:creationId xmlns:a16="http://schemas.microsoft.com/office/drawing/2014/main" id="{3D5F31C0-3F6E-4C1D-80DE-AF09451C3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38750"/>
            <a:ext cx="9334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10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defPPr>
            <a:lvl1pPr algn="l">
              <a:defRPr sz="510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1pPr>
            <a:lvl2pPr algn="l">
              <a:defRPr sz="510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2pPr>
            <a:lvl3pPr algn="l">
              <a:defRPr sz="510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3pPr>
            <a:lvl4pPr algn="l">
              <a:defRPr sz="510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4pPr>
            <a:lvl5pPr algn="l">
              <a:defRPr sz="510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5pPr>
            <a:lvl6pPr algn="l">
              <a:defRPr sz="510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6pPr>
            <a:lvl7pPr algn="l">
              <a:defRPr sz="510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7pPr>
            <a:lvl8pPr algn="l">
              <a:defRPr sz="510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8pPr>
            <a:lvl9pPr algn="l">
              <a:defRPr sz="510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510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pPr>
            <a:r>
              <a:rPr sz="5100" b="1">
                <a:solidFill>
                  <a:srgbClr val="D5A756"/>
                </a:solidFill>
                <a:latin typeface="Sora"/>
                <a:ea typeface="Sora"/>
                <a:cs typeface="Sora"/>
              </a:rPr>
              <a:t>Local visibility.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510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pPr>
            <a:r>
              <a:rPr sz="5100" b="1">
                <a:solidFill>
                  <a:srgbClr val="D5A756"/>
                </a:solidFill>
                <a:latin typeface="Sora"/>
                <a:ea typeface="Sora"/>
                <a:cs typeface="Sora"/>
              </a:rPr>
              <a:t>Managed by CBB.</a:t>
            </a:r>
          </a:p>
        </p:txBody>
      </p:sp>
      <p:sp>
        <p:nvSpPr>
          <p:cNvPr id="5" name="Body AI-assisted Google Busin">
            <a:extLst xmlns:a="http://schemas.openxmlformats.org/drawingml/2006/main">
              <a:ext uri="{FF2B5EF4-FFF2-40B4-BE49-F238E27FC236}">
                <a16:creationId xmlns:a16="http://schemas.microsoft.com/office/drawing/2014/main" id="{167B448E-C37F-4C55-9CE8-C09513BFF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858125"/>
            <a:ext cx="9048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defPPr>
            <a:lvl1pPr algn="l">
              <a:defRPr sz="2550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1pPr>
            <a:lvl2pPr algn="l">
              <a:defRPr sz="2550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2pPr>
            <a:lvl3pPr algn="l">
              <a:defRPr sz="2550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3pPr>
            <a:lvl4pPr algn="l">
              <a:defRPr sz="2550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4pPr>
            <a:lvl5pPr algn="l">
              <a:defRPr sz="2550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5pPr>
            <a:lvl6pPr algn="l">
              <a:defRPr sz="2550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6pPr>
            <a:lvl7pPr algn="l">
              <a:defRPr sz="2550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7pPr>
            <a:lvl8pPr algn="l">
              <a:defRPr sz="2550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8pPr>
            <a:lvl9pPr algn="l">
              <a:defRPr sz="2550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550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pPr>
            <a:r>
              <a:rPr sz="2550" b="0">
                <a:solidFill>
                  <a:srgbClr val="B9BEC4"/>
                </a:solidFill>
                <a:latin typeface="Manrope"/>
                <a:ea typeface="Manrope"/>
                <a:cs typeface="Manrope"/>
              </a:rPr>
              <a:t>AI-assisted Google Business Profile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550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pPr>
            <a:r>
              <a:rPr sz="2550" b="0">
                <a:solidFill>
                  <a:srgbClr val="B9BEC4"/>
                </a:solidFill>
                <a:latin typeface="Manrope"/>
                <a:ea typeface="Manrope"/>
                <a:cs typeface="Manrope"/>
              </a:rPr>
              <a:t>management for local businesses.</a:t>
            </a:r>
          </a:p>
        </p:txBody>
      </p:sp>
      <p:sp>
        <p:nvSpPr>
          <p:cNvPr id="6" name="Website">
            <a:extLst xmlns:a="http://schemas.openxmlformats.org/drawingml/2006/main">
              <a:ext uri="{FF2B5EF4-FFF2-40B4-BE49-F238E27FC236}">
                <a16:creationId xmlns:a16="http://schemas.microsoft.com/office/drawing/2014/main" id="{D13B23AD-9EB9-4918-8339-428322269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6202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6EFE3"/>
                </a:solidFill>
                <a:latin typeface="Manrope"/>
                <a:ea typeface="Manrope"/>
                <a:cs typeface="Manrope"/>
              </a:defRPr>
            </a:defPPr>
            <a:lvl1pPr algn="l">
              <a:defRPr sz="1875" b="0">
                <a:solidFill>
                  <a:srgbClr val="F6EFE3"/>
                </a:solidFill>
                <a:latin typeface="Manrope"/>
                <a:ea typeface="Manrope"/>
                <a:cs typeface="Manrope"/>
              </a:defRPr>
            </a:lvl1pPr>
            <a:lvl2pPr algn="l">
              <a:defRPr sz="1875" b="0">
                <a:solidFill>
                  <a:srgbClr val="F6EFE3"/>
                </a:solidFill>
                <a:latin typeface="Manrope"/>
                <a:ea typeface="Manrope"/>
                <a:cs typeface="Manrope"/>
              </a:defRPr>
            </a:lvl2pPr>
            <a:lvl3pPr algn="l">
              <a:defRPr sz="1875" b="0">
                <a:solidFill>
                  <a:srgbClr val="F6EFE3"/>
                </a:solidFill>
                <a:latin typeface="Manrope"/>
                <a:ea typeface="Manrope"/>
                <a:cs typeface="Manrope"/>
              </a:defRPr>
            </a:lvl3pPr>
            <a:lvl4pPr algn="l">
              <a:defRPr sz="1875" b="0">
                <a:solidFill>
                  <a:srgbClr val="F6EFE3"/>
                </a:solidFill>
                <a:latin typeface="Manrope"/>
                <a:ea typeface="Manrope"/>
                <a:cs typeface="Manrope"/>
              </a:defRPr>
            </a:lvl4pPr>
            <a:lvl5pPr algn="l">
              <a:defRPr sz="1875" b="0">
                <a:solidFill>
                  <a:srgbClr val="F6EFE3"/>
                </a:solidFill>
                <a:latin typeface="Manrope"/>
                <a:ea typeface="Manrope"/>
                <a:cs typeface="Manrope"/>
              </a:defRPr>
            </a:lvl5pPr>
            <a:lvl6pPr algn="l">
              <a:defRPr sz="1875" b="0">
                <a:solidFill>
                  <a:srgbClr val="F6EFE3"/>
                </a:solidFill>
                <a:latin typeface="Manrope"/>
                <a:ea typeface="Manrope"/>
                <a:cs typeface="Manrope"/>
              </a:defRPr>
            </a:lvl6pPr>
            <a:lvl7pPr algn="l">
              <a:defRPr sz="1875" b="0">
                <a:solidFill>
                  <a:srgbClr val="F6EFE3"/>
                </a:solidFill>
                <a:latin typeface="Manrope"/>
                <a:ea typeface="Manrope"/>
                <a:cs typeface="Manrope"/>
              </a:defRPr>
            </a:lvl7pPr>
            <a:lvl8pPr algn="l">
              <a:defRPr sz="1875" b="0">
                <a:solidFill>
                  <a:srgbClr val="F6EFE3"/>
                </a:solidFill>
                <a:latin typeface="Manrope"/>
                <a:ea typeface="Manrope"/>
                <a:cs typeface="Manrope"/>
              </a:defRPr>
            </a:lvl8pPr>
            <a:lvl9pPr algn="l">
              <a:defRPr sz="1875" b="0">
                <a:solidFill>
                  <a:srgbClr val="F6EFE3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F6EFE3"/>
                </a:solidFill>
                <a:latin typeface="Manrope"/>
                <a:ea typeface="Manrope"/>
                <a:cs typeface="Manrope"/>
              </a:defRPr>
            </a:pPr>
            <a:r>
              <a:rPr sz="1875" b="0">
                <a:solidFill>
                  <a:srgbClr val="F6EFE3"/>
                </a:solidFill>
                <a:latin typeface="Manrope"/>
                <a:ea typeface="Manrope"/>
                <a:cs typeface="Manrope"/>
              </a:rPr>
              <a:t>coveredbridgebrands.com</a:t>
            </a:r>
          </a:p>
        </p:txBody>
      </p:sp>
    </p:spTree>
    <p:extLst>
      <p:ext uri="{BB962C8B-B14F-4D97-AF65-F5344CB8AC3E}">
        <p14:creationId xmlns:p14="http://schemas.microsoft.com/office/powerpoint/2010/main" val="4468253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EF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ection label">
            <a:extLst xmlns:a="http://schemas.openxmlformats.org/drawingml/2006/main">
              <a:ext uri="{FF2B5EF4-FFF2-40B4-BE49-F238E27FC236}">
                <a16:creationId xmlns:a16="http://schemas.microsoft.com/office/drawing/2014/main" id="{02648D3E-B487-4420-AD54-9DD346DF4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14375"/>
            <a:ext cx="1476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defPPr>
            <a:lvl1pPr algn="l">
              <a:defRPr sz="16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1pPr>
            <a:lvl2pPr algn="l">
              <a:defRPr sz="16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2pPr>
            <a:lvl3pPr algn="l">
              <a:defRPr sz="16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3pPr>
            <a:lvl4pPr algn="l">
              <a:defRPr sz="16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4pPr>
            <a:lvl5pPr algn="l">
              <a:defRPr sz="16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5pPr>
            <a:lvl6pPr algn="l">
              <a:defRPr sz="16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6pPr>
            <a:lvl7pPr algn="l">
              <a:defRPr sz="16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7pPr>
            <a:lvl8pPr algn="l">
              <a:defRPr sz="16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8pPr>
            <a:lvl9pPr algn="l">
              <a:defRPr sz="16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pPr>
            <a:r>
              <a:rPr sz="1650" b="1">
                <a:solidFill>
                  <a:srgbClr val="A2732F"/>
                </a:solidFill>
                <a:latin typeface="Sora"/>
                <a:ea typeface="Sora"/>
                <a:cs typeface="Sora"/>
              </a:rPr>
              <a:t>THE CHALLENGE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85F476AA-4A8E-4187-A1BA-EFBEDAA01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19250"/>
            <a:ext cx="156210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6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defPPr>
            <a:lvl1pPr algn="l">
              <a:defRPr sz="66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1pPr>
            <a:lvl2pPr algn="l">
              <a:defRPr sz="66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2pPr>
            <a:lvl3pPr algn="l">
              <a:defRPr sz="66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3pPr>
            <a:lvl4pPr algn="l">
              <a:defRPr sz="66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4pPr>
            <a:lvl5pPr algn="l">
              <a:defRPr sz="66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5pPr>
            <a:lvl6pPr algn="l">
              <a:defRPr sz="66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6pPr>
            <a:lvl7pPr algn="l">
              <a:defRPr sz="66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7pPr>
            <a:lvl8pPr algn="l">
              <a:defRPr sz="66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8pPr>
            <a:lvl9pPr algn="l">
              <a:defRPr sz="66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66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pPr>
            <a:r>
              <a:rPr sz="6600" b="1">
                <a:solidFill>
                  <a:srgbClr val="171B20"/>
                </a:solidFill>
                <a:latin typeface="Sora"/>
                <a:ea typeface="Sora"/>
                <a:cs typeface="Sora"/>
              </a:rPr>
              <a:t>Local marketing needs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66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pPr>
            <a:r>
              <a:rPr sz="6600" b="1">
                <a:solidFill>
                  <a:srgbClr val="171B20"/>
                </a:solidFill>
                <a:latin typeface="Sora"/>
                <a:ea typeface="Sora"/>
                <a:cs typeface="Sora"/>
              </a:rPr>
              <a:t>regular attention</a:t>
            </a:r>
          </a:p>
        </p:txBody>
      </p:sp>
      <p:sp>
        <p:nvSpPr>
          <p:cNvPr id="3" name="Core challenge">
            <a:extLst xmlns:a="http://schemas.openxmlformats.org/drawingml/2006/main">
              <a:ext uri="{FF2B5EF4-FFF2-40B4-BE49-F238E27FC236}">
                <a16:creationId xmlns:a16="http://schemas.microsoft.com/office/drawing/2014/main" id="{E15A1ECD-C153-4536-8AFC-4CE7D6741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95875"/>
            <a:ext cx="7762875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425" b="1">
                <a:solidFill>
                  <a:srgbClr val="171B20"/>
                </a:solidFill>
                <a:latin typeface="Sora"/>
                <a:ea typeface="Sora"/>
                <a:cs typeface="Sora"/>
              </a:defRPr>
            </a:defPPr>
            <a:lvl1pPr algn="l">
              <a:defRPr sz="4425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1pPr>
            <a:lvl2pPr algn="l">
              <a:defRPr sz="4425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2pPr>
            <a:lvl3pPr algn="l">
              <a:defRPr sz="4425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3pPr>
            <a:lvl4pPr algn="l">
              <a:defRPr sz="4425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4pPr>
            <a:lvl5pPr algn="l">
              <a:defRPr sz="4425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5pPr>
            <a:lvl6pPr algn="l">
              <a:defRPr sz="4425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6pPr>
            <a:lvl7pPr algn="l">
              <a:defRPr sz="4425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7pPr>
            <a:lvl8pPr algn="l">
              <a:defRPr sz="4425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8pPr>
            <a:lvl9pPr algn="l">
              <a:defRPr sz="4425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4425" b="1">
                <a:solidFill>
                  <a:srgbClr val="171B20"/>
                </a:solidFill>
                <a:latin typeface="Sora"/>
                <a:ea typeface="Sora"/>
                <a:cs typeface="Sora"/>
              </a:defRPr>
            </a:pPr>
            <a:r>
              <a:rPr sz="4425" b="1">
                <a:solidFill>
                  <a:srgbClr val="171B20"/>
                </a:solidFill>
                <a:latin typeface="Sora"/>
                <a:ea typeface="Sora"/>
                <a:cs typeface="Sora"/>
              </a:rPr>
              <a:t>A one-time setup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4425" b="1">
                <a:solidFill>
                  <a:srgbClr val="171B20"/>
                </a:solidFill>
                <a:latin typeface="Sora"/>
                <a:ea typeface="Sora"/>
                <a:cs typeface="Sora"/>
              </a:defRPr>
            </a:pPr>
            <a:r>
              <a:rPr sz="4425" b="1">
                <a:solidFill>
                  <a:srgbClr val="171B20"/>
                </a:solidFill>
                <a:latin typeface="Sora"/>
                <a:ea typeface="Sora"/>
                <a:cs typeface="Sora"/>
              </a:rPr>
              <a:t>is only the beginning.</a:t>
            </a:r>
          </a:p>
        </p:txBody>
      </p:sp>
      <p:sp>
        <p:nvSpPr>
          <p:cNvPr id="4" name="Body MapScore brings ongoing ">
            <a:extLst xmlns:a="http://schemas.openxmlformats.org/drawingml/2006/main">
              <a:ext uri="{FF2B5EF4-FFF2-40B4-BE49-F238E27FC236}">
                <a16:creationId xmlns:a16="http://schemas.microsoft.com/office/drawing/2014/main" id="{9271D6CB-CF4D-4118-9E02-6DEF40B10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667625"/>
            <a:ext cx="752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defPPr>
            <a:lvl1pPr algn="l">
              <a:defRPr sz="2550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1pPr>
            <a:lvl2pPr algn="l">
              <a:defRPr sz="2550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2pPr>
            <a:lvl3pPr algn="l">
              <a:defRPr sz="2550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3pPr>
            <a:lvl4pPr algn="l">
              <a:defRPr sz="2550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4pPr>
            <a:lvl5pPr algn="l">
              <a:defRPr sz="2550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5pPr>
            <a:lvl6pPr algn="l">
              <a:defRPr sz="2550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6pPr>
            <a:lvl7pPr algn="l">
              <a:defRPr sz="2550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7pPr>
            <a:lvl8pPr algn="l">
              <a:defRPr sz="2550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8pPr>
            <a:lvl9pPr algn="l">
              <a:defRPr sz="2550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550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pPr>
            <a:r>
              <a:rPr sz="2550" b="0">
                <a:solidFill>
                  <a:srgbClr val="56606B"/>
                </a:solidFill>
                <a:latin typeface="Manrope"/>
                <a:ea typeface="Manrope"/>
                <a:cs typeface="Manrope"/>
              </a:rPr>
              <a:t>MapScore brings ongoing profile work into one managed service from Covered Bridge Brands.</a:t>
            </a:r>
          </a:p>
        </p:txBody>
      </p:sp>
      <p:sp>
        <p:nvSpPr>
          <p:cNvPr id="5" name="List number 0">
            <a:extLst xmlns:a="http://schemas.openxmlformats.org/drawingml/2006/main">
              <a:ext uri="{FF2B5EF4-FFF2-40B4-BE49-F238E27FC236}">
                <a16:creationId xmlns:a16="http://schemas.microsoft.com/office/drawing/2014/main" id="{2D7C1F7E-E934-4C65-9AF6-137E89061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667250"/>
            <a:ext cx="95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defPPr>
            <a:lvl1pPr algn="l">
              <a:defRPr sz="28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1pPr>
            <a:lvl2pPr algn="l">
              <a:defRPr sz="28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2pPr>
            <a:lvl3pPr algn="l">
              <a:defRPr sz="28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3pPr>
            <a:lvl4pPr algn="l">
              <a:defRPr sz="28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4pPr>
            <a:lvl5pPr algn="l">
              <a:defRPr sz="28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5pPr>
            <a:lvl6pPr algn="l">
              <a:defRPr sz="28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6pPr>
            <a:lvl7pPr algn="l">
              <a:defRPr sz="28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7pPr>
            <a:lvl8pPr algn="l">
              <a:defRPr sz="28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8pPr>
            <a:lvl9pPr algn="l">
              <a:defRPr sz="28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pPr>
            <a:r>
              <a:rPr sz="2850" b="1">
                <a:solidFill>
                  <a:srgbClr val="A2732F"/>
                </a:solidFill>
                <a:latin typeface="Sora"/>
                <a:ea typeface="Sora"/>
                <a:cs typeface="Sora"/>
              </a:rPr>
              <a:t>01</a:t>
            </a:r>
          </a:p>
        </p:txBody>
      </p:sp>
      <p:sp>
        <p:nvSpPr>
          <p:cNvPr id="6" name="List heading 0">
            <a:extLst xmlns:a="http://schemas.openxmlformats.org/drawingml/2006/main">
              <a:ext uri="{FF2B5EF4-FFF2-40B4-BE49-F238E27FC236}">
                <a16:creationId xmlns:a16="http://schemas.microsoft.com/office/drawing/2014/main" id="{FBD80D29-5E26-4EE2-A182-6973C6111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667250"/>
            <a:ext cx="581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defPPr>
            <a:lvl1pPr algn="l">
              <a:defRPr sz="255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1pPr>
            <a:lvl2pPr algn="l">
              <a:defRPr sz="255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2pPr>
            <a:lvl3pPr algn="l">
              <a:defRPr sz="255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3pPr>
            <a:lvl4pPr algn="l">
              <a:defRPr sz="255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4pPr>
            <a:lvl5pPr algn="l">
              <a:defRPr sz="255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5pPr>
            <a:lvl6pPr algn="l">
              <a:defRPr sz="255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6pPr>
            <a:lvl7pPr algn="l">
              <a:defRPr sz="255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7pPr>
            <a:lvl8pPr algn="l">
              <a:defRPr sz="255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8pPr>
            <a:lvl9pPr algn="l">
              <a:defRPr sz="255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pPr>
            <a:r>
              <a:rPr sz="2550" b="1">
                <a:solidFill>
                  <a:srgbClr val="171B20"/>
                </a:solidFill>
                <a:latin typeface="Sora"/>
                <a:ea typeface="Sora"/>
                <a:cs typeface="Sora"/>
              </a:rPr>
              <a:t>Accurate business details</a:t>
            </a:r>
          </a:p>
        </p:txBody>
      </p:sp>
      <p:sp>
        <p:nvSpPr>
          <p:cNvPr id="7" name="Body Keep your information cu">
            <a:extLst xmlns:a="http://schemas.openxmlformats.org/drawingml/2006/main">
              <a:ext uri="{FF2B5EF4-FFF2-40B4-BE49-F238E27FC236}">
                <a16:creationId xmlns:a16="http://schemas.microsoft.com/office/drawing/2014/main" id="{9C9A76A6-7749-450B-9259-5144BF0A1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381625"/>
            <a:ext cx="581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defPPr>
            <a:lvl1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1pPr>
            <a:lvl2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2pPr>
            <a:lvl3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3pPr>
            <a:lvl4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4pPr>
            <a:lvl5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5pPr>
            <a:lvl6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6pPr>
            <a:lvl7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7pPr>
            <a:lvl8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8pPr>
            <a:lvl9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pPr>
            <a:r>
              <a:rPr sz="2175" b="0">
                <a:solidFill>
                  <a:srgbClr val="56606B"/>
                </a:solidFill>
                <a:latin typeface="Manrope"/>
                <a:ea typeface="Manrope"/>
                <a:cs typeface="Manrope"/>
              </a:rPr>
              <a:t>Keep your information current as your business changes.</a:t>
            </a:r>
          </a:p>
        </p:txBody>
      </p:sp>
      <p:sp>
        <p:nvSpPr>
          <p:cNvPr id="8" name="List number 1">
            <a:extLst xmlns:a="http://schemas.openxmlformats.org/drawingml/2006/main">
              <a:ext uri="{FF2B5EF4-FFF2-40B4-BE49-F238E27FC236}">
                <a16:creationId xmlns:a16="http://schemas.microsoft.com/office/drawing/2014/main" id="{79C98894-266A-4B76-B14C-1B9CA9001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334125"/>
            <a:ext cx="95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defPPr>
            <a:lvl1pPr algn="l">
              <a:defRPr sz="28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1pPr>
            <a:lvl2pPr algn="l">
              <a:defRPr sz="28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2pPr>
            <a:lvl3pPr algn="l">
              <a:defRPr sz="28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3pPr>
            <a:lvl4pPr algn="l">
              <a:defRPr sz="28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4pPr>
            <a:lvl5pPr algn="l">
              <a:defRPr sz="28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5pPr>
            <a:lvl6pPr algn="l">
              <a:defRPr sz="28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6pPr>
            <a:lvl7pPr algn="l">
              <a:defRPr sz="28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7pPr>
            <a:lvl8pPr algn="l">
              <a:defRPr sz="28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8pPr>
            <a:lvl9pPr algn="l">
              <a:defRPr sz="28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pPr>
            <a:r>
              <a:rPr sz="2850" b="1">
                <a:solidFill>
                  <a:srgbClr val="A2732F"/>
                </a:solidFill>
                <a:latin typeface="Sora"/>
                <a:ea typeface="Sora"/>
                <a:cs typeface="Sora"/>
              </a:rPr>
              <a:t>02</a:t>
            </a:r>
          </a:p>
        </p:txBody>
      </p:sp>
      <p:sp>
        <p:nvSpPr>
          <p:cNvPr id="9" name="List heading 1">
            <a:extLst xmlns:a="http://schemas.openxmlformats.org/drawingml/2006/main">
              <a:ext uri="{FF2B5EF4-FFF2-40B4-BE49-F238E27FC236}">
                <a16:creationId xmlns:a16="http://schemas.microsoft.com/office/drawing/2014/main" id="{B824255F-EF14-4B06-AFD3-AA98A0E9A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81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defPPr>
            <a:lvl1pPr algn="l">
              <a:defRPr sz="255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1pPr>
            <a:lvl2pPr algn="l">
              <a:defRPr sz="255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2pPr>
            <a:lvl3pPr algn="l">
              <a:defRPr sz="255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3pPr>
            <a:lvl4pPr algn="l">
              <a:defRPr sz="255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4pPr>
            <a:lvl5pPr algn="l">
              <a:defRPr sz="255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5pPr>
            <a:lvl6pPr algn="l">
              <a:defRPr sz="255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6pPr>
            <a:lvl7pPr algn="l">
              <a:defRPr sz="255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7pPr>
            <a:lvl8pPr algn="l">
              <a:defRPr sz="255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8pPr>
            <a:lvl9pPr algn="l">
              <a:defRPr sz="255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pPr>
            <a:r>
              <a:rPr sz="2550" b="1">
                <a:solidFill>
                  <a:srgbClr val="171B20"/>
                </a:solidFill>
                <a:latin typeface="Sora"/>
                <a:ea typeface="Sora"/>
                <a:cs typeface="Sora"/>
              </a:rPr>
              <a:t>Fresh posts and photos</a:t>
            </a:r>
          </a:p>
        </p:txBody>
      </p:sp>
      <p:sp>
        <p:nvSpPr>
          <p:cNvPr id="10" name="Body Give visitors useful, re">
            <a:extLst xmlns:a="http://schemas.openxmlformats.org/drawingml/2006/main">
              <a:ext uri="{FF2B5EF4-FFF2-40B4-BE49-F238E27FC236}">
                <a16:creationId xmlns:a16="http://schemas.microsoft.com/office/drawing/2014/main" id="{594E8406-CCE0-4EF7-98CE-9E15FB366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7048500"/>
            <a:ext cx="581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defPPr>
            <a:lvl1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1pPr>
            <a:lvl2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2pPr>
            <a:lvl3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3pPr>
            <a:lvl4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4pPr>
            <a:lvl5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5pPr>
            <a:lvl6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6pPr>
            <a:lvl7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7pPr>
            <a:lvl8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8pPr>
            <a:lvl9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pPr>
            <a:r>
              <a:rPr sz="2175" b="0">
                <a:solidFill>
                  <a:srgbClr val="56606B"/>
                </a:solidFill>
                <a:latin typeface="Manrope"/>
                <a:ea typeface="Manrope"/>
                <a:cs typeface="Manrope"/>
              </a:rPr>
              <a:t>Give visitors useful, relevant information about your services.</a:t>
            </a:r>
          </a:p>
        </p:txBody>
      </p:sp>
      <p:sp>
        <p:nvSpPr>
          <p:cNvPr id="11" name="List number 2">
            <a:extLst xmlns:a="http://schemas.openxmlformats.org/drawingml/2006/main">
              <a:ext uri="{FF2B5EF4-FFF2-40B4-BE49-F238E27FC236}">
                <a16:creationId xmlns:a16="http://schemas.microsoft.com/office/drawing/2014/main" id="{676262FA-DF4A-4804-8CF0-1D7E0F7D3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8001000"/>
            <a:ext cx="95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defPPr>
            <a:lvl1pPr algn="l">
              <a:defRPr sz="28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1pPr>
            <a:lvl2pPr algn="l">
              <a:defRPr sz="28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2pPr>
            <a:lvl3pPr algn="l">
              <a:defRPr sz="28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3pPr>
            <a:lvl4pPr algn="l">
              <a:defRPr sz="28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4pPr>
            <a:lvl5pPr algn="l">
              <a:defRPr sz="28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5pPr>
            <a:lvl6pPr algn="l">
              <a:defRPr sz="28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6pPr>
            <a:lvl7pPr algn="l">
              <a:defRPr sz="28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7pPr>
            <a:lvl8pPr algn="l">
              <a:defRPr sz="28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8pPr>
            <a:lvl9pPr algn="l">
              <a:defRPr sz="28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pPr>
            <a:r>
              <a:rPr sz="2850" b="1">
                <a:solidFill>
                  <a:srgbClr val="A2732F"/>
                </a:solidFill>
                <a:latin typeface="Sora"/>
                <a:ea typeface="Sora"/>
                <a:cs typeface="Sora"/>
              </a:rPr>
              <a:t>03</a:t>
            </a:r>
          </a:p>
        </p:txBody>
      </p:sp>
      <p:sp>
        <p:nvSpPr>
          <p:cNvPr id="12" name="List heading 2">
            <a:extLst xmlns:a="http://schemas.openxmlformats.org/drawingml/2006/main">
              <a:ext uri="{FF2B5EF4-FFF2-40B4-BE49-F238E27FC236}">
                <a16:creationId xmlns:a16="http://schemas.microsoft.com/office/drawing/2014/main" id="{DE2AF8EB-65B5-49D6-B1D7-0DE651D75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8001000"/>
            <a:ext cx="581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defPPr>
            <a:lvl1pPr algn="l">
              <a:defRPr sz="255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1pPr>
            <a:lvl2pPr algn="l">
              <a:defRPr sz="255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2pPr>
            <a:lvl3pPr algn="l">
              <a:defRPr sz="255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3pPr>
            <a:lvl4pPr algn="l">
              <a:defRPr sz="255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4pPr>
            <a:lvl5pPr algn="l">
              <a:defRPr sz="255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5pPr>
            <a:lvl6pPr algn="l">
              <a:defRPr sz="255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6pPr>
            <a:lvl7pPr algn="l">
              <a:defRPr sz="255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7pPr>
            <a:lvl8pPr algn="l">
              <a:defRPr sz="255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8pPr>
            <a:lvl9pPr algn="l">
              <a:defRPr sz="255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pPr>
            <a:r>
              <a:rPr sz="2550" b="1">
                <a:solidFill>
                  <a:srgbClr val="171B20"/>
                </a:solidFill>
                <a:latin typeface="Sora"/>
                <a:ea typeface="Sora"/>
                <a:cs typeface="Sora"/>
              </a:rPr>
              <a:t>Reviews and responses</a:t>
            </a:r>
          </a:p>
        </p:txBody>
      </p:sp>
      <p:sp>
        <p:nvSpPr>
          <p:cNvPr id="13" name="Body Handle new feedback cons">
            <a:extLst xmlns:a="http://schemas.openxmlformats.org/drawingml/2006/main">
              <a:ext uri="{FF2B5EF4-FFF2-40B4-BE49-F238E27FC236}">
                <a16:creationId xmlns:a16="http://schemas.microsoft.com/office/drawing/2014/main" id="{F0F542CA-D522-4C31-B74F-0DC1A4996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8715375"/>
            <a:ext cx="581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defPPr>
            <a:lvl1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1pPr>
            <a:lvl2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2pPr>
            <a:lvl3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3pPr>
            <a:lvl4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4pPr>
            <a:lvl5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5pPr>
            <a:lvl6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6pPr>
            <a:lvl7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7pPr>
            <a:lvl8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8pPr>
            <a:lvl9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pPr>
            <a:r>
              <a:rPr sz="2175" b="0">
                <a:solidFill>
                  <a:srgbClr val="56606B"/>
                </a:solidFill>
                <a:latin typeface="Manrope"/>
                <a:ea typeface="Manrope"/>
                <a:cs typeface="Manrope"/>
              </a:rPr>
              <a:t>Handle new feedback consistently with your preferences.</a:t>
            </a:r>
          </a:p>
        </p:txBody>
      </p:sp>
      <p:sp>
        <p:nvSpPr>
          <p:cNvPr id="14" name="CBB signature">
            <a:extLst xmlns:a="http://schemas.openxmlformats.org/drawingml/2006/main">
              <a:ext uri="{FF2B5EF4-FFF2-40B4-BE49-F238E27FC236}">
                <a16:creationId xmlns:a16="http://schemas.microsoft.com/office/drawing/2014/main" id="{0E9DC6E1-0ADF-4327-8C52-3223C998E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829800"/>
            <a:ext cx="1428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defPPr>
            <a:lvl1pPr algn="l">
              <a:defRPr sz="1500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1pPr>
            <a:lvl2pPr algn="l">
              <a:defRPr sz="1500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2pPr>
            <a:lvl3pPr algn="l">
              <a:defRPr sz="1500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3pPr>
            <a:lvl4pPr algn="l">
              <a:defRPr sz="1500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4pPr>
            <a:lvl5pPr algn="l">
              <a:defRPr sz="1500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5pPr>
            <a:lvl6pPr algn="l">
              <a:defRPr sz="1500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6pPr>
            <a:lvl7pPr algn="l">
              <a:defRPr sz="1500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7pPr>
            <a:lvl8pPr algn="l">
              <a:defRPr sz="1500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8pPr>
            <a:lvl9pPr algn="l">
              <a:defRPr sz="1500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pPr>
            <a:r>
              <a:rPr sz="1500" b="0">
                <a:solidFill>
                  <a:srgbClr val="56606B"/>
                </a:solidFill>
                <a:latin typeface="Manrope"/>
                <a:ea typeface="Manrope"/>
                <a:cs typeface="Manrope"/>
              </a:rPr>
              <a:t>MAPSCORE BY COVERED BRIDGE BRANDS</a:t>
            </a:r>
          </a:p>
        </p:txBody>
      </p:sp>
      <p:sp>
        <p:nvSpPr>
          <p:cNvPr id="15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9AB75965-9B5E-44C8-9547-B241ECA79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2125" y="9763125"/>
            <a:ext cx="619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A2732F"/>
                </a:solidFill>
                <a:latin typeface="Sora"/>
                <a:ea typeface="Sora"/>
                <a:cs typeface="Sora"/>
              </a:defRPr>
            </a:defPPr>
            <a:lvl1pPr algn="l">
              <a:defRPr sz="1725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1pPr>
            <a:lvl2pPr algn="l">
              <a:defRPr sz="1725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2pPr>
            <a:lvl3pPr algn="l">
              <a:defRPr sz="1725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3pPr>
            <a:lvl4pPr algn="l">
              <a:defRPr sz="1725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4pPr>
            <a:lvl5pPr algn="l">
              <a:defRPr sz="1725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5pPr>
            <a:lvl6pPr algn="l">
              <a:defRPr sz="1725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6pPr>
            <a:lvl7pPr algn="l">
              <a:defRPr sz="1725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7pPr>
            <a:lvl8pPr algn="l">
              <a:defRPr sz="1725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8pPr>
            <a:lvl9pPr algn="l">
              <a:defRPr sz="1725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A2732F"/>
                </a:solidFill>
                <a:latin typeface="Sora"/>
                <a:ea typeface="Sora"/>
                <a:cs typeface="Sora"/>
              </a:defRPr>
            </a:pPr>
            <a:r>
              <a:rPr sz="1725" b="1">
                <a:solidFill>
                  <a:srgbClr val="A2732F"/>
                </a:solidFill>
                <a:latin typeface="Sora"/>
                <a:ea typeface="Sora"/>
                <a:cs typeface="Sora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522442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A0B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ection label">
            <a:extLst xmlns:a="http://schemas.openxmlformats.org/drawingml/2006/main">
              <a:ext uri="{FF2B5EF4-FFF2-40B4-BE49-F238E27FC236}">
                <a16:creationId xmlns:a16="http://schemas.microsoft.com/office/drawing/2014/main" id="{B2BFB185-499D-4A90-BE3D-C56CED2E6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14375"/>
            <a:ext cx="1476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defPPr>
            <a:lvl1pPr algn="l">
              <a:defRPr sz="165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1pPr>
            <a:lvl2pPr algn="l">
              <a:defRPr sz="165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2pPr>
            <a:lvl3pPr algn="l">
              <a:defRPr sz="165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3pPr>
            <a:lvl4pPr algn="l">
              <a:defRPr sz="165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4pPr>
            <a:lvl5pPr algn="l">
              <a:defRPr sz="165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5pPr>
            <a:lvl6pPr algn="l">
              <a:defRPr sz="165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6pPr>
            <a:lvl7pPr algn="l">
              <a:defRPr sz="165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7pPr>
            <a:lvl8pPr algn="l">
              <a:defRPr sz="165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8pPr>
            <a:lvl9pPr algn="l">
              <a:defRPr sz="165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pPr>
            <a:r>
              <a:rPr sz="1650" b="1">
                <a:solidFill>
                  <a:srgbClr val="D5A756"/>
                </a:solidFill>
                <a:latin typeface="Sora"/>
                <a:ea typeface="Sora"/>
                <a:cs typeface="Sora"/>
              </a:rPr>
              <a:t>THE FOUNDATION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15FE8B43-112F-41E7-B028-26B079CD9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95500"/>
            <a:ext cx="7239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825" b="1">
                <a:solidFill>
                  <a:srgbClr val="F6EFE3"/>
                </a:solidFill>
                <a:latin typeface="Sora"/>
                <a:ea typeface="Sora"/>
                <a:cs typeface="Sora"/>
              </a:defRPr>
            </a:defPPr>
            <a:lvl1pPr algn="l">
              <a:defRPr sz="6825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1pPr>
            <a:lvl2pPr algn="l">
              <a:defRPr sz="6825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2pPr>
            <a:lvl3pPr algn="l">
              <a:defRPr sz="6825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3pPr>
            <a:lvl4pPr algn="l">
              <a:defRPr sz="6825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4pPr>
            <a:lvl5pPr algn="l">
              <a:defRPr sz="6825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5pPr>
            <a:lvl6pPr algn="l">
              <a:defRPr sz="6825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6pPr>
            <a:lvl7pPr algn="l">
              <a:defRPr sz="6825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7pPr>
            <a:lvl8pPr algn="l">
              <a:defRPr sz="6825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8pPr>
            <a:lvl9pPr algn="l">
              <a:defRPr sz="6825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6825" b="1">
                <a:solidFill>
                  <a:srgbClr val="F6EFE3"/>
                </a:solidFill>
                <a:latin typeface="Sora"/>
                <a:ea typeface="Sora"/>
                <a:cs typeface="Sora"/>
              </a:defRPr>
            </a:pPr>
            <a:r>
              <a:rPr sz="6825" b="1">
                <a:solidFill>
                  <a:srgbClr val="F6EFE3"/>
                </a:solidFill>
                <a:latin typeface="Sora"/>
                <a:ea typeface="Sora"/>
                <a:cs typeface="Sora"/>
              </a:rPr>
              <a:t>Your profile,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6825" b="1">
                <a:solidFill>
                  <a:srgbClr val="F6EFE3"/>
                </a:solidFill>
                <a:latin typeface="Sora"/>
                <a:ea typeface="Sora"/>
                <a:cs typeface="Sora"/>
              </a:defRPr>
            </a:pPr>
            <a:r>
              <a:rPr sz="6825" b="1">
                <a:solidFill>
                  <a:srgbClr val="F6EFE3"/>
                </a:solidFill>
                <a:latin typeface="Sora"/>
                <a:ea typeface="Sora"/>
                <a:cs typeface="Sora"/>
              </a:rPr>
              <a:t>kept current.</a:t>
            </a:r>
          </a:p>
        </p:txBody>
      </p:sp>
      <p:sp>
        <p:nvSpPr>
          <p:cNvPr id="3" name="Body Your Google Business Pro">
            <a:extLst xmlns:a="http://schemas.openxmlformats.org/drawingml/2006/main">
              <a:ext uri="{FF2B5EF4-FFF2-40B4-BE49-F238E27FC236}">
                <a16:creationId xmlns:a16="http://schemas.microsoft.com/office/drawing/2014/main" id="{2BB332E9-7247-4A4A-8A62-737CB0FA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10250"/>
            <a:ext cx="6762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defPPr>
            <a:lvl1pPr algn="l">
              <a:defRPr sz="2850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1pPr>
            <a:lvl2pPr algn="l">
              <a:defRPr sz="2850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2pPr>
            <a:lvl3pPr algn="l">
              <a:defRPr sz="2850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3pPr>
            <a:lvl4pPr algn="l">
              <a:defRPr sz="2850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4pPr>
            <a:lvl5pPr algn="l">
              <a:defRPr sz="2850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5pPr>
            <a:lvl6pPr algn="l">
              <a:defRPr sz="2850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6pPr>
            <a:lvl7pPr algn="l">
              <a:defRPr sz="2850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7pPr>
            <a:lvl8pPr algn="l">
              <a:defRPr sz="2850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8pPr>
            <a:lvl9pPr algn="l">
              <a:defRPr sz="2850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850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pPr>
            <a:r>
              <a:rPr sz="2850" b="0">
                <a:solidFill>
                  <a:srgbClr val="B9BEC4"/>
                </a:solidFill>
                <a:latin typeface="Manrope"/>
                <a:ea typeface="Manrope"/>
                <a:cs typeface="Manrope"/>
              </a:rPr>
              <a:t>Your Google Business Profile helps people understand your business and decide what to do next.</a:t>
            </a:r>
          </a:p>
        </p:txBody>
      </p:sp>
      <p:sp>
        <p:nvSpPr>
          <p:cNvPr id="4" name="Foundation accent">
            <a:extLst xmlns:a="http://schemas.openxmlformats.org/drawingml/2006/main">
              <a:ext uri="{FF2B5EF4-FFF2-40B4-BE49-F238E27FC236}">
                <a16:creationId xmlns:a16="http://schemas.microsoft.com/office/drawing/2014/main" id="{13A6C04E-44AF-45BA-A95C-763606155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667750"/>
            <a:ext cx="704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D5A756"/>
                </a:solidFill>
                <a:latin typeface="Sora"/>
                <a:ea typeface="Sora"/>
                <a:cs typeface="Sora"/>
              </a:defRPr>
            </a:defPPr>
            <a:lvl1pPr algn="l">
              <a:defRPr sz="2325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1pPr>
            <a:lvl2pPr algn="l">
              <a:defRPr sz="2325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2pPr>
            <a:lvl3pPr algn="l">
              <a:defRPr sz="2325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3pPr>
            <a:lvl4pPr algn="l">
              <a:defRPr sz="2325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4pPr>
            <a:lvl5pPr algn="l">
              <a:defRPr sz="2325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5pPr>
            <a:lvl6pPr algn="l">
              <a:defRPr sz="2325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6pPr>
            <a:lvl7pPr algn="l">
              <a:defRPr sz="2325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7pPr>
            <a:lvl8pPr algn="l">
              <a:defRPr sz="2325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8pPr>
            <a:lvl9pPr algn="l">
              <a:defRPr sz="2325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D5A756"/>
                </a:solidFill>
                <a:latin typeface="Sora"/>
                <a:ea typeface="Sora"/>
                <a:cs typeface="Sora"/>
              </a:defRPr>
            </a:pPr>
            <a:r>
              <a:rPr sz="2325" b="1">
                <a:solidFill>
                  <a:srgbClr val="D5A756"/>
                </a:solidFill>
                <a:latin typeface="Sora"/>
                <a:ea typeface="Sora"/>
                <a:cs typeface="Sora"/>
              </a:rPr>
              <a:t>Google Business Profile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D381F1-1190-4327-8FC0-B24634DFFF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465b5cc3fd4804"/>
          <a:stretch xmlns:a="http://schemas.openxmlformats.org/drawingml/2006/main"/>
        </p:blipFill>
        <p:spPr>
          <a:xfrm xmlns:a="http://schemas.openxmlformats.org/drawingml/2006/main">
            <a:off x="8858250" y="2571750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6" name="Foundation item 0">
            <a:extLst xmlns:a="http://schemas.openxmlformats.org/drawingml/2006/main">
              <a:ext uri="{FF2B5EF4-FFF2-40B4-BE49-F238E27FC236}">
                <a16:creationId xmlns:a16="http://schemas.microsoft.com/office/drawing/2014/main" id="{BB1BFAC7-5D7B-4316-BDF7-BBEE4DC3D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67125"/>
            <a:ext cx="3667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F6EFE3"/>
                </a:solidFill>
                <a:latin typeface="Sora"/>
                <a:ea typeface="Sora"/>
                <a:cs typeface="Sora"/>
              </a:defRPr>
            </a:defPPr>
            <a:lvl1pPr algn="l">
              <a:defRPr sz="2400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1pPr>
            <a:lvl2pPr algn="l">
              <a:defRPr sz="2400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2pPr>
            <a:lvl3pPr algn="l">
              <a:defRPr sz="2400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3pPr>
            <a:lvl4pPr algn="l">
              <a:defRPr sz="2400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4pPr>
            <a:lvl5pPr algn="l">
              <a:defRPr sz="2400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5pPr>
            <a:lvl6pPr algn="l">
              <a:defRPr sz="2400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6pPr>
            <a:lvl7pPr algn="l">
              <a:defRPr sz="2400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7pPr>
            <a:lvl8pPr algn="l">
              <a:defRPr sz="2400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8pPr>
            <a:lvl9pPr algn="l">
              <a:defRPr sz="2400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F6EFE3"/>
                </a:solidFill>
                <a:latin typeface="Sora"/>
                <a:ea typeface="Sora"/>
                <a:cs typeface="Sora"/>
              </a:defRPr>
            </a:pPr>
            <a:r>
              <a:rPr sz="2400" b="1">
                <a:solidFill>
                  <a:srgbClr val="F6EFE3"/>
                </a:solidFill>
                <a:latin typeface="Sora"/>
                <a:ea typeface="Sora"/>
                <a:cs typeface="Sora"/>
              </a:rPr>
              <a:t>Profile optimization</a:t>
            </a:r>
          </a:p>
        </p:txBody>
      </p:sp>
      <p:sp>
        <p:nvSpPr>
          <p:cNvPr id="7" name="Body Business details, catego">
            <a:extLst xmlns:a="http://schemas.openxmlformats.org/drawingml/2006/main">
              <a:ext uri="{FF2B5EF4-FFF2-40B4-BE49-F238E27FC236}">
                <a16:creationId xmlns:a16="http://schemas.microsoft.com/office/drawing/2014/main" id="{67B4F45F-1745-4466-A08B-164FB7E40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14875"/>
            <a:ext cx="36671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defPPr>
            <a:lvl1pPr algn="l">
              <a:defRPr sz="217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1pPr>
            <a:lvl2pPr algn="l">
              <a:defRPr sz="217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2pPr>
            <a:lvl3pPr algn="l">
              <a:defRPr sz="217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3pPr>
            <a:lvl4pPr algn="l">
              <a:defRPr sz="217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4pPr>
            <a:lvl5pPr algn="l">
              <a:defRPr sz="217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5pPr>
            <a:lvl6pPr algn="l">
              <a:defRPr sz="217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6pPr>
            <a:lvl7pPr algn="l">
              <a:defRPr sz="217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7pPr>
            <a:lvl8pPr algn="l">
              <a:defRPr sz="217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8pPr>
            <a:lvl9pPr algn="l">
              <a:defRPr sz="217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pPr>
            <a:r>
              <a:rPr sz="2175" b="0">
                <a:solidFill>
                  <a:srgbClr val="B9BEC4"/>
                </a:solidFill>
                <a:latin typeface="Manrope"/>
                <a:ea typeface="Manrope"/>
                <a:cs typeface="Manrope"/>
              </a:rPr>
              <a:t>Business details, categories and services aligned with your business.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27036B-C657-4B8C-B233-A82ED3609D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0dd41965bd4035"/>
          <a:stretch xmlns:a="http://schemas.openxmlformats.org/drawingml/2006/main"/>
        </p:blipFill>
        <p:spPr>
          <a:xfrm xmlns:a="http://schemas.openxmlformats.org/drawingml/2006/main">
            <a:off x="13811250" y="2571750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9" name="Foundation item 1">
            <a:extLst xmlns:a="http://schemas.openxmlformats.org/drawingml/2006/main">
              <a:ext uri="{FF2B5EF4-FFF2-40B4-BE49-F238E27FC236}">
                <a16:creationId xmlns:a16="http://schemas.microsoft.com/office/drawing/2014/main" id="{00DB16A6-1F32-46F0-8F6C-CDE5FFCB8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3667125"/>
            <a:ext cx="3667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F6EFE3"/>
                </a:solidFill>
                <a:latin typeface="Sora"/>
                <a:ea typeface="Sora"/>
                <a:cs typeface="Sora"/>
              </a:defRPr>
            </a:defPPr>
            <a:lvl1pPr algn="l">
              <a:defRPr sz="2400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1pPr>
            <a:lvl2pPr algn="l">
              <a:defRPr sz="2400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2pPr>
            <a:lvl3pPr algn="l">
              <a:defRPr sz="2400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3pPr>
            <a:lvl4pPr algn="l">
              <a:defRPr sz="2400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4pPr>
            <a:lvl5pPr algn="l">
              <a:defRPr sz="2400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5pPr>
            <a:lvl6pPr algn="l">
              <a:defRPr sz="2400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6pPr>
            <a:lvl7pPr algn="l">
              <a:defRPr sz="2400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7pPr>
            <a:lvl8pPr algn="l">
              <a:defRPr sz="2400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8pPr>
            <a:lvl9pPr algn="l">
              <a:defRPr sz="2400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F6EFE3"/>
                </a:solidFill>
                <a:latin typeface="Sora"/>
                <a:ea typeface="Sora"/>
                <a:cs typeface="Sora"/>
              </a:defRPr>
            </a:pPr>
            <a:r>
              <a:rPr sz="2400" b="1">
                <a:solidFill>
                  <a:srgbClr val="F6EFE3"/>
                </a:solidFill>
                <a:latin typeface="Sora"/>
                <a:ea typeface="Sora"/>
                <a:cs typeface="Sora"/>
              </a:rPr>
              <a:t>Review management</a:t>
            </a:r>
          </a:p>
        </p:txBody>
      </p:sp>
      <p:sp>
        <p:nvSpPr>
          <p:cNvPr id="10" name="Body Review requests and AI-a">
            <a:extLst xmlns:a="http://schemas.openxmlformats.org/drawingml/2006/main">
              <a:ext uri="{FF2B5EF4-FFF2-40B4-BE49-F238E27FC236}">
                <a16:creationId xmlns:a16="http://schemas.microsoft.com/office/drawing/2014/main" id="{5CB0E7CE-66AE-429C-A30F-4063D98D9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4714875"/>
            <a:ext cx="36671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defPPr>
            <a:lvl1pPr algn="l">
              <a:defRPr sz="217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1pPr>
            <a:lvl2pPr algn="l">
              <a:defRPr sz="217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2pPr>
            <a:lvl3pPr algn="l">
              <a:defRPr sz="217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3pPr>
            <a:lvl4pPr algn="l">
              <a:defRPr sz="217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4pPr>
            <a:lvl5pPr algn="l">
              <a:defRPr sz="217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5pPr>
            <a:lvl6pPr algn="l">
              <a:defRPr sz="217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6pPr>
            <a:lvl7pPr algn="l">
              <a:defRPr sz="217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7pPr>
            <a:lvl8pPr algn="l">
              <a:defRPr sz="217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8pPr>
            <a:lvl9pPr algn="l">
              <a:defRPr sz="217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pPr>
            <a:r>
              <a:rPr sz="2175" b="0">
                <a:solidFill>
                  <a:srgbClr val="B9BEC4"/>
                </a:solidFill>
                <a:latin typeface="Manrope"/>
                <a:ea typeface="Manrope"/>
                <a:cs typeface="Manrope"/>
              </a:rPr>
              <a:t>Review requests and AI-assisted responses with configured approvals.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191C68-D085-4C57-A2D1-0EB9573123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78a9c26a5545a8"/>
          <a:stretch xmlns:a="http://schemas.openxmlformats.org/drawingml/2006/main"/>
        </p:blipFill>
        <p:spPr>
          <a:xfrm xmlns:a="http://schemas.openxmlformats.org/drawingml/2006/main">
            <a:off x="8858250" y="6191250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12" name="Foundation item 2">
            <a:extLst xmlns:a="http://schemas.openxmlformats.org/drawingml/2006/main">
              <a:ext uri="{FF2B5EF4-FFF2-40B4-BE49-F238E27FC236}">
                <a16:creationId xmlns:a16="http://schemas.microsoft.com/office/drawing/2014/main" id="{B7292724-D936-4B1C-98A0-3BAC4C08A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7286625"/>
            <a:ext cx="3667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F6EFE3"/>
                </a:solidFill>
                <a:latin typeface="Sora"/>
                <a:ea typeface="Sora"/>
                <a:cs typeface="Sora"/>
              </a:defRPr>
            </a:defPPr>
            <a:lvl1pPr algn="l">
              <a:defRPr sz="2400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1pPr>
            <a:lvl2pPr algn="l">
              <a:defRPr sz="2400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2pPr>
            <a:lvl3pPr algn="l">
              <a:defRPr sz="2400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3pPr>
            <a:lvl4pPr algn="l">
              <a:defRPr sz="2400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4pPr>
            <a:lvl5pPr algn="l">
              <a:defRPr sz="2400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5pPr>
            <a:lvl6pPr algn="l">
              <a:defRPr sz="2400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6pPr>
            <a:lvl7pPr algn="l">
              <a:defRPr sz="2400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7pPr>
            <a:lvl8pPr algn="l">
              <a:defRPr sz="2400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8pPr>
            <a:lvl9pPr algn="l">
              <a:defRPr sz="2400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F6EFE3"/>
                </a:solidFill>
                <a:latin typeface="Sora"/>
                <a:ea typeface="Sora"/>
                <a:cs typeface="Sora"/>
              </a:defRPr>
            </a:pPr>
            <a:r>
              <a:rPr sz="2400" b="1">
                <a:solidFill>
                  <a:srgbClr val="F6EFE3"/>
                </a:solidFill>
                <a:latin typeface="Sora"/>
                <a:ea typeface="Sora"/>
                <a:cs typeface="Sora"/>
              </a:rPr>
              <a:t>Regular posts</a:t>
            </a:r>
          </a:p>
        </p:txBody>
      </p:sp>
      <p:sp>
        <p:nvSpPr>
          <p:cNvPr id="13" name="Body Relevant updates about y">
            <a:extLst xmlns:a="http://schemas.openxmlformats.org/drawingml/2006/main">
              <a:ext uri="{FF2B5EF4-FFF2-40B4-BE49-F238E27FC236}">
                <a16:creationId xmlns:a16="http://schemas.microsoft.com/office/drawing/2014/main" id="{220CC56D-694B-4D07-BA3A-C9A98CDB7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8334375"/>
            <a:ext cx="36671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defPPr>
            <a:lvl1pPr algn="l">
              <a:defRPr sz="217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1pPr>
            <a:lvl2pPr algn="l">
              <a:defRPr sz="217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2pPr>
            <a:lvl3pPr algn="l">
              <a:defRPr sz="217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3pPr>
            <a:lvl4pPr algn="l">
              <a:defRPr sz="217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4pPr>
            <a:lvl5pPr algn="l">
              <a:defRPr sz="217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5pPr>
            <a:lvl6pPr algn="l">
              <a:defRPr sz="217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6pPr>
            <a:lvl7pPr algn="l">
              <a:defRPr sz="217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7pPr>
            <a:lvl8pPr algn="l">
              <a:defRPr sz="217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8pPr>
            <a:lvl9pPr algn="l">
              <a:defRPr sz="217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pPr>
            <a:r>
              <a:rPr sz="2175" b="0">
                <a:solidFill>
                  <a:srgbClr val="B9BEC4"/>
                </a:solidFill>
                <a:latin typeface="Manrope"/>
                <a:ea typeface="Manrope"/>
                <a:cs typeface="Manrope"/>
              </a:rPr>
              <a:t>Relevant updates about your services, offers and business.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938C32-1F7C-47E6-B51F-FB3D5CA5E4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03ecd0c08f497b"/>
          <a:stretch xmlns:a="http://schemas.openxmlformats.org/drawingml/2006/main"/>
        </p:blipFill>
        <p:spPr>
          <a:xfrm xmlns:a="http://schemas.openxmlformats.org/drawingml/2006/main">
            <a:off x="13811250" y="6191250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15" name="Foundation item 3">
            <a:extLst xmlns:a="http://schemas.openxmlformats.org/drawingml/2006/main">
              <a:ext uri="{FF2B5EF4-FFF2-40B4-BE49-F238E27FC236}">
                <a16:creationId xmlns:a16="http://schemas.microsoft.com/office/drawing/2014/main" id="{AB114E8D-4441-4535-9B36-700369ECE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286625"/>
            <a:ext cx="3667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F6EFE3"/>
                </a:solidFill>
                <a:latin typeface="Sora"/>
                <a:ea typeface="Sora"/>
                <a:cs typeface="Sora"/>
              </a:defRPr>
            </a:defPPr>
            <a:lvl1pPr algn="l">
              <a:defRPr sz="2400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1pPr>
            <a:lvl2pPr algn="l">
              <a:defRPr sz="2400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2pPr>
            <a:lvl3pPr algn="l">
              <a:defRPr sz="2400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3pPr>
            <a:lvl4pPr algn="l">
              <a:defRPr sz="2400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4pPr>
            <a:lvl5pPr algn="l">
              <a:defRPr sz="2400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5pPr>
            <a:lvl6pPr algn="l">
              <a:defRPr sz="2400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6pPr>
            <a:lvl7pPr algn="l">
              <a:defRPr sz="2400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7pPr>
            <a:lvl8pPr algn="l">
              <a:defRPr sz="2400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8pPr>
            <a:lvl9pPr algn="l">
              <a:defRPr sz="2400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F6EFE3"/>
                </a:solidFill>
                <a:latin typeface="Sora"/>
                <a:ea typeface="Sora"/>
                <a:cs typeface="Sora"/>
              </a:defRPr>
            </a:pPr>
            <a:r>
              <a:rPr sz="2400" b="1">
                <a:solidFill>
                  <a:srgbClr val="F6EFE3"/>
                </a:solidFill>
                <a:latin typeface="Sora"/>
                <a:ea typeface="Sora"/>
                <a:cs typeface="Sora"/>
              </a:rPr>
              <a:t>Photos and video</a:t>
            </a:r>
          </a:p>
        </p:txBody>
      </p:sp>
      <p:sp>
        <p:nvSpPr>
          <p:cNvPr id="16" name="Body Visual content published">
            <a:extLst xmlns:a="http://schemas.openxmlformats.org/drawingml/2006/main">
              <a:ext uri="{FF2B5EF4-FFF2-40B4-BE49-F238E27FC236}">
                <a16:creationId xmlns:a16="http://schemas.microsoft.com/office/drawing/2014/main" id="{2057AF77-B989-4FA5-8862-BE859048D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334375"/>
            <a:ext cx="36671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defPPr>
            <a:lvl1pPr algn="l">
              <a:defRPr sz="217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1pPr>
            <a:lvl2pPr algn="l">
              <a:defRPr sz="217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2pPr>
            <a:lvl3pPr algn="l">
              <a:defRPr sz="217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3pPr>
            <a:lvl4pPr algn="l">
              <a:defRPr sz="217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4pPr>
            <a:lvl5pPr algn="l">
              <a:defRPr sz="217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5pPr>
            <a:lvl6pPr algn="l">
              <a:defRPr sz="217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6pPr>
            <a:lvl7pPr algn="l">
              <a:defRPr sz="217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7pPr>
            <a:lvl8pPr algn="l">
              <a:defRPr sz="217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8pPr>
            <a:lvl9pPr algn="l">
              <a:defRPr sz="217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pPr>
            <a:r>
              <a:rPr sz="2175" b="0">
                <a:solidFill>
                  <a:srgbClr val="B9BEC4"/>
                </a:solidFill>
                <a:latin typeface="Manrope"/>
                <a:ea typeface="Manrope"/>
                <a:cs typeface="Manrope"/>
              </a:rPr>
              <a:t>Visual content published through supported account connections.</a:t>
            </a:r>
          </a:p>
        </p:txBody>
      </p:sp>
      <p:sp>
        <p:nvSpPr>
          <p:cNvPr id="17" name="CBB signature">
            <a:extLst xmlns:a="http://schemas.openxmlformats.org/drawingml/2006/main">
              <a:ext uri="{FF2B5EF4-FFF2-40B4-BE49-F238E27FC236}">
                <a16:creationId xmlns:a16="http://schemas.microsoft.com/office/drawing/2014/main" id="{3F9C61FE-5DA0-4569-9FB2-E32466E66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829800"/>
            <a:ext cx="1428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defPPr>
            <a:lvl1pPr algn="l">
              <a:defRPr sz="1500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1pPr>
            <a:lvl2pPr algn="l">
              <a:defRPr sz="1500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2pPr>
            <a:lvl3pPr algn="l">
              <a:defRPr sz="1500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3pPr>
            <a:lvl4pPr algn="l">
              <a:defRPr sz="1500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4pPr>
            <a:lvl5pPr algn="l">
              <a:defRPr sz="1500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5pPr>
            <a:lvl6pPr algn="l">
              <a:defRPr sz="1500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6pPr>
            <a:lvl7pPr algn="l">
              <a:defRPr sz="1500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7pPr>
            <a:lvl8pPr algn="l">
              <a:defRPr sz="1500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8pPr>
            <a:lvl9pPr algn="l">
              <a:defRPr sz="1500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pPr>
            <a:r>
              <a:rPr sz="1500" b="0">
                <a:solidFill>
                  <a:srgbClr val="B9BEC4"/>
                </a:solidFill>
                <a:latin typeface="Manrope"/>
                <a:ea typeface="Manrope"/>
                <a:cs typeface="Manrope"/>
              </a:rPr>
              <a:t>MAPSCORE BY COVERED BRIDGE BRANDS</a:t>
            </a:r>
          </a:p>
        </p:txBody>
      </p:sp>
      <p:sp>
        <p:nvSpPr>
          <p:cNvPr id="18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8F72314A-B8D2-4639-B916-6C1787DE5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2125" y="9763125"/>
            <a:ext cx="619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D5A756"/>
                </a:solidFill>
                <a:latin typeface="Sora"/>
                <a:ea typeface="Sora"/>
                <a:cs typeface="Sora"/>
              </a:defRPr>
            </a:defPPr>
            <a:lvl1pPr algn="l">
              <a:defRPr sz="1725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1pPr>
            <a:lvl2pPr algn="l">
              <a:defRPr sz="1725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2pPr>
            <a:lvl3pPr algn="l">
              <a:defRPr sz="1725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3pPr>
            <a:lvl4pPr algn="l">
              <a:defRPr sz="1725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4pPr>
            <a:lvl5pPr algn="l">
              <a:defRPr sz="1725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5pPr>
            <a:lvl6pPr algn="l">
              <a:defRPr sz="1725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6pPr>
            <a:lvl7pPr algn="l">
              <a:defRPr sz="1725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7pPr>
            <a:lvl8pPr algn="l">
              <a:defRPr sz="1725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8pPr>
            <a:lvl9pPr algn="l">
              <a:defRPr sz="1725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D5A756"/>
                </a:solidFill>
                <a:latin typeface="Sora"/>
                <a:ea typeface="Sora"/>
                <a:cs typeface="Sora"/>
              </a:defRPr>
            </a:pPr>
            <a:r>
              <a:rPr sz="1725" b="1">
                <a:solidFill>
                  <a:srgbClr val="D5A756"/>
                </a:solidFill>
                <a:latin typeface="Sora"/>
                <a:ea typeface="Sora"/>
                <a:cs typeface="Sora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694747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EF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ection label">
            <a:extLst xmlns:a="http://schemas.openxmlformats.org/drawingml/2006/main">
              <a:ext uri="{FF2B5EF4-FFF2-40B4-BE49-F238E27FC236}">
                <a16:creationId xmlns:a16="http://schemas.microsoft.com/office/drawing/2014/main" id="{336971D1-9D7B-4FF2-BBE0-5D13BE96C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14375"/>
            <a:ext cx="1476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defPPr>
            <a:lvl1pPr algn="l">
              <a:defRPr sz="16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1pPr>
            <a:lvl2pPr algn="l">
              <a:defRPr sz="16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2pPr>
            <a:lvl3pPr algn="l">
              <a:defRPr sz="16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3pPr>
            <a:lvl4pPr algn="l">
              <a:defRPr sz="16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4pPr>
            <a:lvl5pPr algn="l">
              <a:defRPr sz="16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5pPr>
            <a:lvl6pPr algn="l">
              <a:defRPr sz="16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6pPr>
            <a:lvl7pPr algn="l">
              <a:defRPr sz="16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7pPr>
            <a:lvl8pPr algn="l">
              <a:defRPr sz="16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8pPr>
            <a:lvl9pPr algn="l">
              <a:defRPr sz="16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pPr>
            <a:r>
              <a:rPr sz="1650" b="1">
                <a:solidFill>
                  <a:srgbClr val="A2732F"/>
                </a:solidFill>
                <a:latin typeface="Sora"/>
                <a:ea typeface="Sora"/>
                <a:cs typeface="Sora"/>
              </a:rPr>
              <a:t>THE BIGGER PICTURE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CB83025A-03AE-44AF-BA7E-D6AF46C85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685800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55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defPPr>
            <a:lvl1pPr algn="l">
              <a:defRPr sz="555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1pPr>
            <a:lvl2pPr algn="l">
              <a:defRPr sz="555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2pPr>
            <a:lvl3pPr algn="l">
              <a:defRPr sz="555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3pPr>
            <a:lvl4pPr algn="l">
              <a:defRPr sz="555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4pPr>
            <a:lvl5pPr algn="l">
              <a:defRPr sz="555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5pPr>
            <a:lvl6pPr algn="l">
              <a:defRPr sz="555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6pPr>
            <a:lvl7pPr algn="l">
              <a:defRPr sz="555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7pPr>
            <a:lvl8pPr algn="l">
              <a:defRPr sz="555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8pPr>
            <a:lvl9pPr algn="l">
              <a:defRPr sz="555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555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pPr>
            <a:r>
              <a:rPr sz="5550" b="1">
                <a:solidFill>
                  <a:srgbClr val="171B20"/>
                </a:solidFill>
                <a:latin typeface="Sora"/>
                <a:ea typeface="Sora"/>
                <a:cs typeface="Sora"/>
              </a:rPr>
              <a:t>Local visibility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555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pPr>
            <a:r>
              <a:rPr sz="5550" b="1">
                <a:solidFill>
                  <a:srgbClr val="171B20"/>
                </a:solidFill>
                <a:latin typeface="Sora"/>
                <a:ea typeface="Sora"/>
                <a:cs typeface="Sora"/>
              </a:rPr>
              <a:t>across your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555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pPr>
            <a:r>
              <a:rPr sz="5550" b="1">
                <a:solidFill>
                  <a:srgbClr val="171B20"/>
                </a:solidFill>
                <a:latin typeface="Sora"/>
                <a:ea typeface="Sora"/>
                <a:cs typeface="Sora"/>
              </a:rPr>
              <a:t>online presence</a:t>
            </a:r>
          </a:p>
        </p:txBody>
      </p:sp>
      <p:sp>
        <p:nvSpPr>
          <p:cNvPr id="3" name="Body MapScore coordinates the">
            <a:extLst xmlns:a="http://schemas.openxmlformats.org/drawingml/2006/main">
              <a:ext uri="{FF2B5EF4-FFF2-40B4-BE49-F238E27FC236}">
                <a16:creationId xmlns:a16="http://schemas.microsoft.com/office/drawing/2014/main" id="{4FC4CBA5-829E-4B17-9FB9-FACCDE19B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858000"/>
            <a:ext cx="6477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defPPr>
            <a:lvl1pPr algn="l">
              <a:defRPr sz="26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1pPr>
            <a:lvl2pPr algn="l">
              <a:defRPr sz="26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2pPr>
            <a:lvl3pPr algn="l">
              <a:defRPr sz="26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3pPr>
            <a:lvl4pPr algn="l">
              <a:defRPr sz="26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4pPr>
            <a:lvl5pPr algn="l">
              <a:defRPr sz="26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5pPr>
            <a:lvl6pPr algn="l">
              <a:defRPr sz="26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6pPr>
            <a:lvl7pPr algn="l">
              <a:defRPr sz="26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7pPr>
            <a:lvl8pPr algn="l">
              <a:defRPr sz="26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8pPr>
            <a:lvl9pPr algn="l">
              <a:defRPr sz="26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6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pPr>
            <a:r>
              <a:rPr sz="2625" b="0">
                <a:solidFill>
                  <a:srgbClr val="56606B"/>
                </a:solidFill>
                <a:latin typeface="Manrope"/>
                <a:ea typeface="Manrope"/>
                <a:cs typeface="Manrope"/>
              </a:rPr>
              <a:t>MapScore coordinates the work around your profile and connected accounts.</a:t>
            </a:r>
          </a:p>
        </p:txBody>
      </p:sp>
      <p:sp>
        <p:nvSpPr>
          <p:cNvPr id="4" name="Strategy number 0">
            <a:extLst xmlns:a="http://schemas.openxmlformats.org/drawingml/2006/main">
              <a:ext uri="{FF2B5EF4-FFF2-40B4-BE49-F238E27FC236}">
                <a16:creationId xmlns:a16="http://schemas.microsoft.com/office/drawing/2014/main" id="{23B398D1-7443-42A0-805D-E91BDE9D6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905000"/>
            <a:ext cx="809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defPPr>
            <a:lvl1pPr algn="l">
              <a:defRPr sz="28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1pPr>
            <a:lvl2pPr algn="l">
              <a:defRPr sz="28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2pPr>
            <a:lvl3pPr algn="l">
              <a:defRPr sz="28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3pPr>
            <a:lvl4pPr algn="l">
              <a:defRPr sz="28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4pPr>
            <a:lvl5pPr algn="l">
              <a:defRPr sz="28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5pPr>
            <a:lvl6pPr algn="l">
              <a:defRPr sz="28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6pPr>
            <a:lvl7pPr algn="l">
              <a:defRPr sz="28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7pPr>
            <a:lvl8pPr algn="l">
              <a:defRPr sz="28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8pPr>
            <a:lvl9pPr algn="l">
              <a:defRPr sz="28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pPr>
            <a:r>
              <a:rPr sz="2850" b="1">
                <a:solidFill>
                  <a:srgbClr val="A2732F"/>
                </a:solidFill>
                <a:latin typeface="Sora"/>
                <a:ea typeface="Sora"/>
                <a:cs typeface="Sora"/>
              </a:rPr>
              <a:t>01</a:t>
            </a:r>
          </a:p>
        </p:txBody>
      </p:sp>
      <p:sp>
        <p:nvSpPr>
          <p:cNvPr id="5" name="Strategy heading 0">
            <a:extLst xmlns:a="http://schemas.openxmlformats.org/drawingml/2006/main">
              <a:ext uri="{FF2B5EF4-FFF2-40B4-BE49-F238E27FC236}">
                <a16:creationId xmlns:a16="http://schemas.microsoft.com/office/drawing/2014/main" id="{3065B45D-D677-480D-9FC4-69478BB81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905000"/>
            <a:ext cx="704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defPPr>
            <a:lvl1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1pPr>
            <a:lvl2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2pPr>
            <a:lvl3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3pPr>
            <a:lvl4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4pPr>
            <a:lvl5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5pPr>
            <a:lvl6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6pPr>
            <a:lvl7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7pPr>
            <a:lvl8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8pPr>
            <a:lvl9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pPr>
            <a:r>
              <a:rPr sz="2400" b="1">
                <a:solidFill>
                  <a:srgbClr val="171B20"/>
                </a:solidFill>
                <a:latin typeface="Sora"/>
                <a:ea typeface="Sora"/>
                <a:cs typeface="Sora"/>
              </a:rPr>
              <a:t>Google Business Profile</a:t>
            </a:r>
          </a:p>
        </p:txBody>
      </p:sp>
      <p:sp>
        <p:nvSpPr>
          <p:cNvPr id="6" name="Body Current information, ser">
            <a:extLst xmlns:a="http://schemas.openxmlformats.org/drawingml/2006/main">
              <a:ext uri="{FF2B5EF4-FFF2-40B4-BE49-F238E27FC236}">
                <a16:creationId xmlns:a16="http://schemas.microsoft.com/office/drawing/2014/main" id="{391A8425-8F49-4092-963C-7AC44DBBB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524125"/>
            <a:ext cx="704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defPPr>
            <a:lvl1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1pPr>
            <a:lvl2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2pPr>
            <a:lvl3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3pPr>
            <a:lvl4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4pPr>
            <a:lvl5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5pPr>
            <a:lvl6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6pPr>
            <a:lvl7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7pPr>
            <a:lvl8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8pPr>
            <a:lvl9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pPr>
            <a:r>
              <a:rPr sz="2025" b="0">
                <a:solidFill>
                  <a:srgbClr val="56606B"/>
                </a:solidFill>
                <a:latin typeface="Manrope"/>
                <a:ea typeface="Manrope"/>
                <a:cs typeface="Manrope"/>
              </a:rPr>
              <a:t>Current information, services and content.</a:t>
            </a:r>
          </a:p>
        </p:txBody>
      </p:sp>
      <p:sp>
        <p:nvSpPr>
          <p:cNvPr id="7" name="Strategy number 1">
            <a:extLst xmlns:a="http://schemas.openxmlformats.org/drawingml/2006/main">
              <a:ext uri="{FF2B5EF4-FFF2-40B4-BE49-F238E27FC236}">
                <a16:creationId xmlns:a16="http://schemas.microsoft.com/office/drawing/2014/main" id="{4AFB8C0E-57FC-4BD8-BFCA-872CE62CA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171825"/>
            <a:ext cx="809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defPPr>
            <a:lvl1pPr algn="l">
              <a:defRPr sz="28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1pPr>
            <a:lvl2pPr algn="l">
              <a:defRPr sz="28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2pPr>
            <a:lvl3pPr algn="l">
              <a:defRPr sz="28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3pPr>
            <a:lvl4pPr algn="l">
              <a:defRPr sz="28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4pPr>
            <a:lvl5pPr algn="l">
              <a:defRPr sz="28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5pPr>
            <a:lvl6pPr algn="l">
              <a:defRPr sz="28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6pPr>
            <a:lvl7pPr algn="l">
              <a:defRPr sz="28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7pPr>
            <a:lvl8pPr algn="l">
              <a:defRPr sz="28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8pPr>
            <a:lvl9pPr algn="l">
              <a:defRPr sz="28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pPr>
            <a:r>
              <a:rPr sz="2850" b="1">
                <a:solidFill>
                  <a:srgbClr val="A2732F"/>
                </a:solidFill>
                <a:latin typeface="Sora"/>
                <a:ea typeface="Sora"/>
                <a:cs typeface="Sora"/>
              </a:rPr>
              <a:t>02</a:t>
            </a:r>
          </a:p>
        </p:txBody>
      </p:sp>
      <p:sp>
        <p:nvSpPr>
          <p:cNvPr id="8" name="Strategy heading 1">
            <a:extLst xmlns:a="http://schemas.openxmlformats.org/drawingml/2006/main">
              <a:ext uri="{FF2B5EF4-FFF2-40B4-BE49-F238E27FC236}">
                <a16:creationId xmlns:a16="http://schemas.microsoft.com/office/drawing/2014/main" id="{175C63AB-F103-41BF-9FA6-5B8A625B3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71825"/>
            <a:ext cx="704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defPPr>
            <a:lvl1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1pPr>
            <a:lvl2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2pPr>
            <a:lvl3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3pPr>
            <a:lvl4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4pPr>
            <a:lvl5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5pPr>
            <a:lvl6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6pPr>
            <a:lvl7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7pPr>
            <a:lvl8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8pPr>
            <a:lvl9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pPr>
            <a:r>
              <a:rPr sz="2400" b="1">
                <a:solidFill>
                  <a:srgbClr val="171B20"/>
                </a:solidFill>
                <a:latin typeface="Sora"/>
                <a:ea typeface="Sora"/>
                <a:cs typeface="Sora"/>
              </a:rPr>
              <a:t>Customer reviews</a:t>
            </a:r>
          </a:p>
        </p:txBody>
      </p:sp>
      <p:sp>
        <p:nvSpPr>
          <p:cNvPr id="9" name="Body Genuine feedback and con">
            <a:extLst xmlns:a="http://schemas.openxmlformats.org/drawingml/2006/main">
              <a:ext uri="{FF2B5EF4-FFF2-40B4-BE49-F238E27FC236}">
                <a16:creationId xmlns:a16="http://schemas.microsoft.com/office/drawing/2014/main" id="{177EB4BF-68DA-4F7F-AF6D-A4487155B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790950"/>
            <a:ext cx="704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defPPr>
            <a:lvl1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1pPr>
            <a:lvl2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2pPr>
            <a:lvl3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3pPr>
            <a:lvl4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4pPr>
            <a:lvl5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5pPr>
            <a:lvl6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6pPr>
            <a:lvl7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7pPr>
            <a:lvl8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8pPr>
            <a:lvl9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pPr>
            <a:r>
              <a:rPr sz="2025" b="0">
                <a:solidFill>
                  <a:srgbClr val="56606B"/>
                </a:solidFill>
                <a:latin typeface="Manrope"/>
                <a:ea typeface="Manrope"/>
                <a:cs typeface="Manrope"/>
              </a:rPr>
              <a:t>Genuine feedback and consistent responses.</a:t>
            </a:r>
          </a:p>
        </p:txBody>
      </p:sp>
      <p:sp>
        <p:nvSpPr>
          <p:cNvPr id="10" name="Strategy number 2">
            <a:extLst xmlns:a="http://schemas.openxmlformats.org/drawingml/2006/main">
              <a:ext uri="{FF2B5EF4-FFF2-40B4-BE49-F238E27FC236}">
                <a16:creationId xmlns:a16="http://schemas.microsoft.com/office/drawing/2014/main" id="{E65EBB84-6DD5-4F99-A90A-12370DA35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438650"/>
            <a:ext cx="809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defPPr>
            <a:lvl1pPr algn="l">
              <a:defRPr sz="28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1pPr>
            <a:lvl2pPr algn="l">
              <a:defRPr sz="28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2pPr>
            <a:lvl3pPr algn="l">
              <a:defRPr sz="28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3pPr>
            <a:lvl4pPr algn="l">
              <a:defRPr sz="28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4pPr>
            <a:lvl5pPr algn="l">
              <a:defRPr sz="28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5pPr>
            <a:lvl6pPr algn="l">
              <a:defRPr sz="28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6pPr>
            <a:lvl7pPr algn="l">
              <a:defRPr sz="28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7pPr>
            <a:lvl8pPr algn="l">
              <a:defRPr sz="28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8pPr>
            <a:lvl9pPr algn="l">
              <a:defRPr sz="28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pPr>
            <a:r>
              <a:rPr sz="2850" b="1">
                <a:solidFill>
                  <a:srgbClr val="A2732F"/>
                </a:solidFill>
                <a:latin typeface="Sora"/>
                <a:ea typeface="Sora"/>
                <a:cs typeface="Sora"/>
              </a:rPr>
              <a:t>03</a:t>
            </a:r>
          </a:p>
        </p:txBody>
      </p:sp>
      <p:sp>
        <p:nvSpPr>
          <p:cNvPr id="11" name="Strategy heading 2">
            <a:extLst xmlns:a="http://schemas.openxmlformats.org/drawingml/2006/main">
              <a:ext uri="{FF2B5EF4-FFF2-40B4-BE49-F238E27FC236}">
                <a16:creationId xmlns:a16="http://schemas.microsoft.com/office/drawing/2014/main" id="{0636BAD7-3275-445B-9840-FAA16DFC1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438650"/>
            <a:ext cx="704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defPPr>
            <a:lvl1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1pPr>
            <a:lvl2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2pPr>
            <a:lvl3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3pPr>
            <a:lvl4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4pPr>
            <a:lvl5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5pPr>
            <a:lvl6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6pPr>
            <a:lvl7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7pPr>
            <a:lvl8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8pPr>
            <a:lvl9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pPr>
            <a:r>
              <a:rPr sz="2400" b="1">
                <a:solidFill>
                  <a:srgbClr val="171B20"/>
                </a:solidFill>
                <a:latin typeface="Sora"/>
                <a:ea typeface="Sora"/>
                <a:cs typeface="Sora"/>
              </a:rPr>
              <a:t>Directory listings</a:t>
            </a:r>
          </a:p>
        </p:txBody>
      </p:sp>
      <p:sp>
        <p:nvSpPr>
          <p:cNvPr id="12" name="Body Citations, listing sync ">
            <a:extLst xmlns:a="http://schemas.openxmlformats.org/drawingml/2006/main">
              <a:ext uri="{FF2B5EF4-FFF2-40B4-BE49-F238E27FC236}">
                <a16:creationId xmlns:a16="http://schemas.microsoft.com/office/drawing/2014/main" id="{FCA4D37F-1490-4B33-B52A-3F9E30A37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057775"/>
            <a:ext cx="704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defPPr>
            <a:lvl1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1pPr>
            <a:lvl2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2pPr>
            <a:lvl3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3pPr>
            <a:lvl4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4pPr>
            <a:lvl5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5pPr>
            <a:lvl6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6pPr>
            <a:lvl7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7pPr>
            <a:lvl8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8pPr>
            <a:lvl9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pPr>
            <a:r>
              <a:rPr sz="2025" b="0">
                <a:solidFill>
                  <a:srgbClr val="56606B"/>
                </a:solidFill>
                <a:latin typeface="Manrope"/>
                <a:ea typeface="Manrope"/>
                <a:cs typeface="Manrope"/>
              </a:rPr>
              <a:t>Citations, listing sync and business updates.</a:t>
            </a:r>
          </a:p>
        </p:txBody>
      </p:sp>
      <p:sp>
        <p:nvSpPr>
          <p:cNvPr id="13" name="Strategy number 3">
            <a:extLst xmlns:a="http://schemas.openxmlformats.org/drawingml/2006/main">
              <a:ext uri="{FF2B5EF4-FFF2-40B4-BE49-F238E27FC236}">
                <a16:creationId xmlns:a16="http://schemas.microsoft.com/office/drawing/2014/main" id="{A6086542-F915-46E4-A397-90C1F2862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705475"/>
            <a:ext cx="809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defPPr>
            <a:lvl1pPr algn="l">
              <a:defRPr sz="28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1pPr>
            <a:lvl2pPr algn="l">
              <a:defRPr sz="28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2pPr>
            <a:lvl3pPr algn="l">
              <a:defRPr sz="28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3pPr>
            <a:lvl4pPr algn="l">
              <a:defRPr sz="28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4pPr>
            <a:lvl5pPr algn="l">
              <a:defRPr sz="28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5pPr>
            <a:lvl6pPr algn="l">
              <a:defRPr sz="28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6pPr>
            <a:lvl7pPr algn="l">
              <a:defRPr sz="28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7pPr>
            <a:lvl8pPr algn="l">
              <a:defRPr sz="28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8pPr>
            <a:lvl9pPr algn="l">
              <a:defRPr sz="28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pPr>
            <a:r>
              <a:rPr sz="2850" b="1">
                <a:solidFill>
                  <a:srgbClr val="A2732F"/>
                </a:solidFill>
                <a:latin typeface="Sora"/>
                <a:ea typeface="Sora"/>
                <a:cs typeface="Sora"/>
              </a:rPr>
              <a:t>04</a:t>
            </a:r>
          </a:p>
        </p:txBody>
      </p:sp>
      <p:sp>
        <p:nvSpPr>
          <p:cNvPr id="14" name="Strategy heading 3">
            <a:extLst xmlns:a="http://schemas.openxmlformats.org/drawingml/2006/main">
              <a:ext uri="{FF2B5EF4-FFF2-40B4-BE49-F238E27FC236}">
                <a16:creationId xmlns:a16="http://schemas.microsoft.com/office/drawing/2014/main" id="{E53EA0B0-0E87-4FAB-9558-50541B886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705475"/>
            <a:ext cx="704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defPPr>
            <a:lvl1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1pPr>
            <a:lvl2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2pPr>
            <a:lvl3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3pPr>
            <a:lvl4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4pPr>
            <a:lvl5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5pPr>
            <a:lvl6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6pPr>
            <a:lvl7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7pPr>
            <a:lvl8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8pPr>
            <a:lvl9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pPr>
            <a:r>
              <a:rPr sz="2400" b="1">
                <a:solidFill>
                  <a:srgbClr val="171B20"/>
                </a:solidFill>
                <a:latin typeface="Sora"/>
                <a:ea typeface="Sora"/>
                <a:cs typeface="Sora"/>
              </a:rPr>
              <a:t>Social accounts</a:t>
            </a:r>
          </a:p>
        </p:txBody>
      </p:sp>
      <p:sp>
        <p:nvSpPr>
          <p:cNvPr id="15" name="Body Facebook, Instagram, Lin">
            <a:extLst xmlns:a="http://schemas.openxmlformats.org/drawingml/2006/main">
              <a:ext uri="{FF2B5EF4-FFF2-40B4-BE49-F238E27FC236}">
                <a16:creationId xmlns:a16="http://schemas.microsoft.com/office/drawing/2014/main" id="{62D4CE58-CB56-4475-9991-97BD6CC21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324600"/>
            <a:ext cx="704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defPPr>
            <a:lvl1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1pPr>
            <a:lvl2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2pPr>
            <a:lvl3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3pPr>
            <a:lvl4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4pPr>
            <a:lvl5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5pPr>
            <a:lvl6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6pPr>
            <a:lvl7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7pPr>
            <a:lvl8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8pPr>
            <a:lvl9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pPr>
            <a:r>
              <a:rPr sz="2025" b="0">
                <a:solidFill>
                  <a:srgbClr val="56606B"/>
                </a:solidFill>
                <a:latin typeface="Manrope"/>
                <a:ea typeface="Manrope"/>
                <a:cs typeface="Manrope"/>
              </a:rPr>
              <a:t>Facebook, Instagram, LinkedIn, YouTube and TikTok.</a:t>
            </a:r>
          </a:p>
        </p:txBody>
      </p:sp>
      <p:sp>
        <p:nvSpPr>
          <p:cNvPr id="16" name="Strategy number 4">
            <a:extLst xmlns:a="http://schemas.openxmlformats.org/drawingml/2006/main">
              <a:ext uri="{FF2B5EF4-FFF2-40B4-BE49-F238E27FC236}">
                <a16:creationId xmlns:a16="http://schemas.microsoft.com/office/drawing/2014/main" id="{3B494566-ED75-46E0-B822-23CD19E6A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6972300"/>
            <a:ext cx="809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defPPr>
            <a:lvl1pPr algn="l">
              <a:defRPr sz="28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1pPr>
            <a:lvl2pPr algn="l">
              <a:defRPr sz="28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2pPr>
            <a:lvl3pPr algn="l">
              <a:defRPr sz="28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3pPr>
            <a:lvl4pPr algn="l">
              <a:defRPr sz="28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4pPr>
            <a:lvl5pPr algn="l">
              <a:defRPr sz="28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5pPr>
            <a:lvl6pPr algn="l">
              <a:defRPr sz="28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6pPr>
            <a:lvl7pPr algn="l">
              <a:defRPr sz="28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7pPr>
            <a:lvl8pPr algn="l">
              <a:defRPr sz="28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8pPr>
            <a:lvl9pPr algn="l">
              <a:defRPr sz="28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pPr>
            <a:r>
              <a:rPr sz="2850" b="1">
                <a:solidFill>
                  <a:srgbClr val="A2732F"/>
                </a:solidFill>
                <a:latin typeface="Sora"/>
                <a:ea typeface="Sora"/>
                <a:cs typeface="Sora"/>
              </a:rPr>
              <a:t>05</a:t>
            </a:r>
          </a:p>
        </p:txBody>
      </p:sp>
      <p:sp>
        <p:nvSpPr>
          <p:cNvPr id="17" name="Strategy heading 4">
            <a:extLst xmlns:a="http://schemas.openxmlformats.org/drawingml/2006/main">
              <a:ext uri="{FF2B5EF4-FFF2-40B4-BE49-F238E27FC236}">
                <a16:creationId xmlns:a16="http://schemas.microsoft.com/office/drawing/2014/main" id="{86F43D5D-883F-468D-8BAD-A21D65B22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972300"/>
            <a:ext cx="704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defPPr>
            <a:lvl1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1pPr>
            <a:lvl2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2pPr>
            <a:lvl3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3pPr>
            <a:lvl4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4pPr>
            <a:lvl5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5pPr>
            <a:lvl6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6pPr>
            <a:lvl7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7pPr>
            <a:lvl8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8pPr>
            <a:lvl9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pPr>
            <a:r>
              <a:rPr sz="2400" b="1">
                <a:solidFill>
                  <a:srgbClr val="171B20"/>
                </a:solidFill>
                <a:latin typeface="Sora"/>
                <a:ea typeface="Sora"/>
                <a:cs typeface="Sora"/>
              </a:rPr>
              <a:t>AI search visibility</a:t>
            </a:r>
          </a:p>
        </p:txBody>
      </p:sp>
      <p:sp>
        <p:nvSpPr>
          <p:cNvPr id="18" name="Body Visibility checks and cl">
            <a:extLst xmlns:a="http://schemas.openxmlformats.org/drawingml/2006/main">
              <a:ext uri="{FF2B5EF4-FFF2-40B4-BE49-F238E27FC236}">
                <a16:creationId xmlns:a16="http://schemas.microsoft.com/office/drawing/2014/main" id="{CF5E088A-EC28-46BC-8050-5D4DCD523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7591425"/>
            <a:ext cx="704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defPPr>
            <a:lvl1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1pPr>
            <a:lvl2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2pPr>
            <a:lvl3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3pPr>
            <a:lvl4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4pPr>
            <a:lvl5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5pPr>
            <a:lvl6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6pPr>
            <a:lvl7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7pPr>
            <a:lvl8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8pPr>
            <a:lvl9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pPr>
            <a:r>
              <a:rPr sz="2025" b="0">
                <a:solidFill>
                  <a:srgbClr val="56606B"/>
                </a:solidFill>
                <a:latin typeface="Manrope"/>
                <a:ea typeface="Manrope"/>
                <a:cs typeface="Manrope"/>
              </a:rPr>
              <a:t>Visibility checks and clearer business information.</a:t>
            </a:r>
          </a:p>
        </p:txBody>
      </p:sp>
      <p:sp>
        <p:nvSpPr>
          <p:cNvPr id="19" name="Strategy number 5">
            <a:extLst xmlns:a="http://schemas.openxmlformats.org/drawingml/2006/main">
              <a:ext uri="{FF2B5EF4-FFF2-40B4-BE49-F238E27FC236}">
                <a16:creationId xmlns:a16="http://schemas.microsoft.com/office/drawing/2014/main" id="{A0C0FF82-5AC8-4C71-A6BF-2F4774873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8239125"/>
            <a:ext cx="809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defPPr>
            <a:lvl1pPr algn="l">
              <a:defRPr sz="28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1pPr>
            <a:lvl2pPr algn="l">
              <a:defRPr sz="28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2pPr>
            <a:lvl3pPr algn="l">
              <a:defRPr sz="28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3pPr>
            <a:lvl4pPr algn="l">
              <a:defRPr sz="28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4pPr>
            <a:lvl5pPr algn="l">
              <a:defRPr sz="28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5pPr>
            <a:lvl6pPr algn="l">
              <a:defRPr sz="28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6pPr>
            <a:lvl7pPr algn="l">
              <a:defRPr sz="28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7pPr>
            <a:lvl8pPr algn="l">
              <a:defRPr sz="28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8pPr>
            <a:lvl9pPr algn="l">
              <a:defRPr sz="28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pPr>
            <a:r>
              <a:rPr sz="2850" b="1">
                <a:solidFill>
                  <a:srgbClr val="A2732F"/>
                </a:solidFill>
                <a:latin typeface="Sora"/>
                <a:ea typeface="Sora"/>
                <a:cs typeface="Sora"/>
              </a:rPr>
              <a:t>06</a:t>
            </a:r>
          </a:p>
        </p:txBody>
      </p:sp>
      <p:sp>
        <p:nvSpPr>
          <p:cNvPr id="20" name="Strategy heading 5">
            <a:extLst xmlns:a="http://schemas.openxmlformats.org/drawingml/2006/main">
              <a:ext uri="{FF2B5EF4-FFF2-40B4-BE49-F238E27FC236}">
                <a16:creationId xmlns:a16="http://schemas.microsoft.com/office/drawing/2014/main" id="{33BA4834-E23C-4302-BB20-7A12D5CBC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8239125"/>
            <a:ext cx="704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defPPr>
            <a:lvl1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1pPr>
            <a:lvl2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2pPr>
            <a:lvl3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3pPr>
            <a:lvl4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4pPr>
            <a:lvl5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5pPr>
            <a:lvl6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6pPr>
            <a:lvl7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7pPr>
            <a:lvl8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8pPr>
            <a:lvl9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pPr>
            <a:r>
              <a:rPr sz="2400" b="1">
                <a:solidFill>
                  <a:srgbClr val="171B20"/>
                </a:solidFill>
                <a:latin typeface="Sora"/>
                <a:ea typeface="Sora"/>
                <a:cs typeface="Sora"/>
              </a:rPr>
              <a:t>Existing website</a:t>
            </a:r>
          </a:p>
        </p:txBody>
      </p:sp>
      <p:sp>
        <p:nvSpPr>
          <p:cNvPr id="21" name="Body SEO recommendations and ">
            <a:extLst xmlns:a="http://schemas.openxmlformats.org/drawingml/2006/main">
              <a:ext uri="{FF2B5EF4-FFF2-40B4-BE49-F238E27FC236}">
                <a16:creationId xmlns:a16="http://schemas.microsoft.com/office/drawing/2014/main" id="{E223F01D-78F3-444E-BA12-2E170307C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8858250"/>
            <a:ext cx="704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defPPr>
            <a:lvl1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1pPr>
            <a:lvl2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2pPr>
            <a:lvl3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3pPr>
            <a:lvl4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4pPr>
            <a:lvl5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5pPr>
            <a:lvl6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6pPr>
            <a:lvl7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7pPr>
            <a:lvl8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8pPr>
            <a:lvl9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pPr>
            <a:r>
              <a:rPr sz="2025" b="0">
                <a:solidFill>
                  <a:srgbClr val="56606B"/>
                </a:solidFill>
                <a:latin typeface="Manrope"/>
                <a:ea typeface="Manrope"/>
                <a:cs typeface="Manrope"/>
              </a:rPr>
              <a:t>SEO recommendations and widgets for your current site.</a:t>
            </a:r>
          </a:p>
        </p:txBody>
      </p:sp>
      <p:sp>
        <p:nvSpPr>
          <p:cNvPr id="22" name="CBB signature">
            <a:extLst xmlns:a="http://schemas.openxmlformats.org/drawingml/2006/main">
              <a:ext uri="{FF2B5EF4-FFF2-40B4-BE49-F238E27FC236}">
                <a16:creationId xmlns:a16="http://schemas.microsoft.com/office/drawing/2014/main" id="{CF205A50-5F2F-4DA6-9CA6-319989A62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829800"/>
            <a:ext cx="1428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defPPr>
            <a:lvl1pPr algn="l">
              <a:defRPr sz="1500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1pPr>
            <a:lvl2pPr algn="l">
              <a:defRPr sz="1500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2pPr>
            <a:lvl3pPr algn="l">
              <a:defRPr sz="1500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3pPr>
            <a:lvl4pPr algn="l">
              <a:defRPr sz="1500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4pPr>
            <a:lvl5pPr algn="l">
              <a:defRPr sz="1500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5pPr>
            <a:lvl6pPr algn="l">
              <a:defRPr sz="1500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6pPr>
            <a:lvl7pPr algn="l">
              <a:defRPr sz="1500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7pPr>
            <a:lvl8pPr algn="l">
              <a:defRPr sz="1500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8pPr>
            <a:lvl9pPr algn="l">
              <a:defRPr sz="1500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pPr>
            <a:r>
              <a:rPr sz="1500" b="0">
                <a:solidFill>
                  <a:srgbClr val="56606B"/>
                </a:solidFill>
                <a:latin typeface="Manrope"/>
                <a:ea typeface="Manrope"/>
                <a:cs typeface="Manrope"/>
              </a:rPr>
              <a:t>MAPSCORE BY COVERED BRIDGE BRANDS</a:t>
            </a:r>
          </a:p>
        </p:txBody>
      </p:sp>
      <p:sp>
        <p:nvSpPr>
          <p:cNvPr id="23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108CA620-8F73-4A2D-A0E7-FAC9B02BA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2125" y="9763125"/>
            <a:ext cx="619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A2732F"/>
                </a:solidFill>
                <a:latin typeface="Sora"/>
                <a:ea typeface="Sora"/>
                <a:cs typeface="Sora"/>
              </a:defRPr>
            </a:defPPr>
            <a:lvl1pPr algn="l">
              <a:defRPr sz="1725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1pPr>
            <a:lvl2pPr algn="l">
              <a:defRPr sz="1725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2pPr>
            <a:lvl3pPr algn="l">
              <a:defRPr sz="1725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3pPr>
            <a:lvl4pPr algn="l">
              <a:defRPr sz="1725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4pPr>
            <a:lvl5pPr algn="l">
              <a:defRPr sz="1725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5pPr>
            <a:lvl6pPr algn="l">
              <a:defRPr sz="1725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6pPr>
            <a:lvl7pPr algn="l">
              <a:defRPr sz="1725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7pPr>
            <a:lvl8pPr algn="l">
              <a:defRPr sz="1725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8pPr>
            <a:lvl9pPr algn="l">
              <a:defRPr sz="1725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A2732F"/>
                </a:solidFill>
                <a:latin typeface="Sora"/>
                <a:ea typeface="Sora"/>
                <a:cs typeface="Sora"/>
              </a:defRPr>
            </a:pPr>
            <a:r>
              <a:rPr sz="1725" b="1">
                <a:solidFill>
                  <a:srgbClr val="A2732F"/>
                </a:solidFill>
                <a:latin typeface="Sora"/>
                <a:ea typeface="Sora"/>
                <a:cs typeface="Sora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576622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EF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ection label">
            <a:extLst xmlns:a="http://schemas.openxmlformats.org/drawingml/2006/main">
              <a:ext uri="{FF2B5EF4-FFF2-40B4-BE49-F238E27FC236}">
                <a16:creationId xmlns:a16="http://schemas.microsoft.com/office/drawing/2014/main" id="{5BE0776A-B86E-4DE2-B239-60ED332BD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14375"/>
            <a:ext cx="1476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defPPr>
            <a:lvl1pPr algn="l">
              <a:defRPr sz="16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1pPr>
            <a:lvl2pPr algn="l">
              <a:defRPr sz="16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2pPr>
            <a:lvl3pPr algn="l">
              <a:defRPr sz="16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3pPr>
            <a:lvl4pPr algn="l">
              <a:defRPr sz="16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4pPr>
            <a:lvl5pPr algn="l">
              <a:defRPr sz="16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5pPr>
            <a:lvl6pPr algn="l">
              <a:defRPr sz="16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6pPr>
            <a:lvl7pPr algn="l">
              <a:defRPr sz="16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7pPr>
            <a:lvl8pPr algn="l">
              <a:defRPr sz="16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8pPr>
            <a:lvl9pPr algn="l">
              <a:defRPr sz="16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pPr>
            <a:r>
              <a:rPr sz="1650" b="1">
                <a:solidFill>
                  <a:srgbClr val="A2732F"/>
                </a:solidFill>
                <a:latin typeface="Sora"/>
                <a:ea typeface="Sora"/>
                <a:cs typeface="Sora"/>
              </a:rPr>
              <a:t>RESULTS FROM THE TECHNOLOGY BEHIND MAPSCORE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8D22B13B-1AE2-44AC-AA62-5A9027E8D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381125"/>
            <a:ext cx="16192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7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defPPr>
            <a:lvl1pPr algn="l">
              <a:defRPr sz="57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1pPr>
            <a:lvl2pPr algn="l">
              <a:defRPr sz="57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2pPr>
            <a:lvl3pPr algn="l">
              <a:defRPr sz="57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3pPr>
            <a:lvl4pPr algn="l">
              <a:defRPr sz="57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4pPr>
            <a:lvl5pPr algn="l">
              <a:defRPr sz="57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5pPr>
            <a:lvl6pPr algn="l">
              <a:defRPr sz="57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6pPr>
            <a:lvl7pPr algn="l">
              <a:defRPr sz="57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7pPr>
            <a:lvl8pPr algn="l">
              <a:defRPr sz="57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8pPr>
            <a:lvl9pPr algn="l">
              <a:defRPr sz="57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57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pPr>
            <a:r>
              <a:rPr sz="5700" b="1">
                <a:solidFill>
                  <a:srgbClr val="171B20"/>
                </a:solidFill>
                <a:latin typeface="Sora"/>
                <a:ea typeface="Sora"/>
                <a:cs typeface="Sora"/>
              </a:rPr>
              <a:t>Real results from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57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pPr>
            <a:r>
              <a:rPr sz="5700" b="1">
                <a:solidFill>
                  <a:srgbClr val="171B20"/>
                </a:solidFill>
                <a:latin typeface="Sora"/>
                <a:ea typeface="Sora"/>
                <a:cs typeface="Sora"/>
              </a:rPr>
              <a:t>the technology behind MapScore</a:t>
            </a:r>
          </a:p>
        </p:txBody>
      </p:sp>
      <p:sp>
        <p:nvSpPr>
          <p:cNvPr id="3" name="Case business 0">
            <a:extLst xmlns:a="http://schemas.openxmlformats.org/drawingml/2006/main">
              <a:ext uri="{FF2B5EF4-FFF2-40B4-BE49-F238E27FC236}">
                <a16:creationId xmlns:a16="http://schemas.microsoft.com/office/drawing/2014/main" id="{8EA61C0A-56E9-40E0-B71F-D647BD8FA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52875"/>
            <a:ext cx="495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171B20"/>
                </a:solidFill>
                <a:latin typeface="Sora"/>
                <a:ea typeface="Sora"/>
                <a:cs typeface="Sora"/>
              </a:defRPr>
            </a:defPPr>
            <a:lvl1pPr algn="l">
              <a:defRPr sz="2625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1pPr>
            <a:lvl2pPr algn="l">
              <a:defRPr sz="2625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2pPr>
            <a:lvl3pPr algn="l">
              <a:defRPr sz="2625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3pPr>
            <a:lvl4pPr algn="l">
              <a:defRPr sz="2625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4pPr>
            <a:lvl5pPr algn="l">
              <a:defRPr sz="2625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5pPr>
            <a:lvl6pPr algn="l">
              <a:defRPr sz="2625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6pPr>
            <a:lvl7pPr algn="l">
              <a:defRPr sz="2625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7pPr>
            <a:lvl8pPr algn="l">
              <a:defRPr sz="2625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8pPr>
            <a:lvl9pPr algn="l">
              <a:defRPr sz="2625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625" b="1">
                <a:solidFill>
                  <a:srgbClr val="171B20"/>
                </a:solidFill>
                <a:latin typeface="Sora"/>
                <a:ea typeface="Sora"/>
                <a:cs typeface="Sora"/>
              </a:defRPr>
            </a:pPr>
            <a:r>
              <a:rPr sz="2625" b="1">
                <a:solidFill>
                  <a:srgbClr val="171B20"/>
                </a:solidFill>
                <a:latin typeface="Sora"/>
                <a:ea typeface="Sora"/>
                <a:cs typeface="Sora"/>
              </a:rPr>
              <a:t>Home Crush</a:t>
            </a:r>
          </a:p>
        </p:txBody>
      </p:sp>
      <p:sp>
        <p:nvSpPr>
          <p:cNvPr id="4" name="Body Home goods retailer">
            <a:extLst xmlns:a="http://schemas.openxmlformats.org/drawingml/2006/main">
              <a:ext uri="{FF2B5EF4-FFF2-40B4-BE49-F238E27FC236}">
                <a16:creationId xmlns:a16="http://schemas.microsoft.com/office/drawing/2014/main" id="{AE9DA6F7-86C1-44F2-AA43-327792FAB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6725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defPPr>
            <a:lvl1pPr algn="l">
              <a:defRPr sz="2100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1pPr>
            <a:lvl2pPr algn="l">
              <a:defRPr sz="2100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2pPr>
            <a:lvl3pPr algn="l">
              <a:defRPr sz="2100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3pPr>
            <a:lvl4pPr algn="l">
              <a:defRPr sz="2100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4pPr>
            <a:lvl5pPr algn="l">
              <a:defRPr sz="2100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5pPr>
            <a:lvl6pPr algn="l">
              <a:defRPr sz="2100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6pPr>
            <a:lvl7pPr algn="l">
              <a:defRPr sz="2100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7pPr>
            <a:lvl8pPr algn="l">
              <a:defRPr sz="2100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8pPr>
            <a:lvl9pPr algn="l">
              <a:defRPr sz="2100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pPr>
            <a:r>
              <a:rPr sz="2100" b="0">
                <a:solidFill>
                  <a:srgbClr val="56606B"/>
                </a:solidFill>
                <a:latin typeface="Manrope"/>
                <a:ea typeface="Manrope"/>
                <a:cs typeface="Manrope"/>
              </a:rPr>
              <a:t>Home goods retailer</a:t>
            </a:r>
          </a:p>
        </p:txBody>
      </p:sp>
      <p:sp>
        <p:nvSpPr>
          <p:cNvPr id="5" name="Case ranking result 0">
            <a:extLst xmlns:a="http://schemas.openxmlformats.org/drawingml/2006/main">
              <a:ext uri="{FF2B5EF4-FFF2-40B4-BE49-F238E27FC236}">
                <a16:creationId xmlns:a16="http://schemas.microsoft.com/office/drawing/2014/main" id="{9192C6B1-9D33-49D3-986E-52D9AE618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29250"/>
            <a:ext cx="5048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70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defPPr>
            <a:lvl1pPr algn="l">
              <a:defRPr sz="570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1pPr>
            <a:lvl2pPr algn="l">
              <a:defRPr sz="570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2pPr>
            <a:lvl3pPr algn="l">
              <a:defRPr sz="570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3pPr>
            <a:lvl4pPr algn="l">
              <a:defRPr sz="570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4pPr>
            <a:lvl5pPr algn="l">
              <a:defRPr sz="570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5pPr>
            <a:lvl6pPr algn="l">
              <a:defRPr sz="570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6pPr>
            <a:lvl7pPr algn="l">
              <a:defRPr sz="570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7pPr>
            <a:lvl8pPr algn="l">
              <a:defRPr sz="570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8pPr>
            <a:lvl9pPr algn="l">
              <a:defRPr sz="570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570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pPr>
            <a:r>
              <a:rPr sz="5700" b="1">
                <a:solidFill>
                  <a:srgbClr val="A2732F"/>
                </a:solidFill>
                <a:latin typeface="Sora"/>
                <a:ea typeface="Sora"/>
                <a:cs typeface="Sora"/>
              </a:rPr>
              <a:t>7,320%</a:t>
            </a:r>
          </a:p>
        </p:txBody>
      </p:sp>
      <p:sp>
        <p:nvSpPr>
          <p:cNvPr id="6" name="Body ranking improvement in 3">
            <a:extLst xmlns:a="http://schemas.openxmlformats.org/drawingml/2006/main">
              <a:ext uri="{FF2B5EF4-FFF2-40B4-BE49-F238E27FC236}">
                <a16:creationId xmlns:a16="http://schemas.microsoft.com/office/drawing/2014/main" id="{F9A16838-86D0-4AEF-A5B6-AA9876092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667500"/>
            <a:ext cx="4810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defPPr>
            <a:lvl1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1pPr>
            <a:lvl2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2pPr>
            <a:lvl3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3pPr>
            <a:lvl4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4pPr>
            <a:lvl5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5pPr>
            <a:lvl6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6pPr>
            <a:lvl7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7pPr>
            <a:lvl8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8pPr>
            <a:lvl9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pPr>
            <a:r>
              <a:rPr sz="2175" b="0">
                <a:solidFill>
                  <a:srgbClr val="56606B"/>
                </a:solidFill>
                <a:latin typeface="Manrope"/>
                <a:ea typeface="Manrope"/>
                <a:cs typeface="Manrope"/>
              </a:rPr>
              <a:t>ranking improvement in 30 days</a:t>
            </a:r>
          </a:p>
        </p:txBody>
      </p:sp>
      <p:sp>
        <p:nvSpPr>
          <p:cNvPr id="7" name="Body 225 people found the bus">
            <a:extLst xmlns:a="http://schemas.openxmlformats.org/drawingml/2006/main">
              <a:ext uri="{FF2B5EF4-FFF2-40B4-BE49-F238E27FC236}">
                <a16:creationId xmlns:a16="http://schemas.microsoft.com/office/drawing/2014/main" id="{0A3D5A46-BF7B-4EFA-AEC1-00A8FD552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810500"/>
            <a:ext cx="4810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defPPr>
            <a:lvl1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1pPr>
            <a:lvl2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2pPr>
            <a:lvl3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3pPr>
            <a:lvl4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4pPr>
            <a:lvl5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5pPr>
            <a:lvl6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6pPr>
            <a:lvl7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7pPr>
            <a:lvl8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8pPr>
            <a:lvl9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pPr>
            <a:r>
              <a:rPr sz="2175" b="0">
                <a:solidFill>
                  <a:srgbClr val="56606B"/>
                </a:solidFill>
                <a:latin typeface="Manrope"/>
                <a:ea typeface="Manrope"/>
                <a:cs typeface="Manrope"/>
              </a:rPr>
              <a:t>225 people found the business on Google.</a:t>
            </a:r>
          </a:p>
        </p:txBody>
      </p:sp>
      <p:sp>
        <p:nvSpPr>
          <p:cNvPr id="8" name="Estimated value 0">
            <a:extLst xmlns:a="http://schemas.openxmlformats.org/drawingml/2006/main">
              <a:ext uri="{FF2B5EF4-FFF2-40B4-BE49-F238E27FC236}">
                <a16:creationId xmlns:a16="http://schemas.microsoft.com/office/drawing/2014/main" id="{E8D171B1-0DF0-4852-B6DC-F320B892B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048750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defPPr>
            <a:lvl1pPr algn="l">
              <a:defRPr sz="315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1pPr>
            <a:lvl2pPr algn="l">
              <a:defRPr sz="315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2pPr>
            <a:lvl3pPr algn="l">
              <a:defRPr sz="315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3pPr>
            <a:lvl4pPr algn="l">
              <a:defRPr sz="315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4pPr>
            <a:lvl5pPr algn="l">
              <a:defRPr sz="315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5pPr>
            <a:lvl6pPr algn="l">
              <a:defRPr sz="315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6pPr>
            <a:lvl7pPr algn="l">
              <a:defRPr sz="315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7pPr>
            <a:lvl8pPr algn="l">
              <a:defRPr sz="315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8pPr>
            <a:lvl9pPr algn="l">
              <a:defRPr sz="315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pPr>
            <a:r>
              <a:rPr sz="3150" b="1">
                <a:solidFill>
                  <a:srgbClr val="171B20"/>
                </a:solidFill>
                <a:latin typeface="Sora"/>
                <a:ea typeface="Sora"/>
                <a:cs typeface="Sora"/>
              </a:rPr>
              <a:t>$1,112,500</a:t>
            </a:r>
          </a:p>
        </p:txBody>
      </p:sp>
      <p:sp>
        <p:nvSpPr>
          <p:cNvPr id="9" name="Case business 1">
            <a:extLst xmlns:a="http://schemas.openxmlformats.org/drawingml/2006/main">
              <a:ext uri="{FF2B5EF4-FFF2-40B4-BE49-F238E27FC236}">
                <a16:creationId xmlns:a16="http://schemas.microsoft.com/office/drawing/2014/main" id="{B5FFA9A1-611F-40B1-8BD0-AB2FB6EE1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952875"/>
            <a:ext cx="495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171B20"/>
                </a:solidFill>
                <a:latin typeface="Sora"/>
                <a:ea typeface="Sora"/>
                <a:cs typeface="Sora"/>
              </a:defRPr>
            </a:defPPr>
            <a:lvl1pPr algn="l">
              <a:defRPr sz="2625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1pPr>
            <a:lvl2pPr algn="l">
              <a:defRPr sz="2625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2pPr>
            <a:lvl3pPr algn="l">
              <a:defRPr sz="2625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3pPr>
            <a:lvl4pPr algn="l">
              <a:defRPr sz="2625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4pPr>
            <a:lvl5pPr algn="l">
              <a:defRPr sz="2625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5pPr>
            <a:lvl6pPr algn="l">
              <a:defRPr sz="2625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6pPr>
            <a:lvl7pPr algn="l">
              <a:defRPr sz="2625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7pPr>
            <a:lvl8pPr algn="l">
              <a:defRPr sz="2625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8pPr>
            <a:lvl9pPr algn="l">
              <a:defRPr sz="2625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625" b="1">
                <a:solidFill>
                  <a:srgbClr val="171B20"/>
                </a:solidFill>
                <a:latin typeface="Sora"/>
                <a:ea typeface="Sora"/>
                <a:cs typeface="Sora"/>
              </a:defRPr>
            </a:pPr>
            <a:r>
              <a:rPr sz="2625" b="1">
                <a:solidFill>
                  <a:srgbClr val="171B20"/>
                </a:solidFill>
                <a:latin typeface="Sora"/>
                <a:ea typeface="Sora"/>
                <a:cs typeface="Sora"/>
              </a:rPr>
              <a:t>Rooster Roofers</a:t>
            </a:r>
          </a:p>
        </p:txBody>
      </p:sp>
      <p:sp>
        <p:nvSpPr>
          <p:cNvPr id="10" name="Body Roofing contractor">
            <a:extLst xmlns:a="http://schemas.openxmlformats.org/drawingml/2006/main">
              <a:ext uri="{FF2B5EF4-FFF2-40B4-BE49-F238E27FC236}">
                <a16:creationId xmlns:a16="http://schemas.microsoft.com/office/drawing/2014/main" id="{A4C0DD22-F037-45B7-8BDD-2D1FE2983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66725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defPPr>
            <a:lvl1pPr algn="l">
              <a:defRPr sz="2100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1pPr>
            <a:lvl2pPr algn="l">
              <a:defRPr sz="2100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2pPr>
            <a:lvl3pPr algn="l">
              <a:defRPr sz="2100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3pPr>
            <a:lvl4pPr algn="l">
              <a:defRPr sz="2100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4pPr>
            <a:lvl5pPr algn="l">
              <a:defRPr sz="2100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5pPr>
            <a:lvl6pPr algn="l">
              <a:defRPr sz="2100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6pPr>
            <a:lvl7pPr algn="l">
              <a:defRPr sz="2100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7pPr>
            <a:lvl8pPr algn="l">
              <a:defRPr sz="2100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8pPr>
            <a:lvl9pPr algn="l">
              <a:defRPr sz="2100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pPr>
            <a:r>
              <a:rPr sz="2100" b="0">
                <a:solidFill>
                  <a:srgbClr val="56606B"/>
                </a:solidFill>
                <a:latin typeface="Manrope"/>
                <a:ea typeface="Manrope"/>
                <a:cs typeface="Manrope"/>
              </a:rPr>
              <a:t>Roofing contractor</a:t>
            </a:r>
          </a:p>
        </p:txBody>
      </p:sp>
      <p:sp>
        <p:nvSpPr>
          <p:cNvPr id="11" name="Case ranking result 1">
            <a:extLst xmlns:a="http://schemas.openxmlformats.org/drawingml/2006/main">
              <a:ext uri="{FF2B5EF4-FFF2-40B4-BE49-F238E27FC236}">
                <a16:creationId xmlns:a16="http://schemas.microsoft.com/office/drawing/2014/main" id="{0974ECED-91A7-4CB3-B749-3EB3657AE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5429250"/>
            <a:ext cx="5048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70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defPPr>
            <a:lvl1pPr algn="l">
              <a:defRPr sz="570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1pPr>
            <a:lvl2pPr algn="l">
              <a:defRPr sz="570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2pPr>
            <a:lvl3pPr algn="l">
              <a:defRPr sz="570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3pPr>
            <a:lvl4pPr algn="l">
              <a:defRPr sz="570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4pPr>
            <a:lvl5pPr algn="l">
              <a:defRPr sz="570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5pPr>
            <a:lvl6pPr algn="l">
              <a:defRPr sz="570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6pPr>
            <a:lvl7pPr algn="l">
              <a:defRPr sz="570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7pPr>
            <a:lvl8pPr algn="l">
              <a:defRPr sz="570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8pPr>
            <a:lvl9pPr algn="l">
              <a:defRPr sz="570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570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pPr>
            <a:r>
              <a:rPr sz="5700" b="1">
                <a:solidFill>
                  <a:srgbClr val="A2732F"/>
                </a:solidFill>
                <a:latin typeface="Sora"/>
                <a:ea typeface="Sora"/>
                <a:cs typeface="Sora"/>
              </a:rPr>
              <a:t>19,862%</a:t>
            </a:r>
          </a:p>
        </p:txBody>
      </p:sp>
      <p:sp>
        <p:nvSpPr>
          <p:cNvPr id="12" name="Body ranking improvement in 3">
            <a:extLst xmlns:a="http://schemas.openxmlformats.org/drawingml/2006/main">
              <a:ext uri="{FF2B5EF4-FFF2-40B4-BE49-F238E27FC236}">
                <a16:creationId xmlns:a16="http://schemas.microsoft.com/office/drawing/2014/main" id="{FD8EE370-7A07-4410-B89E-8490E5F1C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667500"/>
            <a:ext cx="4810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defPPr>
            <a:lvl1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1pPr>
            <a:lvl2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2pPr>
            <a:lvl3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3pPr>
            <a:lvl4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4pPr>
            <a:lvl5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5pPr>
            <a:lvl6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6pPr>
            <a:lvl7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7pPr>
            <a:lvl8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8pPr>
            <a:lvl9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pPr>
            <a:r>
              <a:rPr sz="2175" b="0">
                <a:solidFill>
                  <a:srgbClr val="56606B"/>
                </a:solidFill>
                <a:latin typeface="Manrope"/>
                <a:ea typeface="Manrope"/>
                <a:cs typeface="Manrope"/>
              </a:rPr>
              <a:t>ranking improvement in 3½ months</a:t>
            </a:r>
          </a:p>
        </p:txBody>
      </p:sp>
      <p:sp>
        <p:nvSpPr>
          <p:cNvPr id="13" name="Body 29 customer actions from">
            <a:extLst xmlns:a="http://schemas.openxmlformats.org/drawingml/2006/main">
              <a:ext uri="{FF2B5EF4-FFF2-40B4-BE49-F238E27FC236}">
                <a16:creationId xmlns:a16="http://schemas.microsoft.com/office/drawing/2014/main" id="{9B0C7189-1262-4E96-8097-9C23B6B6D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7810500"/>
            <a:ext cx="4810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defPPr>
            <a:lvl1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1pPr>
            <a:lvl2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2pPr>
            <a:lvl3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3pPr>
            <a:lvl4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4pPr>
            <a:lvl5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5pPr>
            <a:lvl6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6pPr>
            <a:lvl7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7pPr>
            <a:lvl8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8pPr>
            <a:lvl9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pPr>
            <a:r>
              <a:rPr sz="2175" b="0">
                <a:solidFill>
                  <a:srgbClr val="56606B"/>
                </a:solidFill>
                <a:latin typeface="Manrope"/>
                <a:ea typeface="Manrope"/>
                <a:cs typeface="Manrope"/>
              </a:rPr>
              <a:t>29 customer actions from the campaign.</a:t>
            </a:r>
          </a:p>
        </p:txBody>
      </p:sp>
      <p:sp>
        <p:nvSpPr>
          <p:cNvPr id="14" name="Estimated value 1">
            <a:extLst xmlns:a="http://schemas.openxmlformats.org/drawingml/2006/main">
              <a:ext uri="{FF2B5EF4-FFF2-40B4-BE49-F238E27FC236}">
                <a16:creationId xmlns:a16="http://schemas.microsoft.com/office/drawing/2014/main" id="{68836736-82A1-4E54-8DF2-70EB762E7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9048750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defPPr>
            <a:lvl1pPr algn="l">
              <a:defRPr sz="315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1pPr>
            <a:lvl2pPr algn="l">
              <a:defRPr sz="315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2pPr>
            <a:lvl3pPr algn="l">
              <a:defRPr sz="315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3pPr>
            <a:lvl4pPr algn="l">
              <a:defRPr sz="315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4pPr>
            <a:lvl5pPr algn="l">
              <a:defRPr sz="315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5pPr>
            <a:lvl6pPr algn="l">
              <a:defRPr sz="315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6pPr>
            <a:lvl7pPr algn="l">
              <a:defRPr sz="315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7pPr>
            <a:lvl8pPr algn="l">
              <a:defRPr sz="315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8pPr>
            <a:lvl9pPr algn="l">
              <a:defRPr sz="315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pPr>
            <a:r>
              <a:rPr sz="3150" b="1">
                <a:solidFill>
                  <a:srgbClr val="171B20"/>
                </a:solidFill>
                <a:latin typeface="Sora"/>
                <a:ea typeface="Sora"/>
                <a:cs typeface="Sora"/>
              </a:rPr>
              <a:t>$520,000</a:t>
            </a:r>
          </a:p>
        </p:txBody>
      </p:sp>
      <p:sp>
        <p:nvSpPr>
          <p:cNvPr id="15" name="Case business 2">
            <a:extLst xmlns:a="http://schemas.openxmlformats.org/drawingml/2006/main">
              <a:ext uri="{FF2B5EF4-FFF2-40B4-BE49-F238E27FC236}">
                <a16:creationId xmlns:a16="http://schemas.microsoft.com/office/drawing/2014/main" id="{B51718BE-2075-4092-8314-18A425329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3952875"/>
            <a:ext cx="495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171B20"/>
                </a:solidFill>
                <a:latin typeface="Sora"/>
                <a:ea typeface="Sora"/>
                <a:cs typeface="Sora"/>
              </a:defRPr>
            </a:defPPr>
            <a:lvl1pPr algn="l">
              <a:defRPr sz="2625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1pPr>
            <a:lvl2pPr algn="l">
              <a:defRPr sz="2625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2pPr>
            <a:lvl3pPr algn="l">
              <a:defRPr sz="2625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3pPr>
            <a:lvl4pPr algn="l">
              <a:defRPr sz="2625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4pPr>
            <a:lvl5pPr algn="l">
              <a:defRPr sz="2625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5pPr>
            <a:lvl6pPr algn="l">
              <a:defRPr sz="2625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6pPr>
            <a:lvl7pPr algn="l">
              <a:defRPr sz="2625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7pPr>
            <a:lvl8pPr algn="l">
              <a:defRPr sz="2625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8pPr>
            <a:lvl9pPr algn="l">
              <a:defRPr sz="2625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625" b="1">
                <a:solidFill>
                  <a:srgbClr val="171B20"/>
                </a:solidFill>
                <a:latin typeface="Sora"/>
                <a:ea typeface="Sora"/>
                <a:cs typeface="Sora"/>
              </a:defRPr>
            </a:pPr>
            <a:r>
              <a:rPr sz="2625" b="1">
                <a:solidFill>
                  <a:srgbClr val="171B20"/>
                </a:solidFill>
                <a:latin typeface="Sora"/>
                <a:ea typeface="Sora"/>
                <a:cs typeface="Sora"/>
              </a:rPr>
              <a:t>The Hybrid Clinic</a:t>
            </a:r>
          </a:p>
        </p:txBody>
      </p:sp>
      <p:sp>
        <p:nvSpPr>
          <p:cNvPr id="16" name="Body Wellness center">
            <a:extLst xmlns:a="http://schemas.openxmlformats.org/drawingml/2006/main">
              <a:ext uri="{FF2B5EF4-FFF2-40B4-BE49-F238E27FC236}">
                <a16:creationId xmlns:a16="http://schemas.microsoft.com/office/drawing/2014/main" id="{A3A638A9-9919-419D-BF29-2738E55A5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66725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defPPr>
            <a:lvl1pPr algn="l">
              <a:defRPr sz="2100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1pPr>
            <a:lvl2pPr algn="l">
              <a:defRPr sz="2100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2pPr>
            <a:lvl3pPr algn="l">
              <a:defRPr sz="2100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3pPr>
            <a:lvl4pPr algn="l">
              <a:defRPr sz="2100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4pPr>
            <a:lvl5pPr algn="l">
              <a:defRPr sz="2100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5pPr>
            <a:lvl6pPr algn="l">
              <a:defRPr sz="2100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6pPr>
            <a:lvl7pPr algn="l">
              <a:defRPr sz="2100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7pPr>
            <a:lvl8pPr algn="l">
              <a:defRPr sz="2100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8pPr>
            <a:lvl9pPr algn="l">
              <a:defRPr sz="2100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pPr>
            <a:r>
              <a:rPr sz="2100" b="0">
                <a:solidFill>
                  <a:srgbClr val="56606B"/>
                </a:solidFill>
                <a:latin typeface="Manrope"/>
                <a:ea typeface="Manrope"/>
                <a:cs typeface="Manrope"/>
              </a:rPr>
              <a:t>Wellness center</a:t>
            </a:r>
          </a:p>
        </p:txBody>
      </p:sp>
      <p:sp>
        <p:nvSpPr>
          <p:cNvPr id="17" name="Case ranking result 2">
            <a:extLst xmlns:a="http://schemas.openxmlformats.org/drawingml/2006/main">
              <a:ext uri="{FF2B5EF4-FFF2-40B4-BE49-F238E27FC236}">
                <a16:creationId xmlns:a16="http://schemas.microsoft.com/office/drawing/2014/main" id="{B021532C-5BBA-442E-B392-A7BE0B54A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5429250"/>
            <a:ext cx="5048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70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defPPr>
            <a:lvl1pPr algn="l">
              <a:defRPr sz="570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1pPr>
            <a:lvl2pPr algn="l">
              <a:defRPr sz="570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2pPr>
            <a:lvl3pPr algn="l">
              <a:defRPr sz="570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3pPr>
            <a:lvl4pPr algn="l">
              <a:defRPr sz="570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4pPr>
            <a:lvl5pPr algn="l">
              <a:defRPr sz="570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5pPr>
            <a:lvl6pPr algn="l">
              <a:defRPr sz="570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6pPr>
            <a:lvl7pPr algn="l">
              <a:defRPr sz="570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7pPr>
            <a:lvl8pPr algn="l">
              <a:defRPr sz="570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8pPr>
            <a:lvl9pPr algn="l">
              <a:defRPr sz="570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570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pPr>
            <a:r>
              <a:rPr sz="5700" b="1">
                <a:solidFill>
                  <a:srgbClr val="A2732F"/>
                </a:solidFill>
                <a:latin typeface="Sora"/>
                <a:ea typeface="Sora"/>
                <a:cs typeface="Sora"/>
              </a:rPr>
              <a:t>2,674%</a:t>
            </a:r>
          </a:p>
        </p:txBody>
      </p:sp>
      <p:sp>
        <p:nvSpPr>
          <p:cNvPr id="18" name="Body ranking improvement in 3">
            <a:extLst xmlns:a="http://schemas.openxmlformats.org/drawingml/2006/main">
              <a:ext uri="{FF2B5EF4-FFF2-40B4-BE49-F238E27FC236}">
                <a16:creationId xmlns:a16="http://schemas.microsoft.com/office/drawing/2014/main" id="{55875C03-958E-4C47-A258-208BE693D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6667500"/>
            <a:ext cx="4810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defPPr>
            <a:lvl1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1pPr>
            <a:lvl2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2pPr>
            <a:lvl3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3pPr>
            <a:lvl4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4pPr>
            <a:lvl5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5pPr>
            <a:lvl6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6pPr>
            <a:lvl7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7pPr>
            <a:lvl8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8pPr>
            <a:lvl9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pPr>
            <a:r>
              <a:rPr sz="2175" b="0">
                <a:solidFill>
                  <a:srgbClr val="56606B"/>
                </a:solidFill>
                <a:latin typeface="Manrope"/>
                <a:ea typeface="Manrope"/>
                <a:cs typeface="Manrope"/>
              </a:rPr>
              <a:t>ranking improvement in 30 days</a:t>
            </a:r>
          </a:p>
        </p:txBody>
      </p:sp>
      <p:sp>
        <p:nvSpPr>
          <p:cNvPr id="19" name="Body 2,768 calls, clicks and ">
            <a:extLst xmlns:a="http://schemas.openxmlformats.org/drawingml/2006/main">
              <a:ext uri="{FF2B5EF4-FFF2-40B4-BE49-F238E27FC236}">
                <a16:creationId xmlns:a16="http://schemas.microsoft.com/office/drawing/2014/main" id="{FC5C2D24-52CE-48F4-8478-04010114A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7810500"/>
            <a:ext cx="4810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defPPr>
            <a:lvl1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1pPr>
            <a:lvl2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2pPr>
            <a:lvl3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3pPr>
            <a:lvl4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4pPr>
            <a:lvl5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5pPr>
            <a:lvl6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6pPr>
            <a:lvl7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7pPr>
            <a:lvl8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8pPr>
            <a:lvl9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pPr>
            <a:r>
              <a:rPr sz="2175" b="0">
                <a:solidFill>
                  <a:srgbClr val="56606B"/>
                </a:solidFill>
                <a:latin typeface="Manrope"/>
                <a:ea typeface="Manrope"/>
                <a:cs typeface="Manrope"/>
              </a:rPr>
              <a:t>2,768 calls, clicks and direction requests.</a:t>
            </a:r>
          </a:p>
        </p:txBody>
      </p:sp>
      <p:sp>
        <p:nvSpPr>
          <p:cNvPr id="20" name="Estimated value 2">
            <a:extLst xmlns:a="http://schemas.openxmlformats.org/drawingml/2006/main">
              <a:ext uri="{FF2B5EF4-FFF2-40B4-BE49-F238E27FC236}">
                <a16:creationId xmlns:a16="http://schemas.microsoft.com/office/drawing/2014/main" id="{C92F2BFA-33A1-4283-9AAA-D4788B201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048750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defPPr>
            <a:lvl1pPr algn="l">
              <a:defRPr sz="315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1pPr>
            <a:lvl2pPr algn="l">
              <a:defRPr sz="315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2pPr>
            <a:lvl3pPr algn="l">
              <a:defRPr sz="315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3pPr>
            <a:lvl4pPr algn="l">
              <a:defRPr sz="315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4pPr>
            <a:lvl5pPr algn="l">
              <a:defRPr sz="315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5pPr>
            <a:lvl6pPr algn="l">
              <a:defRPr sz="315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6pPr>
            <a:lvl7pPr algn="l">
              <a:defRPr sz="315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7pPr>
            <a:lvl8pPr algn="l">
              <a:defRPr sz="315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8pPr>
            <a:lvl9pPr algn="l">
              <a:defRPr sz="315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pPr>
            <a:r>
              <a:rPr sz="3150" b="1">
                <a:solidFill>
                  <a:srgbClr val="171B20"/>
                </a:solidFill>
                <a:latin typeface="Sora"/>
                <a:ea typeface="Sora"/>
                <a:cs typeface="Sora"/>
              </a:rPr>
              <a:t>$415,200</a:t>
            </a:r>
          </a:p>
        </p:txBody>
      </p:sp>
      <p:sp>
        <p:nvSpPr>
          <p:cNvPr id="21" name="Case evidence disclosure">
            <a:extLst xmlns:a="http://schemas.openxmlformats.org/drawingml/2006/main">
              <a:ext uri="{FF2B5EF4-FFF2-40B4-BE49-F238E27FC236}">
                <a16:creationId xmlns:a16="http://schemas.microsoft.com/office/drawing/2014/main" id="{BD16B66E-A9D5-4230-A467-781BEAA05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715500"/>
            <a:ext cx="1600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defPPr>
            <a:lvl1pPr algn="l">
              <a:defRPr sz="1500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1pPr>
            <a:lvl2pPr algn="l">
              <a:defRPr sz="1500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2pPr>
            <a:lvl3pPr algn="l">
              <a:defRPr sz="1500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3pPr>
            <a:lvl4pPr algn="l">
              <a:defRPr sz="1500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4pPr>
            <a:lvl5pPr algn="l">
              <a:defRPr sz="1500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5pPr>
            <a:lvl6pPr algn="l">
              <a:defRPr sz="1500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6pPr>
            <a:lvl7pPr algn="l">
              <a:defRPr sz="1500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7pPr>
            <a:lvl8pPr algn="l">
              <a:defRPr sz="1500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8pPr>
            <a:lvl9pPr algn="l">
              <a:defRPr sz="1500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pPr>
            <a:r>
              <a:rPr sz="1500" b="0">
                <a:solidFill>
                  <a:srgbClr val="56606B"/>
                </a:solidFill>
                <a:latin typeface="Manrope"/>
                <a:ea typeface="Manrope"/>
                <a:cs typeface="Manrope"/>
              </a:rPr>
              <a:t>Provider-reported examples, not CBB client results. Dollar amounts are estimated potential revenue from provider materials, not verified sales. Individual outcomes vary.</a:t>
            </a:r>
          </a:p>
        </p:txBody>
      </p:sp>
    </p:spTree>
    <p:extLst>
      <p:ext uri="{BB962C8B-B14F-4D97-AF65-F5344CB8AC3E}">
        <p14:creationId xmlns:p14="http://schemas.microsoft.com/office/powerpoint/2010/main" val="2538536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A0B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 label">
            <a:extLst xmlns:a="http://schemas.openxmlformats.org/drawingml/2006/main">
              <a:ext uri="{FF2B5EF4-FFF2-40B4-BE49-F238E27FC236}">
                <a16:creationId xmlns:a16="http://schemas.microsoft.com/office/drawing/2014/main" id="{B931165E-E99D-4461-9F19-02467A9FA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14375"/>
            <a:ext cx="1476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defPPr>
            <a:lvl1pPr algn="l">
              <a:defRPr sz="165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1pPr>
            <a:lvl2pPr algn="l">
              <a:defRPr sz="165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2pPr>
            <a:lvl3pPr algn="l">
              <a:defRPr sz="165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3pPr>
            <a:lvl4pPr algn="l">
              <a:defRPr sz="165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4pPr>
            <a:lvl5pPr algn="l">
              <a:defRPr sz="165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5pPr>
            <a:lvl6pPr algn="l">
              <a:defRPr sz="165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6pPr>
            <a:lvl7pPr algn="l">
              <a:defRPr sz="165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7pPr>
            <a:lvl8pPr algn="l">
              <a:defRPr sz="165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8pPr>
            <a:lvl9pPr algn="l">
              <a:defRPr sz="165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pPr>
            <a:r>
              <a:rPr sz="1650" b="1">
                <a:solidFill>
                  <a:srgbClr val="D5A756"/>
                </a:solidFill>
                <a:latin typeface="Sora"/>
                <a:ea typeface="Sora"/>
                <a:cs typeface="Sora"/>
              </a:rPr>
              <a:t>HOW TO READ THE RESULTS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A84C3F17-6C66-4477-BF76-235007DBD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76375"/>
            <a:ext cx="16192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550" b="1">
                <a:solidFill>
                  <a:srgbClr val="F6EFE3"/>
                </a:solidFill>
                <a:latin typeface="Sora"/>
                <a:ea typeface="Sora"/>
                <a:cs typeface="Sora"/>
              </a:defRPr>
            </a:defPPr>
            <a:lvl1pPr algn="l">
              <a:defRPr sz="5550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1pPr>
            <a:lvl2pPr algn="l">
              <a:defRPr sz="5550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2pPr>
            <a:lvl3pPr algn="l">
              <a:defRPr sz="5550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3pPr>
            <a:lvl4pPr algn="l">
              <a:defRPr sz="5550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4pPr>
            <a:lvl5pPr algn="l">
              <a:defRPr sz="5550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5pPr>
            <a:lvl6pPr algn="l">
              <a:defRPr sz="5550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6pPr>
            <a:lvl7pPr algn="l">
              <a:defRPr sz="5550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7pPr>
            <a:lvl8pPr algn="l">
              <a:defRPr sz="5550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8pPr>
            <a:lvl9pPr algn="l">
              <a:defRPr sz="5550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5550" b="1">
                <a:solidFill>
                  <a:srgbClr val="F6EFE3"/>
                </a:solidFill>
                <a:latin typeface="Sora"/>
                <a:ea typeface="Sora"/>
                <a:cs typeface="Sora"/>
              </a:defRPr>
            </a:pPr>
            <a:r>
              <a:rPr sz="5550" b="1">
                <a:solidFill>
                  <a:srgbClr val="F6EFE3"/>
                </a:solidFill>
                <a:latin typeface="Sora"/>
                <a:ea typeface="Sora"/>
                <a:cs typeface="Sora"/>
              </a:rPr>
              <a:t>Visibility, location by location</a:t>
            </a:r>
          </a:p>
        </p:txBody>
      </p:sp>
      <p:sp>
        <p:nvSpPr>
          <p:cNvPr id="3" name="Body Each number represents a">
            <a:extLst xmlns:a="http://schemas.openxmlformats.org/drawingml/2006/main">
              <a:ext uri="{FF2B5EF4-FFF2-40B4-BE49-F238E27FC236}">
                <a16:creationId xmlns:a16="http://schemas.microsoft.com/office/drawing/2014/main" id="{C6CFDD97-A10F-4CBC-BCBA-B1A781A12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09875"/>
            <a:ext cx="1590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defPPr>
            <a:lvl1pPr algn="l">
              <a:defRPr sz="232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1pPr>
            <a:lvl2pPr algn="l">
              <a:defRPr sz="232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2pPr>
            <a:lvl3pPr algn="l">
              <a:defRPr sz="232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3pPr>
            <a:lvl4pPr algn="l">
              <a:defRPr sz="232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4pPr>
            <a:lvl5pPr algn="l">
              <a:defRPr sz="232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5pPr>
            <a:lvl6pPr algn="l">
              <a:defRPr sz="232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6pPr>
            <a:lvl7pPr algn="l">
              <a:defRPr sz="232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7pPr>
            <a:lvl8pPr algn="l">
              <a:defRPr sz="232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8pPr>
            <a:lvl9pPr algn="l">
              <a:defRPr sz="232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32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pPr>
            <a:r>
              <a:rPr sz="2325" b="0">
                <a:solidFill>
                  <a:srgbClr val="B9BEC4"/>
                </a:solidFill>
                <a:latin typeface="Manrope"/>
                <a:ea typeface="Manrope"/>
                <a:cs typeface="Manrope"/>
              </a:rPr>
              <a:t>Each number represents a Google Maps ranking position at a location on the grid.</a:t>
            </a:r>
          </a:p>
        </p:txBody>
      </p:sp>
      <p:sp>
        <p:nvSpPr>
          <p:cNvPr id="4" name="Before label">
            <a:extLst xmlns:a="http://schemas.openxmlformats.org/drawingml/2006/main">
              <a:ext uri="{FF2B5EF4-FFF2-40B4-BE49-F238E27FC236}">
                <a16:creationId xmlns:a16="http://schemas.microsoft.com/office/drawing/2014/main" id="{9CD4947E-88A2-463B-869B-6B9A78889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714750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defPPr>
            <a:lvl1pPr algn="l">
              <a:defRPr sz="210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1pPr>
            <a:lvl2pPr algn="l">
              <a:defRPr sz="210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2pPr>
            <a:lvl3pPr algn="l">
              <a:defRPr sz="210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3pPr>
            <a:lvl4pPr algn="l">
              <a:defRPr sz="210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4pPr>
            <a:lvl5pPr algn="l">
              <a:defRPr sz="210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5pPr>
            <a:lvl6pPr algn="l">
              <a:defRPr sz="210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6pPr>
            <a:lvl7pPr algn="l">
              <a:defRPr sz="210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7pPr>
            <a:lvl8pPr algn="l">
              <a:defRPr sz="210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8pPr>
            <a:lvl9pPr algn="l">
              <a:defRPr sz="210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pPr>
            <a:r>
              <a:rPr sz="2100" b="1">
                <a:solidFill>
                  <a:srgbClr val="D5A756"/>
                </a:solidFill>
                <a:latin typeface="Sora"/>
                <a:ea typeface="Sora"/>
                <a:cs typeface="Sora"/>
              </a:rPr>
              <a:t>BEFORE</a:t>
            </a:r>
          </a:p>
        </p:txBody>
      </p:sp>
      <p:sp>
        <p:nvSpPr>
          <p:cNvPr id="5" name="After label">
            <a:extLst xmlns:a="http://schemas.openxmlformats.org/drawingml/2006/main">
              <a:ext uri="{FF2B5EF4-FFF2-40B4-BE49-F238E27FC236}">
                <a16:creationId xmlns:a16="http://schemas.microsoft.com/office/drawing/2014/main" id="{AA9D6C93-AF18-4F73-8BA6-9DD91B3C1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714750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defPPr>
            <a:lvl1pPr algn="l">
              <a:defRPr sz="210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1pPr>
            <a:lvl2pPr algn="l">
              <a:defRPr sz="210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2pPr>
            <a:lvl3pPr algn="l">
              <a:defRPr sz="210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3pPr>
            <a:lvl4pPr algn="l">
              <a:defRPr sz="210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4pPr>
            <a:lvl5pPr algn="l">
              <a:defRPr sz="210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5pPr>
            <a:lvl6pPr algn="l">
              <a:defRPr sz="210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6pPr>
            <a:lvl7pPr algn="l">
              <a:defRPr sz="210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7pPr>
            <a:lvl8pPr algn="l">
              <a:defRPr sz="210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8pPr>
            <a:lvl9pPr algn="l">
              <a:defRPr sz="210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pPr>
            <a:r>
              <a:rPr sz="2100" b="1">
                <a:solidFill>
                  <a:srgbClr val="D5A756"/>
                </a:solidFill>
                <a:latin typeface="Sora"/>
                <a:ea typeface="Sora"/>
                <a:cs typeface="Sora"/>
              </a:rPr>
              <a:t>AFTER 30 DAYS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EA4554-98F2-4C72-9BE9-AE06C29F01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9bcf5a23224a40"/>
          <a:stretch xmlns:a="http://schemas.openxmlformats.org/drawingml/2006/main"/>
        </p:blipFill>
        <p:spPr>
          <a:xfrm xmlns:a="http://schemas.openxmlformats.org/drawingml/2006/main">
            <a:off x="1905000" y="4333875"/>
            <a:ext cx="5429250" cy="5429250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E337E0-DF61-4030-9DB6-EC2C85255B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ecf26a36c9497c"/>
          <a:stretch xmlns:a="http://schemas.openxmlformats.org/drawingml/2006/main"/>
        </p:blipFill>
        <p:spPr>
          <a:xfrm xmlns:a="http://schemas.openxmlformats.org/drawingml/2006/main">
            <a:off x="10287000" y="4333875"/>
            <a:ext cx="5429250" cy="5429250"/>
          </a:xfrm>
          <a:prstGeom xmlns:a="http://schemas.openxmlformats.org/drawingml/2006/main" prst="rect">
            <a:avLst/>
          </a:prstGeom>
        </p:spPr>
      </p:pic>
      <p:sp>
        <p:nvSpPr>
          <p:cNvPr id="8" name="Evidence caveat">
            <a:extLst xmlns:a="http://schemas.openxmlformats.org/drawingml/2006/main">
              <a:ext uri="{FF2B5EF4-FFF2-40B4-BE49-F238E27FC236}">
                <a16:creationId xmlns:a16="http://schemas.microsoft.com/office/drawing/2014/main" id="{C83156F2-6E2D-4A9A-B794-A9B6E457C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906000"/>
            <a:ext cx="1609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defPPr>
            <a:lvl1pPr algn="l">
              <a:defRPr sz="157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1pPr>
            <a:lvl2pPr algn="l">
              <a:defRPr sz="157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2pPr>
            <a:lvl3pPr algn="l">
              <a:defRPr sz="157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3pPr>
            <a:lvl4pPr algn="l">
              <a:defRPr sz="157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4pPr>
            <a:lvl5pPr algn="l">
              <a:defRPr sz="157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5pPr>
            <a:lvl6pPr algn="l">
              <a:defRPr sz="157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6pPr>
            <a:lvl7pPr algn="l">
              <a:defRPr sz="157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7pPr>
            <a:lvl8pPr algn="l">
              <a:defRPr sz="157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8pPr>
            <a:lvl9pPr algn="l">
              <a:defRPr sz="157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pPr>
            <a:r>
              <a:rPr sz="1575" b="0">
                <a:solidFill>
                  <a:srgbClr val="B9BEC4"/>
                </a:solidFill>
                <a:latin typeface="Manrope"/>
                <a:ea typeface="Manrope"/>
                <a:cs typeface="Manrope"/>
              </a:rPr>
              <a:t>Home Crush, before and after 30 days. Provider-reported example, not a CBB client report. Results vary.</a:t>
            </a:r>
          </a:p>
        </p:txBody>
      </p:sp>
    </p:spTree>
    <p:extLst>
      <p:ext uri="{BB962C8B-B14F-4D97-AF65-F5344CB8AC3E}">
        <p14:creationId xmlns:p14="http://schemas.microsoft.com/office/powerpoint/2010/main" val="18119740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EF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ection label">
            <a:extLst xmlns:a="http://schemas.openxmlformats.org/drawingml/2006/main">
              <a:ext uri="{FF2B5EF4-FFF2-40B4-BE49-F238E27FC236}">
                <a16:creationId xmlns:a16="http://schemas.microsoft.com/office/drawing/2014/main" id="{34477547-C546-4CB5-B7CC-18AF6AC0B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14375"/>
            <a:ext cx="1476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defPPr>
            <a:lvl1pPr algn="l">
              <a:defRPr sz="16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1pPr>
            <a:lvl2pPr algn="l">
              <a:defRPr sz="16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2pPr>
            <a:lvl3pPr algn="l">
              <a:defRPr sz="16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3pPr>
            <a:lvl4pPr algn="l">
              <a:defRPr sz="16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4pPr>
            <a:lvl5pPr algn="l">
              <a:defRPr sz="16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5pPr>
            <a:lvl6pPr algn="l">
              <a:defRPr sz="16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6pPr>
            <a:lvl7pPr algn="l">
              <a:defRPr sz="16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7pPr>
            <a:lvl8pPr algn="l">
              <a:defRPr sz="16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8pPr>
            <a:lvl9pPr algn="l">
              <a:defRPr sz="16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pPr>
            <a:r>
              <a:rPr sz="1650" b="1">
                <a:solidFill>
                  <a:srgbClr val="A2732F"/>
                </a:solidFill>
                <a:latin typeface="Sora"/>
                <a:ea typeface="Sora"/>
                <a:cs typeface="Sora"/>
              </a:rPr>
              <a:t>THE CBB EXPERIENCE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C5E1660D-01DA-4023-9DBA-CF73BCF23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381125"/>
            <a:ext cx="16097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7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defPPr>
            <a:lvl1pPr algn="l">
              <a:defRPr sz="57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1pPr>
            <a:lvl2pPr algn="l">
              <a:defRPr sz="57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2pPr>
            <a:lvl3pPr algn="l">
              <a:defRPr sz="57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3pPr>
            <a:lvl4pPr algn="l">
              <a:defRPr sz="57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4pPr>
            <a:lvl5pPr algn="l">
              <a:defRPr sz="57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5pPr>
            <a:lvl6pPr algn="l">
              <a:defRPr sz="57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6pPr>
            <a:lvl7pPr algn="l">
              <a:defRPr sz="57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7pPr>
            <a:lvl8pPr algn="l">
              <a:defRPr sz="57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8pPr>
            <a:lvl9pPr algn="l">
              <a:defRPr sz="57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57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pPr>
            <a:r>
              <a:rPr sz="5700" b="1">
                <a:solidFill>
                  <a:srgbClr val="171B20"/>
                </a:solidFill>
                <a:latin typeface="Sora"/>
                <a:ea typeface="Sora"/>
                <a:cs typeface="Sora"/>
              </a:rPr>
              <a:t>A managed service,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57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pPr>
            <a:r>
              <a:rPr sz="5700" b="1">
                <a:solidFill>
                  <a:srgbClr val="171B20"/>
                </a:solidFill>
                <a:latin typeface="Sora"/>
                <a:ea typeface="Sora"/>
                <a:cs typeface="Sora"/>
              </a:rPr>
              <a:t>with your business in view</a:t>
            </a:r>
          </a:p>
        </p:txBody>
      </p:sp>
      <p:sp>
        <p:nvSpPr>
          <p:cNvPr id="3" name="Service number 0">
            <a:extLst xmlns:a="http://schemas.openxmlformats.org/drawingml/2006/main">
              <a:ext uri="{FF2B5EF4-FFF2-40B4-BE49-F238E27FC236}">
                <a16:creationId xmlns:a16="http://schemas.microsoft.com/office/drawing/2014/main" id="{4249AF50-7C09-4824-81C9-095A886FF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38625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90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defPPr>
            <a:lvl1pPr algn="l">
              <a:defRPr sz="390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1pPr>
            <a:lvl2pPr algn="l">
              <a:defRPr sz="390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2pPr>
            <a:lvl3pPr algn="l">
              <a:defRPr sz="390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3pPr>
            <a:lvl4pPr algn="l">
              <a:defRPr sz="390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4pPr>
            <a:lvl5pPr algn="l">
              <a:defRPr sz="390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5pPr>
            <a:lvl6pPr algn="l">
              <a:defRPr sz="390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6pPr>
            <a:lvl7pPr algn="l">
              <a:defRPr sz="390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7pPr>
            <a:lvl8pPr algn="l">
              <a:defRPr sz="390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8pPr>
            <a:lvl9pPr algn="l">
              <a:defRPr sz="390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90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pPr>
            <a:r>
              <a:rPr sz="3900" b="1">
                <a:solidFill>
                  <a:srgbClr val="A2732F"/>
                </a:solidFill>
                <a:latin typeface="Sora"/>
                <a:ea typeface="Sora"/>
                <a:cs typeface="Sora"/>
              </a:rPr>
              <a:t>01</a:t>
            </a:r>
          </a:p>
        </p:txBody>
      </p:sp>
      <p:sp>
        <p:nvSpPr>
          <p:cNvPr id="4" name="Service title 0">
            <a:extLst xmlns:a="http://schemas.openxmlformats.org/drawingml/2006/main">
              <a:ext uri="{FF2B5EF4-FFF2-40B4-BE49-F238E27FC236}">
                <a16:creationId xmlns:a16="http://schemas.microsoft.com/office/drawing/2014/main" id="{F6717E80-7065-4C21-83D4-1BF102F65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43500"/>
            <a:ext cx="4714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defPPr>
            <a:lvl1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1pPr>
            <a:lvl2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2pPr>
            <a:lvl3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3pPr>
            <a:lvl4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4pPr>
            <a:lvl5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5pPr>
            <a:lvl6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6pPr>
            <a:lvl7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7pPr>
            <a:lvl8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8pPr>
            <a:lvl9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pPr>
            <a:r>
              <a:rPr sz="2400" b="1">
                <a:solidFill>
                  <a:srgbClr val="171B20"/>
                </a:solidFill>
                <a:latin typeface="Sora"/>
                <a:ea typeface="Sora"/>
                <a:cs typeface="Sora"/>
              </a:rPr>
              <a:t>Guided onboarding</a:t>
            </a:r>
          </a:p>
        </p:txBody>
      </p:sp>
      <p:sp>
        <p:nvSpPr>
          <p:cNvPr id="5" name="Body Business details and the">
            <a:extLst xmlns:a="http://schemas.openxmlformats.org/drawingml/2006/main">
              <a:ext uri="{FF2B5EF4-FFF2-40B4-BE49-F238E27FC236}">
                <a16:creationId xmlns:a16="http://schemas.microsoft.com/office/drawing/2014/main" id="{F26F1ADC-C181-4982-BFDA-B30F7469C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53125"/>
            <a:ext cx="4714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defPPr>
            <a:lvl1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1pPr>
            <a:lvl2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2pPr>
            <a:lvl3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3pPr>
            <a:lvl4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4pPr>
            <a:lvl5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5pPr>
            <a:lvl6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6pPr>
            <a:lvl7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7pPr>
            <a:lvl8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8pPr>
            <a:lvl9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pPr>
            <a:r>
              <a:rPr sz="2175" b="0">
                <a:solidFill>
                  <a:srgbClr val="56606B"/>
                </a:solidFill>
                <a:latin typeface="Manrope"/>
                <a:ea typeface="Manrope"/>
                <a:cs typeface="Manrope"/>
              </a:rPr>
              <a:t>Business details and the account access needed to begin.</a:t>
            </a:r>
          </a:p>
        </p:txBody>
      </p:sp>
      <p:sp>
        <p:nvSpPr>
          <p:cNvPr id="6" name="Service number 1">
            <a:extLst xmlns:a="http://schemas.openxmlformats.org/drawingml/2006/main">
              <a:ext uri="{FF2B5EF4-FFF2-40B4-BE49-F238E27FC236}">
                <a16:creationId xmlns:a16="http://schemas.microsoft.com/office/drawing/2014/main" id="{3B8B98A0-D6F5-4F09-AAB3-BB6453417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238625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90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defPPr>
            <a:lvl1pPr algn="l">
              <a:defRPr sz="390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1pPr>
            <a:lvl2pPr algn="l">
              <a:defRPr sz="390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2pPr>
            <a:lvl3pPr algn="l">
              <a:defRPr sz="390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3pPr>
            <a:lvl4pPr algn="l">
              <a:defRPr sz="390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4pPr>
            <a:lvl5pPr algn="l">
              <a:defRPr sz="390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5pPr>
            <a:lvl6pPr algn="l">
              <a:defRPr sz="390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6pPr>
            <a:lvl7pPr algn="l">
              <a:defRPr sz="390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7pPr>
            <a:lvl8pPr algn="l">
              <a:defRPr sz="390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8pPr>
            <a:lvl9pPr algn="l">
              <a:defRPr sz="390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90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pPr>
            <a:r>
              <a:rPr sz="3900" b="1">
                <a:solidFill>
                  <a:srgbClr val="A2732F"/>
                </a:solidFill>
                <a:latin typeface="Sora"/>
                <a:ea typeface="Sora"/>
                <a:cs typeface="Sora"/>
              </a:rPr>
              <a:t>02</a:t>
            </a:r>
          </a:p>
        </p:txBody>
      </p:sp>
      <p:sp>
        <p:nvSpPr>
          <p:cNvPr id="7" name="Service title 1">
            <a:extLst xmlns:a="http://schemas.openxmlformats.org/drawingml/2006/main">
              <a:ext uri="{FF2B5EF4-FFF2-40B4-BE49-F238E27FC236}">
                <a16:creationId xmlns:a16="http://schemas.microsoft.com/office/drawing/2014/main" id="{E1B1C4C0-D757-4718-A2CC-9B258028B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5143500"/>
            <a:ext cx="4714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defPPr>
            <a:lvl1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1pPr>
            <a:lvl2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2pPr>
            <a:lvl3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3pPr>
            <a:lvl4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4pPr>
            <a:lvl5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5pPr>
            <a:lvl6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6pPr>
            <a:lvl7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7pPr>
            <a:lvl8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8pPr>
            <a:lvl9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pPr>
            <a:r>
              <a:rPr sz="2400" b="1">
                <a:solidFill>
                  <a:srgbClr val="171B20"/>
                </a:solidFill>
                <a:latin typeface="Sora"/>
                <a:ea typeface="Sora"/>
                <a:cs typeface="Sora"/>
              </a:rPr>
              <a:t>Your preferences</a:t>
            </a:r>
          </a:p>
        </p:txBody>
      </p:sp>
      <p:sp>
        <p:nvSpPr>
          <p:cNvPr id="8" name="Body Tone, priorities and con">
            <a:extLst xmlns:a="http://schemas.openxmlformats.org/drawingml/2006/main">
              <a:ext uri="{FF2B5EF4-FFF2-40B4-BE49-F238E27FC236}">
                <a16:creationId xmlns:a16="http://schemas.microsoft.com/office/drawing/2014/main" id="{7D77D980-95C7-4365-857B-256EE85E6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5953125"/>
            <a:ext cx="4714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defPPr>
            <a:lvl1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1pPr>
            <a:lvl2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2pPr>
            <a:lvl3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3pPr>
            <a:lvl4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4pPr>
            <a:lvl5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5pPr>
            <a:lvl6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6pPr>
            <a:lvl7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7pPr>
            <a:lvl8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8pPr>
            <a:lvl9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pPr>
            <a:r>
              <a:rPr sz="2175" b="0">
                <a:solidFill>
                  <a:srgbClr val="56606B"/>
                </a:solidFill>
                <a:latin typeface="Manrope"/>
                <a:ea typeface="Manrope"/>
                <a:cs typeface="Manrope"/>
              </a:rPr>
              <a:t>Tone, priorities and content approval settings.</a:t>
            </a:r>
          </a:p>
        </p:txBody>
      </p:sp>
      <p:sp>
        <p:nvSpPr>
          <p:cNvPr id="9" name="Service number 2">
            <a:extLst xmlns:a="http://schemas.openxmlformats.org/drawingml/2006/main">
              <a:ext uri="{FF2B5EF4-FFF2-40B4-BE49-F238E27FC236}">
                <a16:creationId xmlns:a16="http://schemas.microsoft.com/office/drawing/2014/main" id="{7E0D091E-8972-49AE-89DD-03479A53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238625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90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defPPr>
            <a:lvl1pPr algn="l">
              <a:defRPr sz="390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1pPr>
            <a:lvl2pPr algn="l">
              <a:defRPr sz="390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2pPr>
            <a:lvl3pPr algn="l">
              <a:defRPr sz="390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3pPr>
            <a:lvl4pPr algn="l">
              <a:defRPr sz="390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4pPr>
            <a:lvl5pPr algn="l">
              <a:defRPr sz="390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5pPr>
            <a:lvl6pPr algn="l">
              <a:defRPr sz="390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6pPr>
            <a:lvl7pPr algn="l">
              <a:defRPr sz="390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7pPr>
            <a:lvl8pPr algn="l">
              <a:defRPr sz="390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8pPr>
            <a:lvl9pPr algn="l">
              <a:defRPr sz="390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90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pPr>
            <a:r>
              <a:rPr sz="3900" b="1">
                <a:solidFill>
                  <a:srgbClr val="A2732F"/>
                </a:solidFill>
                <a:latin typeface="Sora"/>
                <a:ea typeface="Sora"/>
                <a:cs typeface="Sora"/>
              </a:rPr>
              <a:t>03</a:t>
            </a:r>
          </a:p>
        </p:txBody>
      </p:sp>
      <p:sp>
        <p:nvSpPr>
          <p:cNvPr id="10" name="Service title 2">
            <a:extLst xmlns:a="http://schemas.openxmlformats.org/drawingml/2006/main">
              <a:ext uri="{FF2B5EF4-FFF2-40B4-BE49-F238E27FC236}">
                <a16:creationId xmlns:a16="http://schemas.microsoft.com/office/drawing/2014/main" id="{E4EBDEC4-70E4-4FBA-89A3-694CB82FD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5143500"/>
            <a:ext cx="4714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defPPr>
            <a:lvl1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1pPr>
            <a:lvl2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2pPr>
            <a:lvl3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3pPr>
            <a:lvl4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4pPr>
            <a:lvl5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5pPr>
            <a:lvl6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6pPr>
            <a:lvl7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7pPr>
            <a:lvl8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8pPr>
            <a:lvl9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pPr>
            <a:r>
              <a:rPr sz="2400" b="1">
                <a:solidFill>
                  <a:srgbClr val="171B20"/>
                </a:solidFill>
                <a:latin typeface="Sora"/>
                <a:ea typeface="Sora"/>
                <a:cs typeface="Sora"/>
              </a:rPr>
              <a:t>Business-specific content</a:t>
            </a:r>
          </a:p>
        </p:txBody>
      </p:sp>
      <p:sp>
        <p:nvSpPr>
          <p:cNvPr id="11" name="Body AI-assisted content base">
            <a:extLst xmlns:a="http://schemas.openxmlformats.org/drawingml/2006/main">
              <a:ext uri="{FF2B5EF4-FFF2-40B4-BE49-F238E27FC236}">
                <a16:creationId xmlns:a16="http://schemas.microsoft.com/office/drawing/2014/main" id="{4CFFD4A1-E333-4630-A33D-AF2F001D7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5953125"/>
            <a:ext cx="4714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defPPr>
            <a:lvl1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1pPr>
            <a:lvl2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2pPr>
            <a:lvl3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3pPr>
            <a:lvl4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4pPr>
            <a:lvl5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5pPr>
            <a:lvl6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6pPr>
            <a:lvl7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7pPr>
            <a:lvl8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8pPr>
            <a:lvl9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pPr>
            <a:r>
              <a:rPr sz="2175" b="0">
                <a:solidFill>
                  <a:srgbClr val="56606B"/>
                </a:solidFill>
                <a:latin typeface="Manrope"/>
                <a:ea typeface="Manrope"/>
                <a:cs typeface="Manrope"/>
              </a:rPr>
              <a:t>AI-assisted content based on your services and location.</a:t>
            </a:r>
          </a:p>
        </p:txBody>
      </p:sp>
      <p:sp>
        <p:nvSpPr>
          <p:cNvPr id="12" name="Service number 3">
            <a:extLst xmlns:a="http://schemas.openxmlformats.org/drawingml/2006/main">
              <a:ext uri="{FF2B5EF4-FFF2-40B4-BE49-F238E27FC236}">
                <a16:creationId xmlns:a16="http://schemas.microsoft.com/office/drawing/2014/main" id="{05FBB924-0EEC-41B2-A66C-CA8C27A22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048500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90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defPPr>
            <a:lvl1pPr algn="l">
              <a:defRPr sz="390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1pPr>
            <a:lvl2pPr algn="l">
              <a:defRPr sz="390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2pPr>
            <a:lvl3pPr algn="l">
              <a:defRPr sz="390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3pPr>
            <a:lvl4pPr algn="l">
              <a:defRPr sz="390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4pPr>
            <a:lvl5pPr algn="l">
              <a:defRPr sz="390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5pPr>
            <a:lvl6pPr algn="l">
              <a:defRPr sz="390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6pPr>
            <a:lvl7pPr algn="l">
              <a:defRPr sz="390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7pPr>
            <a:lvl8pPr algn="l">
              <a:defRPr sz="390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8pPr>
            <a:lvl9pPr algn="l">
              <a:defRPr sz="390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90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pPr>
            <a:r>
              <a:rPr sz="3900" b="1">
                <a:solidFill>
                  <a:srgbClr val="A2732F"/>
                </a:solidFill>
                <a:latin typeface="Sora"/>
                <a:ea typeface="Sora"/>
                <a:cs typeface="Sora"/>
              </a:rPr>
              <a:t>04</a:t>
            </a:r>
          </a:p>
        </p:txBody>
      </p:sp>
      <p:sp>
        <p:nvSpPr>
          <p:cNvPr id="13" name="Service title 3">
            <a:extLst xmlns:a="http://schemas.openxmlformats.org/drawingml/2006/main">
              <a:ext uri="{FF2B5EF4-FFF2-40B4-BE49-F238E27FC236}">
                <a16:creationId xmlns:a16="http://schemas.microsoft.com/office/drawing/2014/main" id="{EED14D26-265E-4C0A-8DE1-AFF460682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953375"/>
            <a:ext cx="4714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defPPr>
            <a:lvl1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1pPr>
            <a:lvl2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2pPr>
            <a:lvl3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3pPr>
            <a:lvl4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4pPr>
            <a:lvl5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5pPr>
            <a:lvl6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6pPr>
            <a:lvl7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7pPr>
            <a:lvl8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8pPr>
            <a:lvl9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pPr>
            <a:r>
              <a:rPr sz="2400" b="1">
                <a:solidFill>
                  <a:srgbClr val="171B20"/>
                </a:solidFill>
                <a:latin typeface="Sora"/>
                <a:ea typeface="Sora"/>
                <a:cs typeface="Sora"/>
              </a:rPr>
              <a:t>Connected activity</a:t>
            </a:r>
          </a:p>
        </p:txBody>
      </p:sp>
      <p:sp>
        <p:nvSpPr>
          <p:cNvPr id="14" name="Body Supported profiles and c">
            <a:extLst xmlns:a="http://schemas.openxmlformats.org/drawingml/2006/main">
              <a:ext uri="{FF2B5EF4-FFF2-40B4-BE49-F238E27FC236}">
                <a16:creationId xmlns:a16="http://schemas.microsoft.com/office/drawing/2014/main" id="{38FD6036-B6DC-4109-BE36-12AFE9D2D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763000"/>
            <a:ext cx="4714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defPPr>
            <a:lvl1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1pPr>
            <a:lvl2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2pPr>
            <a:lvl3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3pPr>
            <a:lvl4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4pPr>
            <a:lvl5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5pPr>
            <a:lvl6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6pPr>
            <a:lvl7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7pPr>
            <a:lvl8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8pPr>
            <a:lvl9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pPr>
            <a:r>
              <a:rPr sz="2175" b="0">
                <a:solidFill>
                  <a:srgbClr val="56606B"/>
                </a:solidFill>
                <a:latin typeface="Manrope"/>
                <a:ea typeface="Manrope"/>
                <a:cs typeface="Manrope"/>
              </a:rPr>
              <a:t>Supported profiles and channels within the configured service.</a:t>
            </a:r>
          </a:p>
        </p:txBody>
      </p:sp>
      <p:sp>
        <p:nvSpPr>
          <p:cNvPr id="15" name="Service number 4">
            <a:extLst xmlns:a="http://schemas.openxmlformats.org/drawingml/2006/main">
              <a:ext uri="{FF2B5EF4-FFF2-40B4-BE49-F238E27FC236}">
                <a16:creationId xmlns:a16="http://schemas.microsoft.com/office/drawing/2014/main" id="{E285C6DC-946A-4C2A-A48B-3C38AB4DE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7048500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90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defPPr>
            <a:lvl1pPr algn="l">
              <a:defRPr sz="390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1pPr>
            <a:lvl2pPr algn="l">
              <a:defRPr sz="390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2pPr>
            <a:lvl3pPr algn="l">
              <a:defRPr sz="390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3pPr>
            <a:lvl4pPr algn="l">
              <a:defRPr sz="390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4pPr>
            <a:lvl5pPr algn="l">
              <a:defRPr sz="390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5pPr>
            <a:lvl6pPr algn="l">
              <a:defRPr sz="390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6pPr>
            <a:lvl7pPr algn="l">
              <a:defRPr sz="390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7pPr>
            <a:lvl8pPr algn="l">
              <a:defRPr sz="390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8pPr>
            <a:lvl9pPr algn="l">
              <a:defRPr sz="390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90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pPr>
            <a:r>
              <a:rPr sz="3900" b="1">
                <a:solidFill>
                  <a:srgbClr val="A2732F"/>
                </a:solidFill>
                <a:latin typeface="Sora"/>
                <a:ea typeface="Sora"/>
                <a:cs typeface="Sora"/>
              </a:rPr>
              <a:t>05</a:t>
            </a:r>
          </a:p>
        </p:txBody>
      </p:sp>
      <p:sp>
        <p:nvSpPr>
          <p:cNvPr id="16" name="Service title 4">
            <a:extLst xmlns:a="http://schemas.openxmlformats.org/drawingml/2006/main">
              <a:ext uri="{FF2B5EF4-FFF2-40B4-BE49-F238E27FC236}">
                <a16:creationId xmlns:a16="http://schemas.microsoft.com/office/drawing/2014/main" id="{709728D8-5BB5-43D6-B6FF-979EE39E2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7953375"/>
            <a:ext cx="4714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defPPr>
            <a:lvl1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1pPr>
            <a:lvl2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2pPr>
            <a:lvl3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3pPr>
            <a:lvl4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4pPr>
            <a:lvl5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5pPr>
            <a:lvl6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6pPr>
            <a:lvl7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7pPr>
            <a:lvl8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8pPr>
            <a:lvl9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pPr>
            <a:r>
              <a:rPr sz="2400" b="1">
                <a:solidFill>
                  <a:srgbClr val="171B20"/>
                </a:solidFill>
                <a:latin typeface="Sora"/>
                <a:ea typeface="Sora"/>
                <a:cs typeface="Sora"/>
              </a:rPr>
              <a:t>Competitor intelligence</a:t>
            </a:r>
          </a:p>
        </p:txBody>
      </p:sp>
      <p:sp>
        <p:nvSpPr>
          <p:cNvPr id="17" name="Body Ranking reports, competi">
            <a:extLst xmlns:a="http://schemas.openxmlformats.org/drawingml/2006/main">
              <a:ext uri="{FF2B5EF4-FFF2-40B4-BE49-F238E27FC236}">
                <a16:creationId xmlns:a16="http://schemas.microsoft.com/office/drawing/2014/main" id="{856311D9-EE7F-4BEC-8F79-B3827C8AD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8763000"/>
            <a:ext cx="4714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defPPr>
            <a:lvl1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1pPr>
            <a:lvl2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2pPr>
            <a:lvl3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3pPr>
            <a:lvl4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4pPr>
            <a:lvl5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5pPr>
            <a:lvl6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6pPr>
            <a:lvl7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7pPr>
            <a:lvl8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8pPr>
            <a:lvl9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pPr>
            <a:r>
              <a:rPr sz="2175" b="0">
                <a:solidFill>
                  <a:srgbClr val="56606B"/>
                </a:solidFill>
                <a:latin typeface="Manrope"/>
                <a:ea typeface="Manrope"/>
                <a:cs typeface="Manrope"/>
              </a:rPr>
              <a:t>Ranking reports, competitor analysis and strategy adjustments.</a:t>
            </a:r>
          </a:p>
        </p:txBody>
      </p:sp>
      <p:sp>
        <p:nvSpPr>
          <p:cNvPr id="18" name="Service number 5">
            <a:extLst xmlns:a="http://schemas.openxmlformats.org/drawingml/2006/main">
              <a:ext uri="{FF2B5EF4-FFF2-40B4-BE49-F238E27FC236}">
                <a16:creationId xmlns:a16="http://schemas.microsoft.com/office/drawing/2014/main" id="{1A5AB364-3204-49A3-862D-37723366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7048500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90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defPPr>
            <a:lvl1pPr algn="l">
              <a:defRPr sz="390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1pPr>
            <a:lvl2pPr algn="l">
              <a:defRPr sz="390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2pPr>
            <a:lvl3pPr algn="l">
              <a:defRPr sz="390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3pPr>
            <a:lvl4pPr algn="l">
              <a:defRPr sz="390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4pPr>
            <a:lvl5pPr algn="l">
              <a:defRPr sz="390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5pPr>
            <a:lvl6pPr algn="l">
              <a:defRPr sz="390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6pPr>
            <a:lvl7pPr algn="l">
              <a:defRPr sz="390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7pPr>
            <a:lvl8pPr algn="l">
              <a:defRPr sz="390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8pPr>
            <a:lvl9pPr algn="l">
              <a:defRPr sz="390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90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pPr>
            <a:r>
              <a:rPr sz="3900" b="1">
                <a:solidFill>
                  <a:srgbClr val="A2732F"/>
                </a:solidFill>
                <a:latin typeface="Sora"/>
                <a:ea typeface="Sora"/>
                <a:cs typeface="Sora"/>
              </a:rPr>
              <a:t>06</a:t>
            </a:r>
          </a:p>
        </p:txBody>
      </p:sp>
      <p:sp>
        <p:nvSpPr>
          <p:cNvPr id="19" name="Service title 5">
            <a:extLst xmlns:a="http://schemas.openxmlformats.org/drawingml/2006/main">
              <a:ext uri="{FF2B5EF4-FFF2-40B4-BE49-F238E27FC236}">
                <a16:creationId xmlns:a16="http://schemas.microsoft.com/office/drawing/2014/main" id="{08EB9AD6-7D35-408D-A4E9-5C25C3D62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7953375"/>
            <a:ext cx="4714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defPPr>
            <a:lvl1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1pPr>
            <a:lvl2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2pPr>
            <a:lvl3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3pPr>
            <a:lvl4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4pPr>
            <a:lvl5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5pPr>
            <a:lvl6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6pPr>
            <a:lvl7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7pPr>
            <a:lvl8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8pPr>
            <a:lvl9pPr algn="l"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pPr>
            <a:r>
              <a:rPr sz="2400" b="1">
                <a:solidFill>
                  <a:srgbClr val="171B20"/>
                </a:solidFill>
                <a:latin typeface="Sora"/>
                <a:ea typeface="Sora"/>
                <a:cs typeface="Sora"/>
              </a:rPr>
              <a:t>Proactive support</a:t>
            </a:r>
          </a:p>
        </p:txBody>
      </p:sp>
      <p:sp>
        <p:nvSpPr>
          <p:cNvPr id="20" name="Body AI account updates, appr">
            <a:extLst xmlns:a="http://schemas.openxmlformats.org/drawingml/2006/main">
              <a:ext uri="{FF2B5EF4-FFF2-40B4-BE49-F238E27FC236}">
                <a16:creationId xmlns:a16="http://schemas.microsoft.com/office/drawing/2014/main" id="{1238947B-8252-4178-8482-3ADB9C3BA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8763000"/>
            <a:ext cx="4714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defPPr>
            <a:lvl1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1pPr>
            <a:lvl2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2pPr>
            <a:lvl3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3pPr>
            <a:lvl4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4pPr>
            <a:lvl5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5pPr>
            <a:lvl6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6pPr>
            <a:lvl7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7pPr>
            <a:lvl8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8pPr>
            <a:lvl9pPr algn="l"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pPr>
            <a:r>
              <a:rPr sz="2175" b="0">
                <a:solidFill>
                  <a:srgbClr val="56606B"/>
                </a:solidFill>
                <a:latin typeface="Manrope"/>
                <a:ea typeface="Manrope"/>
                <a:cs typeface="Manrope"/>
              </a:rPr>
              <a:t>AI account updates, approval requests and reminders, backed by CBB.</a:t>
            </a:r>
          </a:p>
        </p:txBody>
      </p:sp>
    </p:spTree>
    <p:extLst>
      <p:ext uri="{BB962C8B-B14F-4D97-AF65-F5344CB8AC3E}">
        <p14:creationId xmlns:p14="http://schemas.microsoft.com/office/powerpoint/2010/main" val="18861471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A0B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ection label">
            <a:extLst xmlns:a="http://schemas.openxmlformats.org/drawingml/2006/main">
              <a:ext uri="{FF2B5EF4-FFF2-40B4-BE49-F238E27FC236}">
                <a16:creationId xmlns:a16="http://schemas.microsoft.com/office/drawing/2014/main" id="{90C07C10-2DE6-43A7-99DB-9CAE5A9B5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14375"/>
            <a:ext cx="1476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defPPr>
            <a:lvl1pPr algn="l">
              <a:defRPr sz="165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1pPr>
            <a:lvl2pPr algn="l">
              <a:defRPr sz="165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2pPr>
            <a:lvl3pPr algn="l">
              <a:defRPr sz="165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3pPr>
            <a:lvl4pPr algn="l">
              <a:defRPr sz="165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4pPr>
            <a:lvl5pPr algn="l">
              <a:defRPr sz="165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5pPr>
            <a:lvl6pPr algn="l">
              <a:defRPr sz="165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6pPr>
            <a:lvl7pPr algn="l">
              <a:defRPr sz="165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7pPr>
            <a:lvl8pPr algn="l">
              <a:defRPr sz="165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8pPr>
            <a:lvl9pPr algn="l">
              <a:defRPr sz="165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pPr>
            <a:r>
              <a:rPr sz="1650" b="1">
                <a:solidFill>
                  <a:srgbClr val="D5A756"/>
                </a:solidFill>
                <a:latin typeface="Sora"/>
                <a:ea typeface="Sora"/>
                <a:cs typeface="Sora"/>
              </a:rPr>
              <a:t>REVIEWS OF THE TECHNOLOGY BEHIND MAPSCORE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6D7F0CFE-CCB3-49D0-8D14-BDDAF9CE6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76375"/>
            <a:ext cx="16097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775" b="1">
                <a:solidFill>
                  <a:srgbClr val="F6EFE3"/>
                </a:solidFill>
                <a:latin typeface="Sora"/>
                <a:ea typeface="Sora"/>
                <a:cs typeface="Sora"/>
              </a:defRPr>
            </a:defPPr>
            <a:lvl1pPr algn="l">
              <a:defRPr sz="5775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1pPr>
            <a:lvl2pPr algn="l">
              <a:defRPr sz="5775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2pPr>
            <a:lvl3pPr algn="l">
              <a:defRPr sz="5775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3pPr>
            <a:lvl4pPr algn="l">
              <a:defRPr sz="5775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4pPr>
            <a:lvl5pPr algn="l">
              <a:defRPr sz="5775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5pPr>
            <a:lvl6pPr algn="l">
              <a:defRPr sz="5775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6pPr>
            <a:lvl7pPr algn="l">
              <a:defRPr sz="5775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7pPr>
            <a:lvl8pPr algn="l">
              <a:defRPr sz="5775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8pPr>
            <a:lvl9pPr algn="l">
              <a:defRPr sz="5775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5775" b="1">
                <a:solidFill>
                  <a:srgbClr val="F6EFE3"/>
                </a:solidFill>
                <a:latin typeface="Sora"/>
                <a:ea typeface="Sora"/>
                <a:cs typeface="Sora"/>
              </a:defRPr>
            </a:pPr>
            <a:r>
              <a:rPr sz="5775" b="1">
                <a:solidFill>
                  <a:srgbClr val="F6EFE3"/>
                </a:solidFill>
                <a:latin typeface="Sora"/>
                <a:ea typeface="Sora"/>
                <a:cs typeface="Sora"/>
              </a:rPr>
              <a:t>What customers say</a:t>
            </a:r>
          </a:p>
        </p:txBody>
      </p:sp>
      <p:sp>
        <p:nvSpPr>
          <p:cNvPr id="3" name="Provider statistic 0">
            <a:extLst xmlns:a="http://schemas.openxmlformats.org/drawingml/2006/main">
              <a:ext uri="{FF2B5EF4-FFF2-40B4-BE49-F238E27FC236}">
                <a16:creationId xmlns:a16="http://schemas.microsoft.com/office/drawing/2014/main" id="{A392E96F-01EC-4D95-B16E-6C8709932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76625"/>
            <a:ext cx="4953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30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defPPr>
            <a:lvl1pPr algn="l">
              <a:defRPr sz="630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1pPr>
            <a:lvl2pPr algn="l">
              <a:defRPr sz="630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2pPr>
            <a:lvl3pPr algn="l">
              <a:defRPr sz="630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3pPr>
            <a:lvl4pPr algn="l">
              <a:defRPr sz="630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4pPr>
            <a:lvl5pPr algn="l">
              <a:defRPr sz="630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5pPr>
            <a:lvl6pPr algn="l">
              <a:defRPr sz="630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6pPr>
            <a:lvl7pPr algn="l">
              <a:defRPr sz="630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7pPr>
            <a:lvl8pPr algn="l">
              <a:defRPr sz="630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8pPr>
            <a:lvl9pPr algn="l">
              <a:defRPr sz="630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630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pPr>
            <a:r>
              <a:rPr sz="6300" b="1">
                <a:solidFill>
                  <a:srgbClr val="D5A756"/>
                </a:solidFill>
                <a:latin typeface="Sora"/>
                <a:ea typeface="Sora"/>
                <a:cs typeface="Sora"/>
              </a:rPr>
              <a:t>4.9/5</a:t>
            </a:r>
          </a:p>
        </p:txBody>
      </p:sp>
      <p:sp>
        <p:nvSpPr>
          <p:cNvPr id="4" name="Body Provider-reported averag">
            <a:extLst xmlns:a="http://schemas.openxmlformats.org/drawingml/2006/main">
              <a:ext uri="{FF2B5EF4-FFF2-40B4-BE49-F238E27FC236}">
                <a16:creationId xmlns:a16="http://schemas.microsoft.com/office/drawing/2014/main" id="{8D09993C-2F2D-461A-976F-22ECAE8D4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10125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defPPr>
            <a:lvl1pPr algn="l">
              <a:defRPr sz="217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1pPr>
            <a:lvl2pPr algn="l">
              <a:defRPr sz="217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2pPr>
            <a:lvl3pPr algn="l">
              <a:defRPr sz="217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3pPr>
            <a:lvl4pPr algn="l">
              <a:defRPr sz="217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4pPr>
            <a:lvl5pPr algn="l">
              <a:defRPr sz="217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5pPr>
            <a:lvl6pPr algn="l">
              <a:defRPr sz="217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6pPr>
            <a:lvl7pPr algn="l">
              <a:defRPr sz="217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7pPr>
            <a:lvl8pPr algn="l">
              <a:defRPr sz="217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8pPr>
            <a:lvl9pPr algn="l">
              <a:defRPr sz="217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pPr>
            <a:r>
              <a:rPr sz="2175" b="0">
                <a:solidFill>
                  <a:srgbClr val="B9BEC4"/>
                </a:solidFill>
                <a:latin typeface="Manrope"/>
                <a:ea typeface="Manrope"/>
                <a:cs typeface="Manrope"/>
              </a:rPr>
              <a:t>Provider-reported average rating</a:t>
            </a:r>
          </a:p>
        </p:txBody>
      </p:sp>
      <p:sp>
        <p:nvSpPr>
          <p:cNvPr id="5" name="Provider statistic 1">
            <a:extLst xmlns:a="http://schemas.openxmlformats.org/drawingml/2006/main">
              <a:ext uri="{FF2B5EF4-FFF2-40B4-BE49-F238E27FC236}">
                <a16:creationId xmlns:a16="http://schemas.microsoft.com/office/drawing/2014/main" id="{F3E9885E-24E9-4FDC-9BB3-B21418506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476625"/>
            <a:ext cx="4953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30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defPPr>
            <a:lvl1pPr algn="l">
              <a:defRPr sz="630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1pPr>
            <a:lvl2pPr algn="l">
              <a:defRPr sz="630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2pPr>
            <a:lvl3pPr algn="l">
              <a:defRPr sz="630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3pPr>
            <a:lvl4pPr algn="l">
              <a:defRPr sz="630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4pPr>
            <a:lvl5pPr algn="l">
              <a:defRPr sz="630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5pPr>
            <a:lvl6pPr algn="l">
              <a:defRPr sz="630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6pPr>
            <a:lvl7pPr algn="l">
              <a:defRPr sz="630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7pPr>
            <a:lvl8pPr algn="l">
              <a:defRPr sz="630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8pPr>
            <a:lvl9pPr algn="l">
              <a:defRPr sz="630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630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pPr>
            <a:r>
              <a:rPr sz="6300" b="1">
                <a:solidFill>
                  <a:srgbClr val="D5A756"/>
                </a:solidFill>
                <a:latin typeface="Sora"/>
                <a:ea typeface="Sora"/>
                <a:cs typeface="Sora"/>
              </a:rPr>
              <a:t>1,000+</a:t>
            </a:r>
          </a:p>
        </p:txBody>
      </p:sp>
      <p:sp>
        <p:nvSpPr>
          <p:cNvPr id="6" name="Body Reviews across Google, T">
            <a:extLst xmlns:a="http://schemas.openxmlformats.org/drawingml/2006/main">
              <a:ext uri="{FF2B5EF4-FFF2-40B4-BE49-F238E27FC236}">
                <a16:creationId xmlns:a16="http://schemas.microsoft.com/office/drawing/2014/main" id="{99AEB34A-048C-4847-AEDC-E94F9DA4E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810125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defPPr>
            <a:lvl1pPr algn="l">
              <a:defRPr sz="217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1pPr>
            <a:lvl2pPr algn="l">
              <a:defRPr sz="217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2pPr>
            <a:lvl3pPr algn="l">
              <a:defRPr sz="217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3pPr>
            <a:lvl4pPr algn="l">
              <a:defRPr sz="217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4pPr>
            <a:lvl5pPr algn="l">
              <a:defRPr sz="217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5pPr>
            <a:lvl6pPr algn="l">
              <a:defRPr sz="217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6pPr>
            <a:lvl7pPr algn="l">
              <a:defRPr sz="217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7pPr>
            <a:lvl8pPr algn="l">
              <a:defRPr sz="217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8pPr>
            <a:lvl9pPr algn="l">
              <a:defRPr sz="217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pPr>
            <a:r>
              <a:rPr sz="2175" b="0">
                <a:solidFill>
                  <a:srgbClr val="B9BEC4"/>
                </a:solidFill>
                <a:latin typeface="Manrope"/>
                <a:ea typeface="Manrope"/>
                <a:cs typeface="Manrope"/>
              </a:rPr>
              <a:t>Reviews across Google, Trustpilot and G2</a:t>
            </a:r>
          </a:p>
        </p:txBody>
      </p:sp>
      <p:sp>
        <p:nvSpPr>
          <p:cNvPr id="7" name="Provider statistic 2">
            <a:extLst xmlns:a="http://schemas.openxmlformats.org/drawingml/2006/main">
              <a:ext uri="{FF2B5EF4-FFF2-40B4-BE49-F238E27FC236}">
                <a16:creationId xmlns:a16="http://schemas.microsoft.com/office/drawing/2014/main" id="{61488E60-C7CB-43F9-A4C9-289065E63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3476625"/>
            <a:ext cx="4953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30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defPPr>
            <a:lvl1pPr algn="l">
              <a:defRPr sz="630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1pPr>
            <a:lvl2pPr algn="l">
              <a:defRPr sz="630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2pPr>
            <a:lvl3pPr algn="l">
              <a:defRPr sz="630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3pPr>
            <a:lvl4pPr algn="l">
              <a:defRPr sz="630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4pPr>
            <a:lvl5pPr algn="l">
              <a:defRPr sz="630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5pPr>
            <a:lvl6pPr algn="l">
              <a:defRPr sz="630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6pPr>
            <a:lvl7pPr algn="l">
              <a:defRPr sz="630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7pPr>
            <a:lvl8pPr algn="l">
              <a:defRPr sz="630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8pPr>
            <a:lvl9pPr algn="l">
              <a:defRPr sz="630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630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pPr>
            <a:r>
              <a:rPr sz="6300" b="1">
                <a:solidFill>
                  <a:srgbClr val="D5A756"/>
                </a:solidFill>
                <a:latin typeface="Sora"/>
                <a:ea typeface="Sora"/>
                <a:cs typeface="Sora"/>
              </a:rPr>
              <a:t>13,000+</a:t>
            </a:r>
          </a:p>
        </p:txBody>
      </p:sp>
      <p:sp>
        <p:nvSpPr>
          <p:cNvPr id="8" name="Body Businesses using Paige">
            <a:extLst xmlns:a="http://schemas.openxmlformats.org/drawingml/2006/main">
              <a:ext uri="{FF2B5EF4-FFF2-40B4-BE49-F238E27FC236}">
                <a16:creationId xmlns:a16="http://schemas.microsoft.com/office/drawing/2014/main" id="{FAA314C4-B583-4A5D-B823-6E7F2F194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810125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defPPr>
            <a:lvl1pPr algn="l">
              <a:defRPr sz="217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1pPr>
            <a:lvl2pPr algn="l">
              <a:defRPr sz="217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2pPr>
            <a:lvl3pPr algn="l">
              <a:defRPr sz="217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3pPr>
            <a:lvl4pPr algn="l">
              <a:defRPr sz="217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4pPr>
            <a:lvl5pPr algn="l">
              <a:defRPr sz="217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5pPr>
            <a:lvl6pPr algn="l">
              <a:defRPr sz="217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6pPr>
            <a:lvl7pPr algn="l">
              <a:defRPr sz="217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7pPr>
            <a:lvl8pPr algn="l">
              <a:defRPr sz="217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8pPr>
            <a:lvl9pPr algn="l">
              <a:defRPr sz="217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pPr>
            <a:r>
              <a:rPr sz="2175" b="0">
                <a:solidFill>
                  <a:srgbClr val="B9BEC4"/>
                </a:solidFill>
                <a:latin typeface="Manrope"/>
                <a:ea typeface="Manrope"/>
                <a:cs typeface="Manrope"/>
              </a:rPr>
              <a:t>Businesses using the technology</a:t>
            </a:r>
          </a:p>
        </p:txBody>
      </p:sp>
      <p:sp>
        <p:nvSpPr>
          <p:cNvPr id="9" name="Will Higgins review">
            <a:extLst xmlns:a="http://schemas.openxmlformats.org/drawingml/2006/main">
              <a:ext uri="{FF2B5EF4-FFF2-40B4-BE49-F238E27FC236}">
                <a16:creationId xmlns:a16="http://schemas.microsoft.com/office/drawing/2014/main" id="{FDEB191C-251F-43A1-8B3D-2D3512805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381750"/>
            <a:ext cx="7715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F6EFE3"/>
                </a:solidFill>
                <a:latin typeface="Sora"/>
                <a:ea typeface="Sora"/>
                <a:cs typeface="Sora"/>
              </a:defRPr>
            </a:defPPr>
            <a:lvl1pPr algn="l">
              <a:defRPr sz="3225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1pPr>
            <a:lvl2pPr algn="l">
              <a:defRPr sz="3225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2pPr>
            <a:lvl3pPr algn="l">
              <a:defRPr sz="3225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3pPr>
            <a:lvl4pPr algn="l">
              <a:defRPr sz="3225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4pPr>
            <a:lvl5pPr algn="l">
              <a:defRPr sz="3225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5pPr>
            <a:lvl6pPr algn="l">
              <a:defRPr sz="3225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6pPr>
            <a:lvl7pPr algn="l">
              <a:defRPr sz="3225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7pPr>
            <a:lvl8pPr algn="l">
              <a:defRPr sz="3225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8pPr>
            <a:lvl9pPr algn="l">
              <a:defRPr sz="3225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225" b="1">
                <a:solidFill>
                  <a:srgbClr val="F6EFE3"/>
                </a:solidFill>
                <a:latin typeface="Sora"/>
                <a:ea typeface="Sora"/>
                <a:cs typeface="Sora"/>
              </a:defRPr>
            </a:pPr>
            <a:r>
              <a:rPr sz="3600" b="1">
                <a:solidFill>
                  <a:srgbClr val="F6EFE3"/>
                </a:solidFill>
                <a:latin typeface="Sora"/>
                <a:ea typeface="Sora"/>
                <a:cs typeface="Sora"/>
              </a:rPr>
              <a:t>“…now I’m number 2 in my market.”</a:t>
            </a:r>
          </a:p>
        </p:txBody>
      </p:sp>
      <p:sp>
        <p:nvSpPr>
          <p:cNvPr id="10" name="Will attribution">
            <a:extLst xmlns:a="http://schemas.openxmlformats.org/drawingml/2006/main">
              <a:ext uri="{FF2B5EF4-FFF2-40B4-BE49-F238E27FC236}">
                <a16:creationId xmlns:a16="http://schemas.microsoft.com/office/drawing/2014/main" id="{80850553-68DE-4990-BDBE-BD5CD4675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810625"/>
            <a:ext cx="7715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D5A756"/>
                </a:solidFill>
                <a:latin typeface="Manrope"/>
                <a:ea typeface="Manrope"/>
                <a:cs typeface="Manrope"/>
              </a:defRPr>
            </a:defPPr>
            <a:lvl1pPr algn="l">
              <a:defRPr sz="2175" b="1">
                <a:solidFill>
                  <a:srgbClr val="D5A756"/>
                </a:solidFill>
                <a:latin typeface="Manrope"/>
                <a:ea typeface="Manrope"/>
                <a:cs typeface="Manrope"/>
              </a:defRPr>
            </a:lvl1pPr>
            <a:lvl2pPr algn="l">
              <a:defRPr sz="2175" b="1">
                <a:solidFill>
                  <a:srgbClr val="D5A756"/>
                </a:solidFill>
                <a:latin typeface="Manrope"/>
                <a:ea typeface="Manrope"/>
                <a:cs typeface="Manrope"/>
              </a:defRPr>
            </a:lvl2pPr>
            <a:lvl3pPr algn="l">
              <a:defRPr sz="2175" b="1">
                <a:solidFill>
                  <a:srgbClr val="D5A756"/>
                </a:solidFill>
                <a:latin typeface="Manrope"/>
                <a:ea typeface="Manrope"/>
                <a:cs typeface="Manrope"/>
              </a:defRPr>
            </a:lvl3pPr>
            <a:lvl4pPr algn="l">
              <a:defRPr sz="2175" b="1">
                <a:solidFill>
                  <a:srgbClr val="D5A756"/>
                </a:solidFill>
                <a:latin typeface="Manrope"/>
                <a:ea typeface="Manrope"/>
                <a:cs typeface="Manrope"/>
              </a:defRPr>
            </a:lvl4pPr>
            <a:lvl5pPr algn="l">
              <a:defRPr sz="2175" b="1">
                <a:solidFill>
                  <a:srgbClr val="D5A756"/>
                </a:solidFill>
                <a:latin typeface="Manrope"/>
                <a:ea typeface="Manrope"/>
                <a:cs typeface="Manrope"/>
              </a:defRPr>
            </a:lvl5pPr>
            <a:lvl6pPr algn="l">
              <a:defRPr sz="2175" b="1">
                <a:solidFill>
                  <a:srgbClr val="D5A756"/>
                </a:solidFill>
                <a:latin typeface="Manrope"/>
                <a:ea typeface="Manrope"/>
                <a:cs typeface="Manrope"/>
              </a:defRPr>
            </a:lvl6pPr>
            <a:lvl7pPr algn="l">
              <a:defRPr sz="2175" b="1">
                <a:solidFill>
                  <a:srgbClr val="D5A756"/>
                </a:solidFill>
                <a:latin typeface="Manrope"/>
                <a:ea typeface="Manrope"/>
                <a:cs typeface="Manrope"/>
              </a:defRPr>
            </a:lvl7pPr>
            <a:lvl8pPr algn="l">
              <a:defRPr sz="2175" b="1">
                <a:solidFill>
                  <a:srgbClr val="D5A756"/>
                </a:solidFill>
                <a:latin typeface="Manrope"/>
                <a:ea typeface="Manrope"/>
                <a:cs typeface="Manrope"/>
              </a:defRPr>
            </a:lvl8pPr>
            <a:lvl9pPr algn="l">
              <a:defRPr sz="2175" b="1">
                <a:solidFill>
                  <a:srgbClr val="D5A756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D5A756"/>
                </a:solidFill>
                <a:latin typeface="Manrope"/>
                <a:ea typeface="Manrope"/>
                <a:cs typeface="Manrope"/>
              </a:defRPr>
            </a:pPr>
            <a:r>
              <a:rPr sz="2175" b="1">
                <a:solidFill>
                  <a:srgbClr val="D5A756"/>
                </a:solidFill>
                <a:latin typeface="Manrope"/>
                <a:ea typeface="Manrope"/>
                <a:cs typeface="Manrope"/>
              </a:rPr>
              <a:t>Will Higgins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D5A756"/>
                </a:solidFill>
                <a:latin typeface="Manrope"/>
                <a:ea typeface="Manrope"/>
                <a:cs typeface="Manrope"/>
              </a:defRPr>
            </a:pPr>
            <a:r>
              <a:rPr sz="2175" b="1">
                <a:solidFill>
                  <a:srgbClr val="D5A756"/>
                </a:solidFill>
                <a:latin typeface="Manrope"/>
                <a:ea typeface="Manrope"/>
                <a:cs typeface="Manrope"/>
              </a:rPr>
              <a:t>Realtor</a:t>
            </a:r>
          </a:p>
        </p:txBody>
      </p:sp>
      <p:sp>
        <p:nvSpPr>
          <p:cNvPr id="11" name="Ryan Fullarton review">
            <a:extLst xmlns:a="http://schemas.openxmlformats.org/drawingml/2006/main">
              <a:ext uri="{FF2B5EF4-FFF2-40B4-BE49-F238E27FC236}">
                <a16:creationId xmlns:a16="http://schemas.microsoft.com/office/drawing/2014/main" id="{DFFA3F87-9D5D-4A75-B570-6CFA48868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381750"/>
            <a:ext cx="7239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F6EFE3"/>
                </a:solidFill>
                <a:latin typeface="Sora"/>
                <a:ea typeface="Sora"/>
                <a:cs typeface="Sora"/>
              </a:defRPr>
            </a:defPPr>
            <a:lvl1pPr algn="l">
              <a:defRPr sz="3600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1pPr>
            <a:lvl2pPr algn="l">
              <a:defRPr sz="3600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2pPr>
            <a:lvl3pPr algn="l">
              <a:defRPr sz="3600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3pPr>
            <a:lvl4pPr algn="l">
              <a:defRPr sz="3600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4pPr>
            <a:lvl5pPr algn="l">
              <a:defRPr sz="3600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5pPr>
            <a:lvl6pPr algn="l">
              <a:defRPr sz="3600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6pPr>
            <a:lvl7pPr algn="l">
              <a:defRPr sz="3600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7pPr>
            <a:lvl8pPr algn="l">
              <a:defRPr sz="3600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8pPr>
            <a:lvl9pPr algn="l">
              <a:defRPr sz="3600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600" b="1">
                <a:solidFill>
                  <a:srgbClr val="F6EFE3"/>
                </a:solidFill>
                <a:latin typeface="Sora"/>
                <a:ea typeface="Sora"/>
                <a:cs typeface="Sora"/>
              </a:defRPr>
            </a:pPr>
            <a:r>
              <a:rPr sz="3600" b="1">
                <a:solidFill>
                  <a:srgbClr val="F6EFE3"/>
                </a:solidFill>
                <a:latin typeface="Sora"/>
                <a:ea typeface="Sora"/>
                <a:cs typeface="Sora"/>
              </a:rPr>
              <a:t>“an absolute game changer for my agency.”</a:t>
            </a:r>
          </a:p>
        </p:txBody>
      </p:sp>
      <p:sp>
        <p:nvSpPr>
          <p:cNvPr id="12" name="Ryan attribution">
            <a:extLst xmlns:a="http://schemas.openxmlformats.org/drawingml/2006/main">
              <a:ext uri="{FF2B5EF4-FFF2-40B4-BE49-F238E27FC236}">
                <a16:creationId xmlns:a16="http://schemas.microsoft.com/office/drawing/2014/main" id="{715F0534-56D7-4721-A29F-9A2DD8FE5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8810625"/>
            <a:ext cx="723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D5A756"/>
                </a:solidFill>
                <a:latin typeface="Manrope"/>
                <a:ea typeface="Manrope"/>
                <a:cs typeface="Manrope"/>
              </a:defRPr>
            </a:defPPr>
            <a:lvl1pPr algn="l">
              <a:defRPr sz="2175" b="1">
                <a:solidFill>
                  <a:srgbClr val="D5A756"/>
                </a:solidFill>
                <a:latin typeface="Manrope"/>
                <a:ea typeface="Manrope"/>
                <a:cs typeface="Manrope"/>
              </a:defRPr>
            </a:lvl1pPr>
            <a:lvl2pPr algn="l">
              <a:defRPr sz="2175" b="1">
                <a:solidFill>
                  <a:srgbClr val="D5A756"/>
                </a:solidFill>
                <a:latin typeface="Manrope"/>
                <a:ea typeface="Manrope"/>
                <a:cs typeface="Manrope"/>
              </a:defRPr>
            </a:lvl2pPr>
            <a:lvl3pPr algn="l">
              <a:defRPr sz="2175" b="1">
                <a:solidFill>
                  <a:srgbClr val="D5A756"/>
                </a:solidFill>
                <a:latin typeface="Manrope"/>
                <a:ea typeface="Manrope"/>
                <a:cs typeface="Manrope"/>
              </a:defRPr>
            </a:lvl3pPr>
            <a:lvl4pPr algn="l">
              <a:defRPr sz="2175" b="1">
                <a:solidFill>
                  <a:srgbClr val="D5A756"/>
                </a:solidFill>
                <a:latin typeface="Manrope"/>
                <a:ea typeface="Manrope"/>
                <a:cs typeface="Manrope"/>
              </a:defRPr>
            </a:lvl4pPr>
            <a:lvl5pPr algn="l">
              <a:defRPr sz="2175" b="1">
                <a:solidFill>
                  <a:srgbClr val="D5A756"/>
                </a:solidFill>
                <a:latin typeface="Manrope"/>
                <a:ea typeface="Manrope"/>
                <a:cs typeface="Manrope"/>
              </a:defRPr>
            </a:lvl5pPr>
            <a:lvl6pPr algn="l">
              <a:defRPr sz="2175" b="1">
                <a:solidFill>
                  <a:srgbClr val="D5A756"/>
                </a:solidFill>
                <a:latin typeface="Manrope"/>
                <a:ea typeface="Manrope"/>
                <a:cs typeface="Manrope"/>
              </a:defRPr>
            </a:lvl6pPr>
            <a:lvl7pPr algn="l">
              <a:defRPr sz="2175" b="1">
                <a:solidFill>
                  <a:srgbClr val="D5A756"/>
                </a:solidFill>
                <a:latin typeface="Manrope"/>
                <a:ea typeface="Manrope"/>
                <a:cs typeface="Manrope"/>
              </a:defRPr>
            </a:lvl7pPr>
            <a:lvl8pPr algn="l">
              <a:defRPr sz="2175" b="1">
                <a:solidFill>
                  <a:srgbClr val="D5A756"/>
                </a:solidFill>
                <a:latin typeface="Manrope"/>
                <a:ea typeface="Manrope"/>
                <a:cs typeface="Manrope"/>
              </a:defRPr>
            </a:lvl8pPr>
            <a:lvl9pPr algn="l">
              <a:defRPr sz="2175" b="1">
                <a:solidFill>
                  <a:srgbClr val="D5A756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D5A756"/>
                </a:solidFill>
                <a:latin typeface="Manrope"/>
                <a:ea typeface="Manrope"/>
                <a:cs typeface="Manrope"/>
              </a:defRPr>
            </a:pPr>
            <a:r>
              <a:rPr sz="2175" b="1">
                <a:solidFill>
                  <a:srgbClr val="D5A756"/>
                </a:solidFill>
                <a:latin typeface="Manrope"/>
                <a:ea typeface="Manrope"/>
                <a:cs typeface="Manrope"/>
              </a:rPr>
              <a:t>Ryan Fullarton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D5A756"/>
                </a:solidFill>
                <a:latin typeface="Manrope"/>
                <a:ea typeface="Manrope"/>
                <a:cs typeface="Manrope"/>
              </a:defRPr>
            </a:pPr>
            <a:r>
              <a:rPr sz="2175" b="1">
                <a:solidFill>
                  <a:srgbClr val="D5A756"/>
                </a:solidFill>
                <a:latin typeface="Manrope"/>
                <a:ea typeface="Manrope"/>
                <a:cs typeface="Manrope"/>
              </a:rPr>
              <a:t>Agency owner</a:t>
            </a:r>
          </a:p>
        </p:txBody>
      </p:sp>
      <p:sp>
        <p:nvSpPr>
          <p:cNvPr id="13" name="Review attribution">
            <a:extLst xmlns:a="http://schemas.openxmlformats.org/drawingml/2006/main">
              <a:ext uri="{FF2B5EF4-FFF2-40B4-BE49-F238E27FC236}">
                <a16:creationId xmlns:a16="http://schemas.microsoft.com/office/drawing/2014/main" id="{132B68F1-8759-4588-BE41-139485A79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906000"/>
            <a:ext cx="1600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defPPr>
            <a:lvl1pPr algn="l">
              <a:defRPr sz="1500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1pPr>
            <a:lvl2pPr algn="l">
              <a:defRPr sz="1500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2pPr>
            <a:lvl3pPr algn="l">
              <a:defRPr sz="1500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3pPr>
            <a:lvl4pPr algn="l">
              <a:defRPr sz="1500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4pPr>
            <a:lvl5pPr algn="l">
              <a:defRPr sz="1500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5pPr>
            <a:lvl6pPr algn="l">
              <a:defRPr sz="1500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6pPr>
            <a:lvl7pPr algn="l">
              <a:defRPr sz="1500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7pPr>
            <a:lvl8pPr algn="l">
              <a:defRPr sz="1500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8pPr>
            <a:lvl9pPr algn="l">
              <a:defRPr sz="1500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pPr>
            <a:r>
              <a:rPr sz="1500" b="0">
                <a:solidFill>
                  <a:srgbClr val="B9BEC4"/>
                </a:solidFill>
                <a:latin typeface="Manrope"/>
                <a:ea typeface="Manrope"/>
                <a:cs typeface="Manrope"/>
              </a:rPr>
              <a:t>Excerpts from customer reviews of the technology behind MapScore. Provider ratings and customer counts are not CBB ratings or client counts.</a:t>
            </a:r>
          </a:p>
        </p:txBody>
      </p:sp>
    </p:spTree>
    <p:extLst>
      <p:ext uri="{BB962C8B-B14F-4D97-AF65-F5344CB8AC3E}">
        <p14:creationId xmlns:p14="http://schemas.microsoft.com/office/powerpoint/2010/main" val="162654975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EF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ection label">
            <a:extLst xmlns:a="http://schemas.openxmlformats.org/drawingml/2006/main">
              <a:ext uri="{FF2B5EF4-FFF2-40B4-BE49-F238E27FC236}">
                <a16:creationId xmlns:a16="http://schemas.microsoft.com/office/drawing/2014/main" id="{CEC16FCC-103B-4E8C-93D3-9B924CE57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14375"/>
            <a:ext cx="1476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defPPr>
            <a:lvl1pPr algn="l">
              <a:defRPr sz="16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1pPr>
            <a:lvl2pPr algn="l">
              <a:defRPr sz="16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2pPr>
            <a:lvl3pPr algn="l">
              <a:defRPr sz="16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3pPr>
            <a:lvl4pPr algn="l">
              <a:defRPr sz="16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4pPr>
            <a:lvl5pPr algn="l">
              <a:defRPr sz="16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5pPr>
            <a:lvl6pPr algn="l">
              <a:defRPr sz="16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6pPr>
            <a:lvl7pPr algn="l">
              <a:defRPr sz="16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7pPr>
            <a:lvl8pPr algn="l">
              <a:defRPr sz="16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8pPr>
            <a:lvl9pPr algn="l">
              <a:defRPr sz="16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A2732F"/>
                </a:solidFill>
                <a:latin typeface="Sora"/>
                <a:ea typeface="Sora"/>
                <a:cs typeface="Sora"/>
              </a:defRPr>
            </a:pPr>
            <a:r>
              <a:rPr sz="1650" b="1">
                <a:solidFill>
                  <a:srgbClr val="A2732F"/>
                </a:solidFill>
                <a:latin typeface="Sora"/>
                <a:ea typeface="Sora"/>
                <a:cs typeface="Sora"/>
              </a:rPr>
              <a:t>THE MAPSCORE PLAN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9B4BC42E-0FCB-407C-A92F-C110063D9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86000"/>
            <a:ext cx="61912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375" b="1">
                <a:solidFill>
                  <a:srgbClr val="171B20"/>
                </a:solidFill>
                <a:latin typeface="Sora"/>
                <a:ea typeface="Sora"/>
                <a:cs typeface="Sora"/>
              </a:defRPr>
            </a:defPPr>
            <a:lvl1pPr algn="l">
              <a:defRPr sz="6375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1pPr>
            <a:lvl2pPr algn="l">
              <a:defRPr sz="6375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2pPr>
            <a:lvl3pPr algn="l">
              <a:defRPr sz="6375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3pPr>
            <a:lvl4pPr algn="l">
              <a:defRPr sz="6375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4pPr>
            <a:lvl5pPr algn="l">
              <a:defRPr sz="6375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5pPr>
            <a:lvl6pPr algn="l">
              <a:defRPr sz="6375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6pPr>
            <a:lvl7pPr algn="l">
              <a:defRPr sz="6375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7pPr>
            <a:lvl8pPr algn="l">
              <a:defRPr sz="6375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8pPr>
            <a:lvl9pPr algn="l">
              <a:defRPr sz="6375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6375" b="1">
                <a:solidFill>
                  <a:srgbClr val="171B20"/>
                </a:solidFill>
                <a:latin typeface="Sora"/>
                <a:ea typeface="Sora"/>
                <a:cs typeface="Sora"/>
              </a:defRPr>
            </a:pPr>
            <a:r>
              <a:rPr sz="6375" b="1">
                <a:solidFill>
                  <a:srgbClr val="171B20"/>
                </a:solidFill>
                <a:latin typeface="Sora"/>
                <a:ea typeface="Sora"/>
                <a:cs typeface="Sora"/>
              </a:rPr>
              <a:t>Every service.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6375" b="1">
                <a:solidFill>
                  <a:srgbClr val="171B20"/>
                </a:solidFill>
                <a:latin typeface="Sora"/>
                <a:ea typeface="Sora"/>
                <a:cs typeface="Sora"/>
              </a:defRPr>
            </a:pPr>
            <a:r>
              <a:rPr sz="6375" b="1">
                <a:solidFill>
                  <a:srgbClr val="171B20"/>
                </a:solidFill>
                <a:latin typeface="Sora"/>
                <a:ea typeface="Sora"/>
                <a:cs typeface="Sora"/>
              </a:rPr>
              <a:t>One plan.</a:t>
            </a:r>
          </a:p>
        </p:txBody>
      </p:sp>
      <p:sp>
        <p:nvSpPr>
          <p:cNvPr id="3" name="Body All Paige services, with">
            <a:extLst xmlns:a="http://schemas.openxmlformats.org/drawingml/2006/main">
              <a:ext uri="{FF2B5EF4-FFF2-40B4-BE49-F238E27FC236}">
                <a16:creationId xmlns:a16="http://schemas.microsoft.com/office/drawing/2014/main" id="{8B1F072F-7344-4341-A3F8-D01BB8FAD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858000"/>
            <a:ext cx="5810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defPPr>
            <a:lvl1pPr algn="l">
              <a:defRPr sz="2850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1pPr>
            <a:lvl2pPr algn="l">
              <a:defRPr sz="2850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2pPr>
            <a:lvl3pPr algn="l">
              <a:defRPr sz="2850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3pPr>
            <a:lvl4pPr algn="l">
              <a:defRPr sz="2850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4pPr>
            <a:lvl5pPr algn="l">
              <a:defRPr sz="2850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5pPr>
            <a:lvl6pPr algn="l">
              <a:defRPr sz="2850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6pPr>
            <a:lvl7pPr algn="l">
              <a:defRPr sz="2850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7pPr>
            <a:lvl8pPr algn="l">
              <a:defRPr sz="2850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8pPr>
            <a:lvl9pPr algn="l">
              <a:defRPr sz="2850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850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pPr>
            <a:r>
              <a:rPr sz="2850" b="0">
                <a:solidFill>
                  <a:srgbClr val="56606B"/>
                </a:solidFill>
                <a:latin typeface="Manrope"/>
                <a:ea typeface="Manrope"/>
                <a:cs typeface="Manrope"/>
              </a:rPr>
              <a:t>Everything here is included in one MapScore plan.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7F06B1-40A3-4B6A-9AF4-1B99743BC9A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bbb29cff5f4c21"/>
          <a:stretch xmlns:a="http://schemas.openxmlformats.org/drawingml/2006/main"/>
        </p:blipFill>
        <p:spPr>
          <a:xfrm xmlns:a="http://schemas.openxmlformats.org/drawingml/2006/main">
            <a:off x="8096250" y="2190750"/>
            <a:ext cx="495300" cy="495300"/>
          </a:xfrm>
          <a:prstGeom xmlns:a="http://schemas.openxmlformats.org/drawingml/2006/main" prst="rect">
            <a:avLst/>
          </a:prstGeom>
        </p:spPr>
      </p:pic>
      <p:sp>
        <p:nvSpPr>
          <p:cNvPr id="5" name="Feature title 0">
            <a:extLst xmlns:a="http://schemas.openxmlformats.org/drawingml/2006/main">
              <a:ext uri="{FF2B5EF4-FFF2-40B4-BE49-F238E27FC236}">
                <a16:creationId xmlns:a16="http://schemas.microsoft.com/office/drawing/2014/main" id="{F69D0C38-26EE-45C2-9FBF-FFE170735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190750"/>
            <a:ext cx="3524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defPPr>
            <a:lvl1pPr algn="l">
              <a:defRPr sz="21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1pPr>
            <a:lvl2pPr algn="l">
              <a:defRPr sz="21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2pPr>
            <a:lvl3pPr algn="l">
              <a:defRPr sz="21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3pPr>
            <a:lvl4pPr algn="l">
              <a:defRPr sz="21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4pPr>
            <a:lvl5pPr algn="l">
              <a:defRPr sz="21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5pPr>
            <a:lvl6pPr algn="l">
              <a:defRPr sz="21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6pPr>
            <a:lvl7pPr algn="l">
              <a:defRPr sz="21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7pPr>
            <a:lvl8pPr algn="l">
              <a:defRPr sz="21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8pPr>
            <a:lvl9pPr algn="l">
              <a:defRPr sz="21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pPr>
            <a:r>
              <a:rPr sz="2100" b="1">
                <a:solidFill>
                  <a:srgbClr val="171B20"/>
                </a:solidFill>
                <a:latin typeface="Sora"/>
                <a:ea typeface="Sora"/>
                <a:cs typeface="Sora"/>
              </a:rPr>
              <a:t>Profile management</a:t>
            </a:r>
          </a:p>
        </p:txBody>
      </p:sp>
      <p:sp>
        <p:nvSpPr>
          <p:cNvPr id="6" name="Body Business details, servic">
            <a:extLst xmlns:a="http://schemas.openxmlformats.org/drawingml/2006/main">
              <a:ext uri="{FF2B5EF4-FFF2-40B4-BE49-F238E27FC236}">
                <a16:creationId xmlns:a16="http://schemas.microsoft.com/office/drawing/2014/main" id="{366C64CD-AA6A-4A50-BC12-7BE0D1142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95625"/>
            <a:ext cx="4191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defPPr>
            <a:lvl1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1pPr>
            <a:lvl2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2pPr>
            <a:lvl3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3pPr>
            <a:lvl4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4pPr>
            <a:lvl5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5pPr>
            <a:lvl6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6pPr>
            <a:lvl7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7pPr>
            <a:lvl8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8pPr>
            <a:lvl9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pPr>
            <a:r>
              <a:rPr sz="2025" b="0">
                <a:solidFill>
                  <a:srgbClr val="56606B"/>
                </a:solidFill>
                <a:latin typeface="Manrope"/>
                <a:ea typeface="Manrope"/>
                <a:cs typeface="Manrope"/>
              </a:rPr>
              <a:t>Business details, services and content updates.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A32315-892C-4E44-83C6-F89A3CC459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b5eb76c714428a"/>
          <a:stretch xmlns:a="http://schemas.openxmlformats.org/drawingml/2006/main"/>
        </p:blipFill>
        <p:spPr>
          <a:xfrm xmlns:a="http://schemas.openxmlformats.org/drawingml/2006/main">
            <a:off x="13049250" y="2190750"/>
            <a:ext cx="495300" cy="495300"/>
          </a:xfrm>
          <a:prstGeom xmlns:a="http://schemas.openxmlformats.org/drawingml/2006/main" prst="rect">
            <a:avLst/>
          </a:prstGeom>
        </p:spPr>
      </p:pic>
      <p:sp>
        <p:nvSpPr>
          <p:cNvPr id="8" name="Feature title 1">
            <a:extLst xmlns:a="http://schemas.openxmlformats.org/drawingml/2006/main">
              <a:ext uri="{FF2B5EF4-FFF2-40B4-BE49-F238E27FC236}">
                <a16:creationId xmlns:a16="http://schemas.microsoft.com/office/drawing/2014/main" id="{8E851FB2-FBC1-47E9-9FD0-9264E8527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2190750"/>
            <a:ext cx="3524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defPPr>
            <a:lvl1pPr algn="l">
              <a:defRPr sz="21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1pPr>
            <a:lvl2pPr algn="l">
              <a:defRPr sz="21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2pPr>
            <a:lvl3pPr algn="l">
              <a:defRPr sz="21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3pPr>
            <a:lvl4pPr algn="l">
              <a:defRPr sz="21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4pPr>
            <a:lvl5pPr algn="l">
              <a:defRPr sz="21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5pPr>
            <a:lvl6pPr algn="l">
              <a:defRPr sz="21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6pPr>
            <a:lvl7pPr algn="l">
              <a:defRPr sz="21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7pPr>
            <a:lvl8pPr algn="l">
              <a:defRPr sz="21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8pPr>
            <a:lvl9pPr algn="l">
              <a:defRPr sz="21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pPr>
            <a:r>
              <a:rPr sz="2100" b="1">
                <a:solidFill>
                  <a:srgbClr val="171B20"/>
                </a:solidFill>
                <a:latin typeface="Sora"/>
                <a:ea typeface="Sora"/>
                <a:cs typeface="Sora"/>
              </a:rPr>
              <a:t>Review management</a:t>
            </a:r>
          </a:p>
        </p:txBody>
      </p:sp>
      <p:sp>
        <p:nvSpPr>
          <p:cNvPr id="9" name="Body Review requests and AI-a">
            <a:extLst xmlns:a="http://schemas.openxmlformats.org/drawingml/2006/main">
              <a:ext uri="{FF2B5EF4-FFF2-40B4-BE49-F238E27FC236}">
                <a16:creationId xmlns:a16="http://schemas.microsoft.com/office/drawing/2014/main" id="{B8086927-342F-4A00-BE19-100A8E184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095625"/>
            <a:ext cx="4191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defPPr>
            <a:lvl1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1pPr>
            <a:lvl2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2pPr>
            <a:lvl3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3pPr>
            <a:lvl4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4pPr>
            <a:lvl5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5pPr>
            <a:lvl6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6pPr>
            <a:lvl7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7pPr>
            <a:lvl8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8pPr>
            <a:lvl9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pPr>
            <a:r>
              <a:rPr sz="2025" b="0">
                <a:solidFill>
                  <a:srgbClr val="56606B"/>
                </a:solidFill>
                <a:latin typeface="Manrope"/>
                <a:ea typeface="Manrope"/>
                <a:cs typeface="Manrope"/>
              </a:rPr>
              <a:t>Review requests and AI-assisted replies.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D07832-51D1-4F4B-9897-9F6BBE67D59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f7edd75d2f404c"/>
          <a:stretch xmlns:a="http://schemas.openxmlformats.org/drawingml/2006/main"/>
        </p:blipFill>
        <p:spPr>
          <a:xfrm xmlns:a="http://schemas.openxmlformats.org/drawingml/2006/main">
            <a:off x="8096250" y="4000500"/>
            <a:ext cx="495300" cy="495300"/>
          </a:xfrm>
          <a:prstGeom xmlns:a="http://schemas.openxmlformats.org/drawingml/2006/main" prst="rect">
            <a:avLst/>
          </a:prstGeom>
        </p:spPr>
      </p:pic>
      <p:sp>
        <p:nvSpPr>
          <p:cNvPr id="11" name="Feature title 2">
            <a:extLst xmlns:a="http://schemas.openxmlformats.org/drawingml/2006/main">
              <a:ext uri="{FF2B5EF4-FFF2-40B4-BE49-F238E27FC236}">
                <a16:creationId xmlns:a16="http://schemas.microsoft.com/office/drawing/2014/main" id="{F9A9A8F4-BBF0-49ED-A140-3FF6F37F0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000500"/>
            <a:ext cx="3524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defPPr>
            <a:lvl1pPr algn="l">
              <a:defRPr sz="21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1pPr>
            <a:lvl2pPr algn="l">
              <a:defRPr sz="21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2pPr>
            <a:lvl3pPr algn="l">
              <a:defRPr sz="21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3pPr>
            <a:lvl4pPr algn="l">
              <a:defRPr sz="21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4pPr>
            <a:lvl5pPr algn="l">
              <a:defRPr sz="21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5pPr>
            <a:lvl6pPr algn="l">
              <a:defRPr sz="21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6pPr>
            <a:lvl7pPr algn="l">
              <a:defRPr sz="21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7pPr>
            <a:lvl8pPr algn="l">
              <a:defRPr sz="21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8pPr>
            <a:lvl9pPr algn="l">
              <a:defRPr sz="21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pPr>
            <a:r>
              <a:rPr sz="2100" b="1">
                <a:solidFill>
                  <a:srgbClr val="171B20"/>
                </a:solidFill>
                <a:latin typeface="Sora"/>
                <a:ea typeface="Sora"/>
                <a:cs typeface="Sora"/>
              </a:rPr>
              <a:t>Existing-website SEO</a:t>
            </a:r>
          </a:p>
        </p:txBody>
      </p:sp>
      <p:sp>
        <p:nvSpPr>
          <p:cNvPr id="12" name="Body SEO recommendations, rev">
            <a:extLst xmlns:a="http://schemas.openxmlformats.org/drawingml/2006/main">
              <a:ext uri="{FF2B5EF4-FFF2-40B4-BE49-F238E27FC236}">
                <a16:creationId xmlns:a16="http://schemas.microsoft.com/office/drawing/2014/main" id="{5A82F472-8FEE-4072-A59B-D352A3501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05375"/>
            <a:ext cx="4191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defPPr>
            <a:lvl1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1pPr>
            <a:lvl2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2pPr>
            <a:lvl3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3pPr>
            <a:lvl4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4pPr>
            <a:lvl5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5pPr>
            <a:lvl6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6pPr>
            <a:lvl7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7pPr>
            <a:lvl8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8pPr>
            <a:lvl9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pPr>
            <a:r>
              <a:rPr sz="2025" b="0">
                <a:solidFill>
                  <a:srgbClr val="56606B"/>
                </a:solidFill>
                <a:latin typeface="Manrope"/>
                <a:ea typeface="Manrope"/>
                <a:cs typeface="Manrope"/>
              </a:rPr>
              <a:t>SEO recommendations, review, photo and post widgets.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F1074A-E5F7-4E0C-9123-E86F7D85F1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044750ea0640cb"/>
          <a:stretch xmlns:a="http://schemas.openxmlformats.org/drawingml/2006/main"/>
        </p:blipFill>
        <p:spPr>
          <a:xfrm xmlns:a="http://schemas.openxmlformats.org/drawingml/2006/main">
            <a:off x="13049250" y="4000500"/>
            <a:ext cx="495300" cy="495300"/>
          </a:xfrm>
          <a:prstGeom xmlns:a="http://schemas.openxmlformats.org/drawingml/2006/main" prst="rect">
            <a:avLst/>
          </a:prstGeom>
        </p:spPr>
      </p:pic>
      <p:sp>
        <p:nvSpPr>
          <p:cNvPr id="14" name="Feature title 3">
            <a:extLst xmlns:a="http://schemas.openxmlformats.org/drawingml/2006/main">
              <a:ext uri="{FF2B5EF4-FFF2-40B4-BE49-F238E27FC236}">
                <a16:creationId xmlns:a16="http://schemas.microsoft.com/office/drawing/2014/main" id="{8BEB80D2-769F-4E3D-9A7D-4C0393B8E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4000500"/>
            <a:ext cx="3524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defPPr>
            <a:lvl1pPr algn="l">
              <a:defRPr sz="21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1pPr>
            <a:lvl2pPr algn="l">
              <a:defRPr sz="21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2pPr>
            <a:lvl3pPr algn="l">
              <a:defRPr sz="21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3pPr>
            <a:lvl4pPr algn="l">
              <a:defRPr sz="21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4pPr>
            <a:lvl5pPr algn="l">
              <a:defRPr sz="21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5pPr>
            <a:lvl6pPr algn="l">
              <a:defRPr sz="21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6pPr>
            <a:lvl7pPr algn="l">
              <a:defRPr sz="21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7pPr>
            <a:lvl8pPr algn="l">
              <a:defRPr sz="21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8pPr>
            <a:lvl9pPr algn="l">
              <a:defRPr sz="21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pPr>
            <a:r>
              <a:rPr sz="2100" b="1">
                <a:solidFill>
                  <a:srgbClr val="171B20"/>
                </a:solidFill>
                <a:latin typeface="Sora"/>
                <a:ea typeface="Sora"/>
                <a:cs typeface="Sora"/>
              </a:rPr>
              <a:t>Directory citations</a:t>
            </a:r>
          </a:p>
        </p:txBody>
      </p:sp>
      <p:sp>
        <p:nvSpPr>
          <p:cNvPr id="15" name="Body Citation creation, listi">
            <a:extLst xmlns:a="http://schemas.openxmlformats.org/drawingml/2006/main">
              <a:ext uri="{FF2B5EF4-FFF2-40B4-BE49-F238E27FC236}">
                <a16:creationId xmlns:a16="http://schemas.microsoft.com/office/drawing/2014/main" id="{8D39E4FF-DC13-4E11-B749-9C7926B7D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4905375"/>
            <a:ext cx="4191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defPPr>
            <a:lvl1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1pPr>
            <a:lvl2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2pPr>
            <a:lvl3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3pPr>
            <a:lvl4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4pPr>
            <a:lvl5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5pPr>
            <a:lvl6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6pPr>
            <a:lvl7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7pPr>
            <a:lvl8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8pPr>
            <a:lvl9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pPr>
            <a:r>
              <a:rPr sz="2025" b="0">
                <a:solidFill>
                  <a:srgbClr val="56606B"/>
                </a:solidFill>
                <a:latin typeface="Manrope"/>
                <a:ea typeface="Manrope"/>
                <a:cs typeface="Manrope"/>
              </a:rPr>
              <a:t>Citation creation, listing sync and business updates.</a:t>
            </a:r>
          </a:p>
        </p:txBody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9FE064-443E-4FAB-9A53-BDDDD893F9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f82693a56c4d36"/>
          <a:stretch xmlns:a="http://schemas.openxmlformats.org/drawingml/2006/main"/>
        </p:blipFill>
        <p:spPr>
          <a:xfrm xmlns:a="http://schemas.openxmlformats.org/drawingml/2006/main">
            <a:off x="8096250" y="5810250"/>
            <a:ext cx="495300" cy="495300"/>
          </a:xfrm>
          <a:prstGeom xmlns:a="http://schemas.openxmlformats.org/drawingml/2006/main" prst="rect">
            <a:avLst/>
          </a:prstGeom>
        </p:spPr>
      </p:pic>
      <p:sp>
        <p:nvSpPr>
          <p:cNvPr id="17" name="Feature title 4">
            <a:extLst xmlns:a="http://schemas.openxmlformats.org/drawingml/2006/main">
              <a:ext uri="{FF2B5EF4-FFF2-40B4-BE49-F238E27FC236}">
                <a16:creationId xmlns:a16="http://schemas.microsoft.com/office/drawing/2014/main" id="{7BA56803-ACAA-458D-9912-50FD8F49E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810250"/>
            <a:ext cx="3524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defPPr>
            <a:lvl1pPr algn="l">
              <a:defRPr sz="21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1pPr>
            <a:lvl2pPr algn="l">
              <a:defRPr sz="21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2pPr>
            <a:lvl3pPr algn="l">
              <a:defRPr sz="21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3pPr>
            <a:lvl4pPr algn="l">
              <a:defRPr sz="21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4pPr>
            <a:lvl5pPr algn="l">
              <a:defRPr sz="21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5pPr>
            <a:lvl6pPr algn="l">
              <a:defRPr sz="21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6pPr>
            <a:lvl7pPr algn="l">
              <a:defRPr sz="21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7pPr>
            <a:lvl8pPr algn="l">
              <a:defRPr sz="21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8pPr>
            <a:lvl9pPr algn="l">
              <a:defRPr sz="21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pPr>
            <a:r>
              <a:rPr sz="2100" b="1">
                <a:solidFill>
                  <a:srgbClr val="171B20"/>
                </a:solidFill>
                <a:latin typeface="Sora"/>
                <a:ea typeface="Sora"/>
                <a:cs typeface="Sora"/>
              </a:rPr>
              <a:t>Video content</a:t>
            </a:r>
          </a:p>
        </p:txBody>
      </p:sp>
      <p:sp>
        <p:nvSpPr>
          <p:cNvPr id="18" name="Body Video creation, YouTube ">
            <a:extLst xmlns:a="http://schemas.openxmlformats.org/drawingml/2006/main">
              <a:ext uri="{FF2B5EF4-FFF2-40B4-BE49-F238E27FC236}">
                <a16:creationId xmlns:a16="http://schemas.microsoft.com/office/drawing/2014/main" id="{48169452-FBEE-4FA0-85C9-11BE83CB1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715125"/>
            <a:ext cx="4191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defPPr>
            <a:lvl1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1pPr>
            <a:lvl2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2pPr>
            <a:lvl3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3pPr>
            <a:lvl4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4pPr>
            <a:lvl5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5pPr>
            <a:lvl6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6pPr>
            <a:lvl7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7pPr>
            <a:lvl8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8pPr>
            <a:lvl9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pPr>
            <a:r>
              <a:rPr sz="2025" b="0">
                <a:solidFill>
                  <a:srgbClr val="56606B"/>
                </a:solidFill>
                <a:latin typeface="Manrope"/>
                <a:ea typeface="Manrope"/>
                <a:cs typeface="Manrope"/>
              </a:rPr>
              <a:t>Video creation, YouTube and TikTok publishing.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B621A2-51E9-4BEE-B342-4B6CBF2693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559b3fad6c45a7"/>
          <a:stretch xmlns:a="http://schemas.openxmlformats.org/drawingml/2006/main"/>
        </p:blipFill>
        <p:spPr>
          <a:xfrm xmlns:a="http://schemas.openxmlformats.org/drawingml/2006/main">
            <a:off x="13049250" y="5810250"/>
            <a:ext cx="495300" cy="495300"/>
          </a:xfrm>
          <a:prstGeom xmlns:a="http://schemas.openxmlformats.org/drawingml/2006/main" prst="rect">
            <a:avLst/>
          </a:prstGeom>
        </p:spPr>
      </p:pic>
      <p:sp>
        <p:nvSpPr>
          <p:cNvPr id="20" name="Feature title 5">
            <a:extLst xmlns:a="http://schemas.openxmlformats.org/drawingml/2006/main">
              <a:ext uri="{FF2B5EF4-FFF2-40B4-BE49-F238E27FC236}">
                <a16:creationId xmlns:a16="http://schemas.microsoft.com/office/drawing/2014/main" id="{5146E514-66D8-491B-A60F-7C9AC56DB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5810250"/>
            <a:ext cx="3524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defPPr>
            <a:lvl1pPr algn="l">
              <a:defRPr sz="21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1pPr>
            <a:lvl2pPr algn="l">
              <a:defRPr sz="21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2pPr>
            <a:lvl3pPr algn="l">
              <a:defRPr sz="21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3pPr>
            <a:lvl4pPr algn="l">
              <a:defRPr sz="21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4pPr>
            <a:lvl5pPr algn="l">
              <a:defRPr sz="21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5pPr>
            <a:lvl6pPr algn="l">
              <a:defRPr sz="21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6pPr>
            <a:lvl7pPr algn="l">
              <a:defRPr sz="21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7pPr>
            <a:lvl8pPr algn="l">
              <a:defRPr sz="21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8pPr>
            <a:lvl9pPr algn="l">
              <a:defRPr sz="21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pPr>
            <a:r>
              <a:rPr sz="2100" b="1">
                <a:solidFill>
                  <a:srgbClr val="171B20"/>
                </a:solidFill>
                <a:latin typeface="Sora"/>
                <a:ea typeface="Sora"/>
                <a:cs typeface="Sora"/>
              </a:rPr>
              <a:t>Social publishing</a:t>
            </a:r>
          </a:p>
        </p:txBody>
      </p:sp>
      <p:sp>
        <p:nvSpPr>
          <p:cNvPr id="21" name="Body Posts for Facebook, Inst">
            <a:extLst xmlns:a="http://schemas.openxmlformats.org/drawingml/2006/main">
              <a:ext uri="{FF2B5EF4-FFF2-40B4-BE49-F238E27FC236}">
                <a16:creationId xmlns:a16="http://schemas.microsoft.com/office/drawing/2014/main" id="{A7A68678-D46E-4E81-9B9A-E8DBE26DD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6715125"/>
            <a:ext cx="4191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defPPr>
            <a:lvl1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1pPr>
            <a:lvl2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2pPr>
            <a:lvl3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3pPr>
            <a:lvl4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4pPr>
            <a:lvl5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5pPr>
            <a:lvl6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6pPr>
            <a:lvl7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7pPr>
            <a:lvl8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8pPr>
            <a:lvl9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pPr>
            <a:r>
              <a:rPr sz="2025" b="0">
                <a:solidFill>
                  <a:srgbClr val="56606B"/>
                </a:solidFill>
                <a:latin typeface="Manrope"/>
                <a:ea typeface="Manrope"/>
                <a:cs typeface="Manrope"/>
              </a:rPr>
              <a:t>Posts for Facebook, Instagram and LinkedIn.</a:t>
            </a:r>
          </a:p>
        </p:txBody>
      </p:sp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214154-62AE-476B-8826-A8623560D9A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6e44f64a7b4639"/>
          <a:stretch xmlns:a="http://schemas.openxmlformats.org/drawingml/2006/main"/>
        </p:blipFill>
        <p:spPr>
          <a:xfrm xmlns:a="http://schemas.openxmlformats.org/drawingml/2006/main">
            <a:off x="8096250" y="7620000"/>
            <a:ext cx="495300" cy="495300"/>
          </a:xfrm>
          <a:prstGeom xmlns:a="http://schemas.openxmlformats.org/drawingml/2006/main" prst="rect">
            <a:avLst/>
          </a:prstGeom>
        </p:spPr>
      </p:pic>
      <p:sp>
        <p:nvSpPr>
          <p:cNvPr id="23" name="Feature title 6">
            <a:extLst xmlns:a="http://schemas.openxmlformats.org/drawingml/2006/main">
              <a:ext uri="{FF2B5EF4-FFF2-40B4-BE49-F238E27FC236}">
                <a16:creationId xmlns:a16="http://schemas.microsoft.com/office/drawing/2014/main" id="{7840FEE9-9416-4B10-9559-80BA48B75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7620000"/>
            <a:ext cx="3524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defPPr>
            <a:lvl1pPr algn="l">
              <a:defRPr sz="21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1pPr>
            <a:lvl2pPr algn="l">
              <a:defRPr sz="21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2pPr>
            <a:lvl3pPr algn="l">
              <a:defRPr sz="21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3pPr>
            <a:lvl4pPr algn="l">
              <a:defRPr sz="21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4pPr>
            <a:lvl5pPr algn="l">
              <a:defRPr sz="21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5pPr>
            <a:lvl6pPr algn="l">
              <a:defRPr sz="21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6pPr>
            <a:lvl7pPr algn="l">
              <a:defRPr sz="21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7pPr>
            <a:lvl8pPr algn="l">
              <a:defRPr sz="21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8pPr>
            <a:lvl9pPr algn="l">
              <a:defRPr sz="21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pPr>
            <a:r>
              <a:rPr sz="2100" b="1">
                <a:solidFill>
                  <a:srgbClr val="171B20"/>
                </a:solidFill>
                <a:latin typeface="Sora"/>
                <a:ea typeface="Sora"/>
                <a:cs typeface="Sora"/>
              </a:rPr>
              <a:t>AI search visibility</a:t>
            </a:r>
          </a:p>
        </p:txBody>
      </p:sp>
      <p:sp>
        <p:nvSpPr>
          <p:cNvPr id="24" name="Body Visibility on ChatGPT, G">
            <a:extLst xmlns:a="http://schemas.openxmlformats.org/drawingml/2006/main">
              <a:ext uri="{FF2B5EF4-FFF2-40B4-BE49-F238E27FC236}">
                <a16:creationId xmlns:a16="http://schemas.microsoft.com/office/drawing/2014/main" id="{CFCDC531-FD34-4D5E-92FE-3EF41A56B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8524875"/>
            <a:ext cx="4191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defPPr>
            <a:lvl1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1pPr>
            <a:lvl2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2pPr>
            <a:lvl3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3pPr>
            <a:lvl4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4pPr>
            <a:lvl5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5pPr>
            <a:lvl6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6pPr>
            <a:lvl7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7pPr>
            <a:lvl8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8pPr>
            <a:lvl9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pPr>
            <a:r>
              <a:rPr sz="2025" b="0">
                <a:solidFill>
                  <a:srgbClr val="56606B"/>
                </a:solidFill>
                <a:latin typeface="Manrope"/>
                <a:ea typeface="Manrope"/>
                <a:cs typeface="Manrope"/>
              </a:rPr>
              <a:t>Visibility on ChatGPT, Gemini and other AI platforms.</a:t>
            </a:r>
          </a:p>
        </p:txBody>
      </p:sp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776D41-BD40-4FCC-BAA2-F9CBB869A7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4b9adfa01846f4"/>
          <a:stretch xmlns:a="http://schemas.openxmlformats.org/drawingml/2006/main"/>
        </p:blipFill>
        <p:spPr>
          <a:xfrm xmlns:a="http://schemas.openxmlformats.org/drawingml/2006/main">
            <a:off x="13049250" y="7620000"/>
            <a:ext cx="495300" cy="495300"/>
          </a:xfrm>
          <a:prstGeom xmlns:a="http://schemas.openxmlformats.org/drawingml/2006/main" prst="rect">
            <a:avLst/>
          </a:prstGeom>
        </p:spPr>
      </p:pic>
      <p:sp>
        <p:nvSpPr>
          <p:cNvPr id="26" name="Feature title 7">
            <a:extLst xmlns:a="http://schemas.openxmlformats.org/drawingml/2006/main">
              <a:ext uri="{FF2B5EF4-FFF2-40B4-BE49-F238E27FC236}">
                <a16:creationId xmlns:a16="http://schemas.microsoft.com/office/drawing/2014/main" id="{7A189453-BC1F-4029-B517-4AB9F1BFE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7620000"/>
            <a:ext cx="3524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defPPr>
            <a:lvl1pPr algn="l">
              <a:defRPr sz="21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1pPr>
            <a:lvl2pPr algn="l">
              <a:defRPr sz="21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2pPr>
            <a:lvl3pPr algn="l">
              <a:defRPr sz="21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3pPr>
            <a:lvl4pPr algn="l">
              <a:defRPr sz="21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4pPr>
            <a:lvl5pPr algn="l">
              <a:defRPr sz="21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5pPr>
            <a:lvl6pPr algn="l">
              <a:defRPr sz="21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6pPr>
            <a:lvl7pPr algn="l">
              <a:defRPr sz="21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7pPr>
            <a:lvl8pPr algn="l">
              <a:defRPr sz="21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8pPr>
            <a:lvl9pPr algn="l">
              <a:defRPr sz="21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171B20"/>
                </a:solidFill>
                <a:latin typeface="Sora"/>
                <a:ea typeface="Sora"/>
                <a:cs typeface="Sora"/>
              </a:defRPr>
            </a:pPr>
            <a:r>
              <a:rPr sz="2100" b="1">
                <a:solidFill>
                  <a:srgbClr val="171B20"/>
                </a:solidFill>
                <a:latin typeface="Sora"/>
                <a:ea typeface="Sora"/>
                <a:cs typeface="Sora"/>
              </a:rPr>
              <a:t>Reports and heatmaps</a:t>
            </a:r>
          </a:p>
        </p:txBody>
      </p:sp>
      <p:sp>
        <p:nvSpPr>
          <p:cNvPr id="27" name="Body Heatmaps, keyword tracki">
            <a:extLst xmlns:a="http://schemas.openxmlformats.org/drawingml/2006/main">
              <a:ext uri="{FF2B5EF4-FFF2-40B4-BE49-F238E27FC236}">
                <a16:creationId xmlns:a16="http://schemas.microsoft.com/office/drawing/2014/main" id="{2AC4A188-282A-448C-A176-6098BA78C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8524875"/>
            <a:ext cx="4191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defPPr>
            <a:lvl1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1pPr>
            <a:lvl2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2pPr>
            <a:lvl3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3pPr>
            <a:lvl4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4pPr>
            <a:lvl5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5pPr>
            <a:lvl6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6pPr>
            <a:lvl7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7pPr>
            <a:lvl8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8pPr>
            <a:lvl9pPr algn="l"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pPr>
            <a:r>
              <a:rPr sz="2025" b="0">
                <a:solidFill>
                  <a:srgbClr val="56606B"/>
                </a:solidFill>
                <a:latin typeface="Manrope"/>
                <a:ea typeface="Manrope"/>
                <a:cs typeface="Manrope"/>
              </a:rPr>
              <a:t>Heatmaps, keyword tracking, AI reports and action logs.</a:t>
            </a:r>
          </a:p>
        </p:txBody>
      </p:sp>
      <p:sp>
        <p:nvSpPr>
          <p:cNvPr id="28" name="Plan qualifier">
            <a:extLst xmlns:a="http://schemas.openxmlformats.org/drawingml/2006/main">
              <a:ext uri="{FF2B5EF4-FFF2-40B4-BE49-F238E27FC236}">
                <a16:creationId xmlns:a16="http://schemas.microsoft.com/office/drawing/2014/main" id="{960BB7DA-E6B5-4F5E-A23A-406DBF782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763125"/>
            <a:ext cx="1609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defPPr>
            <a:lvl1pPr algn="l">
              <a:defRPr sz="17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1pPr>
            <a:lvl2pPr algn="l">
              <a:defRPr sz="17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2pPr>
            <a:lvl3pPr algn="l">
              <a:defRPr sz="17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3pPr>
            <a:lvl4pPr algn="l">
              <a:defRPr sz="17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4pPr>
            <a:lvl5pPr algn="l">
              <a:defRPr sz="17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5pPr>
            <a:lvl6pPr algn="l">
              <a:defRPr sz="17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6pPr>
            <a:lvl7pPr algn="l">
              <a:defRPr sz="17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7pPr>
            <a:lvl8pPr algn="l">
              <a:defRPr sz="17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8pPr>
            <a:lvl9pPr algn="l">
              <a:defRPr sz="17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56606B"/>
                </a:solidFill>
                <a:latin typeface="Manrope"/>
                <a:ea typeface="Manrope"/>
                <a:cs typeface="Manrope"/>
              </a:defRPr>
            </a:pPr>
            <a:r>
              <a:rPr sz="1725" b="0">
                <a:solidFill>
                  <a:srgbClr val="56606B"/>
                </a:solidFill>
                <a:latin typeface="Manrope"/>
                <a:ea typeface="Manrope"/>
                <a:cs typeface="Manrope"/>
              </a:rPr>
              <a:t>Connected features require the relevant account access.</a:t>
            </a:r>
          </a:p>
        </p:txBody>
      </p:sp>
    </p:spTree>
    <p:extLst>
      <p:ext uri="{BB962C8B-B14F-4D97-AF65-F5344CB8AC3E}">
        <p14:creationId xmlns:p14="http://schemas.microsoft.com/office/powerpoint/2010/main" val="146270555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A0B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ection label">
            <a:extLst xmlns:a="http://schemas.openxmlformats.org/drawingml/2006/main">
              <a:ext uri="{FF2B5EF4-FFF2-40B4-BE49-F238E27FC236}">
                <a16:creationId xmlns:a16="http://schemas.microsoft.com/office/drawing/2014/main" id="{FFB100F0-6F4D-46FF-8A89-546D4CF5E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14375"/>
            <a:ext cx="1476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defPPr>
            <a:lvl1pPr algn="l">
              <a:defRPr sz="165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1pPr>
            <a:lvl2pPr algn="l">
              <a:defRPr sz="165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2pPr>
            <a:lvl3pPr algn="l">
              <a:defRPr sz="165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3pPr>
            <a:lvl4pPr algn="l">
              <a:defRPr sz="165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4pPr>
            <a:lvl5pPr algn="l">
              <a:defRPr sz="165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5pPr>
            <a:lvl6pPr algn="l">
              <a:defRPr sz="165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6pPr>
            <a:lvl7pPr algn="l">
              <a:defRPr sz="165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7pPr>
            <a:lvl8pPr algn="l">
              <a:defRPr sz="165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8pPr>
            <a:lvl9pPr algn="l">
              <a:defRPr sz="165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pPr>
            <a:r>
              <a:rPr sz="1650" b="1">
                <a:solidFill>
                  <a:srgbClr val="D5A756"/>
                </a:solidFill>
                <a:latin typeface="Sora"/>
                <a:ea typeface="Sora"/>
                <a:cs typeface="Sora"/>
              </a:rPr>
              <a:t>ONE COMPLETE PLAN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56936E40-9BE0-446D-A256-C0E26E392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79295"/>
            <a:ext cx="857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750" b="1">
                <a:solidFill>
                  <a:srgbClr val="F6EFE3"/>
                </a:solidFill>
                <a:latin typeface="Sora"/>
                <a:ea typeface="Sora"/>
                <a:cs typeface="Sora"/>
              </a:defRPr>
            </a:defPPr>
            <a:lvl1pPr algn="l">
              <a:defRPr sz="6750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1pPr>
            <a:lvl2pPr algn="l">
              <a:defRPr sz="6750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2pPr>
            <a:lvl3pPr algn="l">
              <a:defRPr sz="6750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3pPr>
            <a:lvl4pPr algn="l">
              <a:defRPr sz="6750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4pPr>
            <a:lvl5pPr algn="l">
              <a:defRPr sz="6750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5pPr>
            <a:lvl6pPr algn="l">
              <a:defRPr sz="6750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6pPr>
            <a:lvl7pPr algn="l">
              <a:defRPr sz="6750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7pPr>
            <a:lvl8pPr algn="l">
              <a:defRPr sz="6750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8pPr>
            <a:lvl9pPr algn="l">
              <a:defRPr sz="6750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6750" b="1">
                <a:solidFill>
                  <a:srgbClr val="F6EFE3"/>
                </a:solidFill>
                <a:latin typeface="Sora"/>
                <a:ea typeface="Sora"/>
                <a:cs typeface="Sora"/>
              </a:defRPr>
            </a:pPr>
            <a:r>
              <a:rPr sz="6750" b="1">
                <a:solidFill>
                  <a:srgbClr val="F6EFE3"/>
                </a:solidFill>
                <a:latin typeface="Sora"/>
                <a:ea typeface="Sora"/>
                <a:cs typeface="Sora"/>
              </a:rPr>
              <a:t>MapScore</a:t>
            </a:r>
          </a:p>
        </p:txBody>
      </p:sp>
      <p:sp>
        <p:nvSpPr>
          <p:cNvPr id="3" name="Price currency">
            <a:extLst xmlns:a="http://schemas.openxmlformats.org/drawingml/2006/main">
              <a:ext uri="{FF2B5EF4-FFF2-40B4-BE49-F238E27FC236}">
                <a16:creationId xmlns:a16="http://schemas.microsoft.com/office/drawing/2014/main" id="{47C70CC3-3637-4A65-AD3D-A1F50B17A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74795"/>
            <a:ext cx="1524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45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defPPr>
            <a:lvl1pPr algn="l">
              <a:defRPr sz="945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1pPr>
            <a:lvl2pPr algn="l">
              <a:defRPr sz="945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2pPr>
            <a:lvl3pPr algn="l">
              <a:defRPr sz="945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3pPr>
            <a:lvl4pPr algn="l">
              <a:defRPr sz="945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4pPr>
            <a:lvl5pPr algn="l">
              <a:defRPr sz="945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5pPr>
            <a:lvl6pPr algn="l">
              <a:defRPr sz="945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6pPr>
            <a:lvl7pPr algn="l">
              <a:defRPr sz="945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7pPr>
            <a:lvl8pPr algn="l">
              <a:defRPr sz="945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8pPr>
            <a:lvl9pPr algn="l">
              <a:defRPr sz="945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45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pPr>
            <a:r>
              <a:rPr sz="9450" b="1">
                <a:solidFill>
                  <a:srgbClr val="D5A756"/>
                </a:solidFill>
                <a:latin typeface="Sora"/>
                <a:ea typeface="Sora"/>
                <a:cs typeface="Sora"/>
              </a:rPr>
              <a:t>$</a:t>
            </a:r>
          </a:p>
        </p:txBody>
      </p:sp>
      <p:sp>
        <p:nvSpPr>
          <p:cNvPr id="4" name="Price amount">
            <a:extLst xmlns:a="http://schemas.openxmlformats.org/drawingml/2006/main">
              <a:ext uri="{FF2B5EF4-FFF2-40B4-BE49-F238E27FC236}">
                <a16:creationId xmlns:a16="http://schemas.microsoft.com/office/drawing/2014/main" id="{AFF27747-4A8E-4B3B-8E39-29AF52C77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646170"/>
            <a:ext cx="714375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80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defPPr>
            <a:lvl1pPr algn="l">
              <a:defRPr sz="1680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1pPr>
            <a:lvl2pPr algn="l">
              <a:defRPr sz="1680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2pPr>
            <a:lvl3pPr algn="l">
              <a:defRPr sz="1680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3pPr>
            <a:lvl4pPr algn="l">
              <a:defRPr sz="1680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4pPr>
            <a:lvl5pPr algn="l">
              <a:defRPr sz="1680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5pPr>
            <a:lvl6pPr algn="l">
              <a:defRPr sz="1680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6pPr>
            <a:lvl7pPr algn="l">
              <a:defRPr sz="1680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7pPr>
            <a:lvl8pPr algn="l">
              <a:defRPr sz="1680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8pPr>
            <a:lvl9pPr algn="l">
              <a:defRPr sz="1680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80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pPr>
            <a:r>
              <a:rPr sz="16800" b="1">
                <a:solidFill>
                  <a:srgbClr val="D5A756"/>
                </a:solidFill>
                <a:latin typeface="Sora"/>
                <a:ea typeface="Sora"/>
                <a:cs typeface="Sora"/>
              </a:rPr>
              <a:t>395</a:t>
            </a:r>
          </a:p>
        </p:txBody>
      </p:sp>
      <p:sp>
        <p:nvSpPr>
          <p:cNvPr id="5" name="Body per month, per business ">
            <a:extLst xmlns:a="http://schemas.openxmlformats.org/drawingml/2006/main">
              <a:ext uri="{FF2B5EF4-FFF2-40B4-BE49-F238E27FC236}">
                <a16:creationId xmlns:a16="http://schemas.microsoft.com/office/drawing/2014/main" id="{11547614-C47D-45EE-A318-BCE7C714B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6598920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defPPr>
            <a:lvl1pPr algn="l">
              <a:defRPr sz="292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1pPr>
            <a:lvl2pPr algn="l">
              <a:defRPr sz="292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2pPr>
            <a:lvl3pPr algn="l">
              <a:defRPr sz="292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3pPr>
            <a:lvl4pPr algn="l">
              <a:defRPr sz="292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4pPr>
            <a:lvl5pPr algn="l">
              <a:defRPr sz="292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5pPr>
            <a:lvl6pPr algn="l">
              <a:defRPr sz="292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6pPr>
            <a:lvl7pPr algn="l">
              <a:defRPr sz="292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7pPr>
            <a:lvl8pPr algn="l">
              <a:defRPr sz="292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8pPr>
            <a:lvl9pPr algn="l">
              <a:defRPr sz="292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92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pPr>
            <a:r>
              <a:rPr sz="2925" b="0">
                <a:solidFill>
                  <a:srgbClr val="B9BEC4"/>
                </a:solidFill>
                <a:latin typeface="Manrope"/>
                <a:ea typeface="Manrope"/>
                <a:cs typeface="Manrope"/>
              </a:rPr>
              <a:t>per month, per business location</a:t>
            </a:r>
          </a:p>
        </p:txBody>
      </p:sp>
      <p:sp>
        <p:nvSpPr>
          <p:cNvPr id="6" name="Pricing heading 0">
            <a:extLst xmlns:a="http://schemas.openxmlformats.org/drawingml/2006/main">
              <a:ext uri="{FF2B5EF4-FFF2-40B4-BE49-F238E27FC236}">
                <a16:creationId xmlns:a16="http://schemas.microsoft.com/office/drawing/2014/main" id="{6ECA86E3-8206-4DA1-B72A-B0C45444E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93670"/>
            <a:ext cx="647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F6EFE3"/>
                </a:solidFill>
                <a:latin typeface="Sora"/>
                <a:ea typeface="Sora"/>
                <a:cs typeface="Sora"/>
              </a:defRPr>
            </a:defPPr>
            <a:lvl1pPr algn="l">
              <a:defRPr sz="2775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1pPr>
            <a:lvl2pPr algn="l">
              <a:defRPr sz="2775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2pPr>
            <a:lvl3pPr algn="l">
              <a:defRPr sz="2775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3pPr>
            <a:lvl4pPr algn="l">
              <a:defRPr sz="2775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4pPr>
            <a:lvl5pPr algn="l">
              <a:defRPr sz="2775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5pPr>
            <a:lvl6pPr algn="l">
              <a:defRPr sz="2775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6pPr>
            <a:lvl7pPr algn="l">
              <a:defRPr sz="2775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7pPr>
            <a:lvl8pPr algn="l">
              <a:defRPr sz="2775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8pPr>
            <a:lvl9pPr algn="l">
              <a:defRPr sz="2775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775" b="1">
                <a:solidFill>
                  <a:srgbClr val="F6EFE3"/>
                </a:solidFill>
                <a:latin typeface="Sora"/>
                <a:ea typeface="Sora"/>
                <a:cs typeface="Sora"/>
              </a:defRPr>
            </a:pPr>
            <a:r>
              <a:rPr sz="2775" b="1">
                <a:solidFill>
                  <a:srgbClr val="F6EFE3"/>
                </a:solidFill>
                <a:latin typeface="Sora"/>
                <a:ea typeface="Sora"/>
                <a:cs typeface="Sora"/>
              </a:rPr>
              <a:t>No setup fee</a:t>
            </a:r>
          </a:p>
        </p:txBody>
      </p:sp>
      <p:sp>
        <p:nvSpPr>
          <p:cNvPr id="7" name="Body No separate setup charge">
            <a:extLst xmlns:a="http://schemas.openxmlformats.org/drawingml/2006/main">
              <a:ext uri="{FF2B5EF4-FFF2-40B4-BE49-F238E27FC236}">
                <a16:creationId xmlns:a16="http://schemas.microsoft.com/office/drawing/2014/main" id="{7CD8189A-78EC-4720-A112-FA2A64A53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503295"/>
            <a:ext cx="6477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defPPr>
            <a:lvl1pPr algn="l">
              <a:defRPr sz="2250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1pPr>
            <a:lvl2pPr algn="l">
              <a:defRPr sz="2250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2pPr>
            <a:lvl3pPr algn="l">
              <a:defRPr sz="2250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3pPr>
            <a:lvl4pPr algn="l">
              <a:defRPr sz="2250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4pPr>
            <a:lvl5pPr algn="l">
              <a:defRPr sz="2250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5pPr>
            <a:lvl6pPr algn="l">
              <a:defRPr sz="2250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6pPr>
            <a:lvl7pPr algn="l">
              <a:defRPr sz="2250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7pPr>
            <a:lvl8pPr algn="l">
              <a:defRPr sz="2250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8pPr>
            <a:lvl9pPr algn="l">
              <a:defRPr sz="2250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250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pPr>
            <a:r>
              <a:rPr sz="2250" b="0">
                <a:solidFill>
                  <a:srgbClr val="B9BEC4"/>
                </a:solidFill>
                <a:latin typeface="Manrope"/>
                <a:ea typeface="Manrope"/>
                <a:cs typeface="Manrope"/>
              </a:rPr>
              <a:t>No separate setup charge.</a:t>
            </a:r>
          </a:p>
        </p:txBody>
      </p:sp>
      <p:sp>
        <p:nvSpPr>
          <p:cNvPr id="8" name="Pricing heading 1">
            <a:extLst xmlns:a="http://schemas.openxmlformats.org/drawingml/2006/main">
              <a:ext uri="{FF2B5EF4-FFF2-40B4-BE49-F238E27FC236}">
                <a16:creationId xmlns:a16="http://schemas.microsoft.com/office/drawing/2014/main" id="{918DE6C6-AD7A-4BCC-88CC-FED702943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360545"/>
            <a:ext cx="647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F6EFE3"/>
                </a:solidFill>
                <a:latin typeface="Sora"/>
                <a:ea typeface="Sora"/>
                <a:cs typeface="Sora"/>
              </a:defRPr>
            </a:defPPr>
            <a:lvl1pPr algn="l">
              <a:defRPr sz="2775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1pPr>
            <a:lvl2pPr algn="l">
              <a:defRPr sz="2775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2pPr>
            <a:lvl3pPr algn="l">
              <a:defRPr sz="2775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3pPr>
            <a:lvl4pPr algn="l">
              <a:defRPr sz="2775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4pPr>
            <a:lvl5pPr algn="l">
              <a:defRPr sz="2775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5pPr>
            <a:lvl6pPr algn="l">
              <a:defRPr sz="2775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6pPr>
            <a:lvl7pPr algn="l">
              <a:defRPr sz="2775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7pPr>
            <a:lvl8pPr algn="l">
              <a:defRPr sz="2775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8pPr>
            <a:lvl9pPr algn="l">
              <a:defRPr sz="2775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775" b="1">
                <a:solidFill>
                  <a:srgbClr val="F6EFE3"/>
                </a:solidFill>
                <a:latin typeface="Sora"/>
                <a:ea typeface="Sora"/>
                <a:cs typeface="Sora"/>
              </a:defRPr>
            </a:pPr>
            <a:r>
              <a:rPr sz="2775" b="1">
                <a:solidFill>
                  <a:srgbClr val="F6EFE3"/>
                </a:solidFill>
                <a:latin typeface="Sora"/>
                <a:ea typeface="Sora"/>
                <a:cs typeface="Sora"/>
              </a:rPr>
              <a:t>No term commitment</a:t>
            </a:r>
          </a:p>
        </p:txBody>
      </p:sp>
      <p:sp>
        <p:nvSpPr>
          <p:cNvPr id="9" name="Body Monthly service without ">
            <a:extLst xmlns:a="http://schemas.openxmlformats.org/drawingml/2006/main">
              <a:ext uri="{FF2B5EF4-FFF2-40B4-BE49-F238E27FC236}">
                <a16:creationId xmlns:a16="http://schemas.microsoft.com/office/drawing/2014/main" id="{FF2C23EF-F849-41CD-B3B7-33455B87A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170170"/>
            <a:ext cx="6477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defPPr>
            <a:lvl1pPr algn="l">
              <a:defRPr sz="2250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1pPr>
            <a:lvl2pPr algn="l">
              <a:defRPr sz="2250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2pPr>
            <a:lvl3pPr algn="l">
              <a:defRPr sz="2250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3pPr>
            <a:lvl4pPr algn="l">
              <a:defRPr sz="2250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4pPr>
            <a:lvl5pPr algn="l">
              <a:defRPr sz="2250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5pPr>
            <a:lvl6pPr algn="l">
              <a:defRPr sz="2250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6pPr>
            <a:lvl7pPr algn="l">
              <a:defRPr sz="2250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7pPr>
            <a:lvl8pPr algn="l">
              <a:defRPr sz="2250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8pPr>
            <a:lvl9pPr algn="l">
              <a:defRPr sz="2250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250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pPr>
            <a:r>
              <a:rPr sz="2250" b="0">
                <a:solidFill>
                  <a:srgbClr val="B9BEC4"/>
                </a:solidFill>
                <a:latin typeface="Manrope"/>
                <a:ea typeface="Manrope"/>
                <a:cs typeface="Manrope"/>
              </a:rPr>
              <a:t>Monthly service without a fixed-term contract.</a:t>
            </a:r>
          </a:p>
        </p:txBody>
      </p:sp>
      <p:sp>
        <p:nvSpPr>
          <p:cNvPr id="10" name="Pricing heading 2">
            <a:extLst xmlns:a="http://schemas.openxmlformats.org/drawingml/2006/main">
              <a:ext uri="{FF2B5EF4-FFF2-40B4-BE49-F238E27FC236}">
                <a16:creationId xmlns:a16="http://schemas.microsoft.com/office/drawing/2014/main" id="{E506AB73-58CB-4463-898E-167CE88FE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027420"/>
            <a:ext cx="647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F6EFE3"/>
                </a:solidFill>
                <a:latin typeface="Sora"/>
                <a:ea typeface="Sora"/>
                <a:cs typeface="Sora"/>
              </a:defRPr>
            </a:defPPr>
            <a:lvl1pPr algn="l">
              <a:defRPr sz="2775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1pPr>
            <a:lvl2pPr algn="l">
              <a:defRPr sz="2775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2pPr>
            <a:lvl3pPr algn="l">
              <a:defRPr sz="2775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3pPr>
            <a:lvl4pPr algn="l">
              <a:defRPr sz="2775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4pPr>
            <a:lvl5pPr algn="l">
              <a:defRPr sz="2775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5pPr>
            <a:lvl6pPr algn="l">
              <a:defRPr sz="2775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6pPr>
            <a:lvl7pPr algn="l">
              <a:defRPr sz="2775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7pPr>
            <a:lvl8pPr algn="l">
              <a:defRPr sz="2775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8pPr>
            <a:lvl9pPr algn="l">
              <a:defRPr sz="2775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775" b="1">
                <a:solidFill>
                  <a:srgbClr val="F6EFE3"/>
                </a:solidFill>
                <a:latin typeface="Sora"/>
                <a:ea typeface="Sora"/>
                <a:cs typeface="Sora"/>
              </a:defRPr>
            </a:pPr>
            <a:r>
              <a:rPr sz="2775" b="1">
                <a:solidFill>
                  <a:srgbClr val="F6EFE3"/>
                </a:solidFill>
                <a:latin typeface="Sora"/>
                <a:ea typeface="Sora"/>
                <a:cs typeface="Sora"/>
              </a:rPr>
              <a:t>Non-refundable payments</a:t>
            </a:r>
          </a:p>
        </p:txBody>
      </p:sp>
      <p:sp>
        <p:nvSpPr>
          <p:cNvPr id="11" name="Body Payments already made ar">
            <a:extLst xmlns:a="http://schemas.openxmlformats.org/drawingml/2006/main">
              <a:ext uri="{FF2B5EF4-FFF2-40B4-BE49-F238E27FC236}">
                <a16:creationId xmlns:a16="http://schemas.microsoft.com/office/drawing/2014/main" id="{59B27919-DBE8-45BB-8255-FFD05046B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837045"/>
            <a:ext cx="6477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defPPr>
            <a:lvl1pPr algn="l">
              <a:defRPr sz="2250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1pPr>
            <a:lvl2pPr algn="l">
              <a:defRPr sz="2250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2pPr>
            <a:lvl3pPr algn="l">
              <a:defRPr sz="2250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3pPr>
            <a:lvl4pPr algn="l">
              <a:defRPr sz="2250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4pPr>
            <a:lvl5pPr algn="l">
              <a:defRPr sz="2250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5pPr>
            <a:lvl6pPr algn="l">
              <a:defRPr sz="2250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6pPr>
            <a:lvl7pPr algn="l">
              <a:defRPr sz="2250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7pPr>
            <a:lvl8pPr algn="l">
              <a:defRPr sz="2250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8pPr>
            <a:lvl9pPr algn="l">
              <a:defRPr sz="2250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250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pPr>
            <a:r>
              <a:rPr sz="2250" b="0">
                <a:solidFill>
                  <a:srgbClr val="B9BEC4"/>
                </a:solidFill>
                <a:latin typeface="Manrope"/>
                <a:ea typeface="Manrope"/>
                <a:cs typeface="Manrope"/>
              </a:rPr>
              <a:t>Payments already made are non-refundable.</a:t>
            </a:r>
          </a:p>
        </p:txBody>
      </p:sp>
      <p:sp>
        <p:nvSpPr>
          <p:cNvPr id="14" name="Offer scope">
            <a:extLst xmlns:a="http://schemas.openxmlformats.org/drawingml/2006/main">
              <a:ext uri="{FF2B5EF4-FFF2-40B4-BE49-F238E27FC236}">
                <a16:creationId xmlns:a16="http://schemas.microsoft.com/office/drawing/2014/main" id="{DD004379-9D32-4822-AC8E-2D4DB5C58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906000"/>
            <a:ext cx="1609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defPPr>
            <a:lvl1pPr algn="l">
              <a:defRPr sz="157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1pPr>
            <a:lvl2pPr algn="l">
              <a:defRPr sz="157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2pPr>
            <a:lvl3pPr algn="l">
              <a:defRPr sz="157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3pPr>
            <a:lvl4pPr algn="l">
              <a:defRPr sz="157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4pPr>
            <a:lvl5pPr algn="l">
              <a:defRPr sz="157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5pPr>
            <a:lvl6pPr algn="l">
              <a:defRPr sz="157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6pPr>
            <a:lvl7pPr algn="l">
              <a:defRPr sz="157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7pPr>
            <a:lvl8pPr algn="l">
              <a:defRPr sz="157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8pPr>
            <a:lvl9pPr algn="l">
              <a:defRPr sz="157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pPr>
            <a:r>
              <a:rPr sz="1575" b="0">
                <a:solidFill>
                  <a:srgbClr val="B9BEC4"/>
                </a:solidFill>
                <a:latin typeface="Manrope"/>
                <a:ea typeface="Manrope"/>
                <a:cs typeface="Manrope"/>
              </a:rPr>
              <a:t>Each additional location needs its own plan.</a:t>
            </a:r>
          </a:p>
        </p:txBody>
      </p:sp>
      <p:sp>
        <p:nvSpPr>
          <p:cNvPr id="16" name="Pricing heading 2 4">
            <a:extLst xmlns:a="http://schemas.openxmlformats.org/drawingml/2006/main">
              <a:ext uri="{FF2B5EF4-FFF2-40B4-BE49-F238E27FC236}">
                <a16:creationId xmlns:a16="http://schemas.microsoft.com/office/drawing/2014/main" id="{E506AB73-58CB-4463-898E-167CE88FE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7694295"/>
            <a:ext cx="647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F6EFE3"/>
                </a:solidFill>
                <a:latin typeface="Sora"/>
                <a:ea typeface="Sora"/>
                <a:cs typeface="Sora"/>
              </a:defRPr>
            </a:defPPr>
            <a:lvl1pPr algn="l">
              <a:defRPr sz="2775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1pPr>
            <a:lvl2pPr algn="l">
              <a:defRPr sz="2775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2pPr>
            <a:lvl3pPr algn="l">
              <a:defRPr sz="2775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3pPr>
            <a:lvl4pPr algn="l">
              <a:defRPr sz="2775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4pPr>
            <a:lvl5pPr algn="l">
              <a:defRPr sz="2775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5pPr>
            <a:lvl6pPr algn="l">
              <a:defRPr sz="2775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6pPr>
            <a:lvl7pPr algn="l">
              <a:defRPr sz="2775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7pPr>
            <a:lvl8pPr algn="l">
              <a:defRPr sz="2775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8pPr>
            <a:lvl9pPr algn="l">
              <a:defRPr sz="2775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775" b="1">
                <a:solidFill>
                  <a:srgbClr val="F6EFE3"/>
                </a:solidFill>
                <a:latin typeface="Sora"/>
                <a:ea typeface="Sora"/>
                <a:cs typeface="Sora"/>
              </a:defRPr>
            </a:pPr>
            <a:r>
              <a:rPr sz="2775" b="1">
                <a:solidFill>
                  <a:srgbClr val="F6EFE3"/>
                </a:solidFill>
                <a:latin typeface="Sora"/>
                <a:ea typeface="Sora"/>
                <a:cs typeface="Sora"/>
              </a:rPr>
              <a:t>Every MapScore service</a:t>
            </a:r>
          </a:p>
        </p:txBody>
      </p:sp>
      <p:sp>
        <p:nvSpPr>
          <p:cNvPr id="17" name="Body Payments already made ar 4">
            <a:extLst xmlns:a="http://schemas.openxmlformats.org/drawingml/2006/main">
              <a:ext uri="{FF2B5EF4-FFF2-40B4-BE49-F238E27FC236}">
                <a16:creationId xmlns:a16="http://schemas.microsoft.com/office/drawing/2014/main" id="{59B27919-DBE8-45BB-8255-FFD05046B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503920"/>
            <a:ext cx="6477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defPPr>
            <a:lvl1pPr algn="l">
              <a:defRPr sz="2250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1pPr>
            <a:lvl2pPr algn="l">
              <a:defRPr sz="2250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2pPr>
            <a:lvl3pPr algn="l">
              <a:defRPr sz="2250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3pPr>
            <a:lvl4pPr algn="l">
              <a:defRPr sz="2250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4pPr>
            <a:lvl5pPr algn="l">
              <a:defRPr sz="2250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5pPr>
            <a:lvl6pPr algn="l">
              <a:defRPr sz="2250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6pPr>
            <a:lvl7pPr algn="l">
              <a:defRPr sz="2250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7pPr>
            <a:lvl8pPr algn="l">
              <a:defRPr sz="2250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8pPr>
            <a:lvl9pPr algn="l">
              <a:defRPr sz="2250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250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pPr>
            <a:r>
              <a:rPr sz="2250" b="0">
                <a:solidFill>
                  <a:srgbClr val="B9BEC4"/>
                </a:solidFill>
                <a:latin typeface="Manrope"/>
                <a:ea typeface="Manrope"/>
                <a:cs typeface="Manrope"/>
              </a:rPr>
              <a:t>Profile, reviews, listings, content, reporting and support.</a:t>
            </a:r>
          </a:p>
        </p:txBody>
      </p:sp>
    </p:spTree>
    <p:extLst>
      <p:ext uri="{BB962C8B-B14F-4D97-AF65-F5344CB8AC3E}">
        <p14:creationId xmlns:p14="http://schemas.microsoft.com/office/powerpoint/2010/main" val="160201723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A0B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D41BDC-552D-4F96-928B-D654427C14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5c3b01eeb34b2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8F4CD7-F7C8-4489-B78B-CADFF9BD29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5a7bd37d6e4fda"/>
          <a:stretch xmlns:a="http://schemas.openxmlformats.org/drawingml/2006/main"/>
        </p:blipFill>
        <p:spPr>
          <a:xfrm xmlns:a="http://schemas.openxmlformats.org/drawingml/2006/main">
            <a:off x="1047750" y="476250"/>
            <a:ext cx="4381500" cy="1460500"/>
          </a:xfrm>
          <a:prstGeom xmlns:a="http://schemas.openxmlformats.org/drawingml/2006/main" prst="rect">
            <a:avLst/>
          </a:prstGeom>
        </p:spPr>
      </p:pic>
      <p:sp>
        <p:nvSpPr>
          <p:cNvPr id="3" name="Headline">
            <a:extLst xmlns:a="http://schemas.openxmlformats.org/drawingml/2006/main">
              <a:ext uri="{FF2B5EF4-FFF2-40B4-BE49-F238E27FC236}">
                <a16:creationId xmlns:a16="http://schemas.microsoft.com/office/drawing/2014/main" id="{688A08CB-646D-4E62-AD86-E383E784A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05125"/>
            <a:ext cx="10001250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600" b="1">
                <a:solidFill>
                  <a:srgbClr val="F6EFE3"/>
                </a:solidFill>
                <a:latin typeface="Sora"/>
                <a:ea typeface="Sora"/>
                <a:cs typeface="Sora"/>
              </a:defRPr>
            </a:defPPr>
            <a:lvl1pPr algn="l">
              <a:defRPr sz="6600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1pPr>
            <a:lvl2pPr algn="l">
              <a:defRPr sz="6600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2pPr>
            <a:lvl3pPr algn="l">
              <a:defRPr sz="6600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3pPr>
            <a:lvl4pPr algn="l">
              <a:defRPr sz="6600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4pPr>
            <a:lvl5pPr algn="l">
              <a:defRPr sz="6600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5pPr>
            <a:lvl6pPr algn="l">
              <a:defRPr sz="6600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6pPr>
            <a:lvl7pPr algn="l">
              <a:defRPr sz="6600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7pPr>
            <a:lvl8pPr algn="l">
              <a:defRPr sz="6600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8pPr>
            <a:lvl9pPr algn="l">
              <a:defRPr sz="6600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6600" b="1">
                <a:solidFill>
                  <a:srgbClr val="F6EFE3"/>
                </a:solidFill>
                <a:latin typeface="Sora"/>
                <a:ea typeface="Sora"/>
                <a:cs typeface="Sora"/>
              </a:defRPr>
            </a:pPr>
            <a:r>
              <a:rPr sz="6600" b="1">
                <a:solidFill>
                  <a:srgbClr val="F6EFE3"/>
                </a:solidFill>
                <a:latin typeface="Sora"/>
                <a:ea typeface="Sora"/>
                <a:cs typeface="Sora"/>
              </a:rPr>
              <a:t>Your next move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6600" b="1">
                <a:solidFill>
                  <a:srgbClr val="F6EFE3"/>
                </a:solidFill>
                <a:latin typeface="Sora"/>
                <a:ea typeface="Sora"/>
                <a:cs typeface="Sora"/>
              </a:defRPr>
            </a:pPr>
            <a:r>
              <a:rPr sz="6600" b="1">
                <a:solidFill>
                  <a:srgbClr val="F6EFE3"/>
                </a:solidFill>
                <a:latin typeface="Sora"/>
                <a:ea typeface="Sora"/>
                <a:cs typeface="Sora"/>
              </a:rPr>
              <a:t>starts with a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6600" b="1">
                <a:solidFill>
                  <a:srgbClr val="F6EFE3"/>
                </a:solidFill>
                <a:latin typeface="Sora"/>
                <a:ea typeface="Sora"/>
                <a:cs typeface="Sora"/>
              </a:defRPr>
            </a:pPr>
            <a:r>
              <a:rPr sz="6600" b="1">
                <a:solidFill>
                  <a:srgbClr val="F6EFE3"/>
                </a:solidFill>
                <a:latin typeface="Sora"/>
                <a:ea typeface="Sora"/>
                <a:cs typeface="Sora"/>
              </a:rPr>
              <a:t>free audit.</a:t>
            </a:r>
          </a:p>
        </p:txBody>
      </p:sp>
      <p:sp>
        <p:nvSpPr>
          <p:cNvPr id="4" name="Arrange call link">
            <a:extLst xmlns:a="http://schemas.openxmlformats.org/drawingml/2006/main">
              <a:ext uri="{FF2B5EF4-FFF2-40B4-BE49-F238E27FC236}">
                <a16:creationId xmlns:a16="http://schemas.microsoft.com/office/drawing/2014/main" id="{94685F1F-8C51-4E3E-9789-5AF826D85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334250"/>
            <a:ext cx="952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defPPr>
            <a:lvl1pPr algn="l">
              <a:defRPr sz="300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1pPr>
            <a:lvl2pPr algn="l">
              <a:defRPr sz="300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2pPr>
            <a:lvl3pPr algn="l">
              <a:defRPr sz="300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3pPr>
            <a:lvl4pPr algn="l">
              <a:defRPr sz="300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4pPr>
            <a:lvl5pPr algn="l">
              <a:defRPr sz="300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5pPr>
            <a:lvl6pPr algn="l">
              <a:defRPr sz="300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6pPr>
            <a:lvl7pPr algn="l">
              <a:defRPr sz="300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7pPr>
            <a:lvl8pPr algn="l">
              <a:defRPr sz="300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8pPr>
            <a:lvl9pPr algn="l">
              <a:defRPr sz="300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D5A756"/>
                </a:solidFill>
                <a:latin typeface="Sora"/>
                <a:ea typeface="Sora"/>
                <a:cs typeface="Sora"/>
              </a:defRPr>
            </a:pPr>
            <a:r>
              <a:rPr sz="3000" b="1">
                <a:solidFill>
                  <a:srgbClr val="D5A756"/>
                </a:solidFill>
                <a:latin typeface="Sora"/>
                <a:ea typeface="Sora"/>
                <a:cs typeface="Sora"/>
                <a:hlinkClick xmlns:ns0="http://schemas.openxmlformats.org/officeDocument/2006/relationships" ns0:id="rId6"/>
              </a:rPr>
              <a:t>Book a Free Guided Audit</a:t>
            </a:r>
          </a:p>
        </p:txBody>
      </p:sp>
      <p:sp>
        <p:nvSpPr>
          <p:cNvPr id="5" name="Audit link">
            <a:extLst xmlns:a="http://schemas.openxmlformats.org/drawingml/2006/main">
              <a:ext uri="{FF2B5EF4-FFF2-40B4-BE49-F238E27FC236}">
                <a16:creationId xmlns:a16="http://schemas.microsoft.com/office/drawing/2014/main" id="{9D4A864D-F10A-4D6A-95B4-F332F6687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38200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F6EFE3"/>
                </a:solidFill>
                <a:latin typeface="Sora"/>
                <a:ea typeface="Sora"/>
                <a:cs typeface="Sora"/>
              </a:defRPr>
            </a:defPPr>
            <a:lvl1pPr algn="l">
              <a:defRPr sz="2625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1pPr>
            <a:lvl2pPr algn="l">
              <a:defRPr sz="2625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2pPr>
            <a:lvl3pPr algn="l">
              <a:defRPr sz="2625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3pPr>
            <a:lvl4pPr algn="l">
              <a:defRPr sz="2625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4pPr>
            <a:lvl5pPr algn="l">
              <a:defRPr sz="2625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5pPr>
            <a:lvl6pPr algn="l">
              <a:defRPr sz="2625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6pPr>
            <a:lvl7pPr algn="l">
              <a:defRPr sz="2625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7pPr>
            <a:lvl8pPr algn="l">
              <a:defRPr sz="2625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8pPr>
            <a:lvl9pPr algn="l">
              <a:defRPr sz="2625" b="1">
                <a:solidFill>
                  <a:srgbClr val="F6EFE3"/>
                </a:solidFill>
                <a:latin typeface="Sora"/>
                <a:ea typeface="Sora"/>
                <a:cs typeface="Sora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625" b="1">
                <a:solidFill>
                  <a:srgbClr val="F6EFE3"/>
                </a:solidFill>
                <a:latin typeface="Sora"/>
                <a:ea typeface="Sora"/>
                <a:cs typeface="Sora"/>
              </a:defRPr>
            </a:pPr>
            <a:r>
              <a:rPr sz="2625" b="1">
                <a:solidFill>
                  <a:srgbClr val="F6EFE3"/>
                </a:solidFill>
                <a:latin typeface="Sora"/>
                <a:ea typeface="Sora"/>
                <a:cs typeface="Sora"/>
              </a:rPr>
              <a:t>A 30-minute call. Your CBB officer guides the audit with you.</a:t>
            </a:r>
          </a:p>
        </p:txBody>
      </p:sp>
      <p:sp>
        <p:nvSpPr>
          <p:cNvPr id="6" name="Contact information">
            <a:extLst xmlns:a="http://schemas.openxmlformats.org/drawingml/2006/main">
              <a:ext uri="{FF2B5EF4-FFF2-40B4-BE49-F238E27FC236}">
                <a16:creationId xmlns:a16="http://schemas.microsoft.com/office/drawing/2014/main" id="{823E7F97-1373-4544-BFBE-C64CEB374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429750"/>
            <a:ext cx="990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defPPr>
            <a:lvl1pPr algn="l">
              <a:defRPr sz="1950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1pPr>
            <a:lvl2pPr algn="l">
              <a:defRPr sz="1950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2pPr>
            <a:lvl3pPr algn="l">
              <a:defRPr sz="1950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3pPr>
            <a:lvl4pPr algn="l">
              <a:defRPr sz="1950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4pPr>
            <a:lvl5pPr algn="l">
              <a:defRPr sz="1950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5pPr>
            <a:lvl6pPr algn="l">
              <a:defRPr sz="1950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6pPr>
            <a:lvl7pPr algn="l">
              <a:defRPr sz="1950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7pPr>
            <a:lvl8pPr algn="l">
              <a:defRPr sz="1950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8pPr>
            <a:lvl9pPr algn="l">
              <a:defRPr sz="1950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pPr>
            <a:r>
              <a:rPr sz="1950" b="0">
                <a:solidFill>
                  <a:srgbClr val="B9BEC4"/>
                </a:solidFill>
                <a:latin typeface="Manrope"/>
                <a:ea typeface="Manrope"/>
                <a:cs typeface="Manrope"/>
              </a:rPr>
              <a:t>david@coveredbridgebrands.com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B9BEC4"/>
                </a:solidFill>
                <a:latin typeface="Manrope"/>
                <a:ea typeface="Manrope"/>
                <a:cs typeface="Manrope"/>
              </a:defRPr>
            </a:pPr>
            <a:r>
              <a:rPr sz="1950" b="0">
                <a:solidFill>
                  <a:srgbClr val="B9BEC4"/>
                </a:solidFill>
                <a:latin typeface="Manrope"/>
                <a:ea typeface="Manrope"/>
                <a:cs typeface="Manrope"/>
              </a:rPr>
              <a:t>814-893-1075</a:t>
            </a:r>
          </a:p>
        </p:txBody>
      </p:sp>
    </p:spTree>
    <p:extLst>
      <p:ext uri="{BB962C8B-B14F-4D97-AF65-F5344CB8AC3E}">
        <p14:creationId xmlns:p14="http://schemas.microsoft.com/office/powerpoint/2010/main" val="1806670535"/>
      </p:ext>
    </p:extLst>
  </p:cSld>
</p:sld>
</file>

<file path=ppt/theme/theme1.xml><?xml version="1.0" encoding="utf-8"?>
<a:theme xmlns:a="http://schemas.openxmlformats.org/drawingml/2006/main" name="ChatGPT">
  <a:themeElements>
    <a:clrScheme name="CBB MapScore">
      <a:dk1>
        <a:srgbClr val="0A0B0C"/>
      </a:dk1>
      <a:lt1>
        <a:srgbClr val="FFFFFF"/>
      </a:lt1>
      <a:dk2>
        <a:srgbClr val="171B20"/>
      </a:dk2>
      <a:lt2>
        <a:srgbClr val="F6EFE3"/>
      </a:lt2>
      <a:accent1>
        <a:srgbClr val="D5A756"/>
      </a:accent1>
      <a:accent2>
        <a:srgbClr val="F3CF7C"/>
      </a:accent2>
      <a:accent3>
        <a:srgbClr val="A2732F"/>
      </a:accent3>
      <a:accent4>
        <a:srgbClr val="56606B"/>
      </a:accent4>
      <a:accent5>
        <a:srgbClr val="F6EFE3"/>
      </a:accent5>
      <a:accent6>
        <a:srgbClr val="121415"/>
      </a:accent6>
      <a:hlink>
        <a:srgbClr val="D5A756"/>
      </a:hlink>
      <a:folHlink>
        <a:srgbClr val="F3CF7C"/>
      </a:folHlink>
    </a:clrScheme>
    <a:fontScheme name="">
      <a:majorFont>
        <a:latin typeface="Manrope"/>
        <a:ea typeface=""/>
        <a:cs typeface=""/>
      </a:majorFont>
      <a:minorFont>
        <a:latin typeface="Manrope"/>
        <a:ea typeface=""/>
        <a:cs typeface=""/>
      </a:minorFont>
    </a:fontScheme>
    <a:fmtScheme name="CBB MapScor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2026-10-17T06:32:54.9500000Z</dcterms:created>
  <dcterms:modified xsi:type="dcterms:W3CDTF">2026-10-17T06:32:54.9500000Z</dcterms:modified>
</coreProperties>
</file>