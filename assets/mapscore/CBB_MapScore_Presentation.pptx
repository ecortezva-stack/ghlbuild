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fce244e9028452a" Type="http://schemas.openxmlformats.org/officeDocument/2006/relationships/extended-properties" Target="docProps/app.xml"/><Relationship Id="R927f87c3c8874e81" Type="http://schemas.openxmlformats.org/package/2006/relationships/metadata/core-properties" Target="docProps/core.xml"/><Relationship Id="Rbc157105a61f4bf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8729cab17f4c1b"/>
  </p:sldMasterIdLst>
  <p:notesMasterIdLst>
    <p:notesMasterId xmlns:r="http://schemas.openxmlformats.org/officeDocument/2006/relationships" r:id="R203dae9e2cfe4a29"/>
  </p:notesMasterIdLst>
  <p:sldIdLst>
    <p:sldId xmlns:r="http://schemas.openxmlformats.org/officeDocument/2006/relationships" id="256" r:id="R52644e94f5d443f4"/>
    <p:sldId xmlns:r="http://schemas.openxmlformats.org/officeDocument/2006/relationships" id="257" r:id="R91a75af6edf540e3"/>
    <p:sldId xmlns:r="http://schemas.openxmlformats.org/officeDocument/2006/relationships" id="258" r:id="Rab292a9b5308499e"/>
    <p:sldId xmlns:r="http://schemas.openxmlformats.org/officeDocument/2006/relationships" id="259" r:id="R6b33079234094aeb"/>
    <p:sldId xmlns:r="http://schemas.openxmlformats.org/officeDocument/2006/relationships" id="260" r:id="R0f75b9c5e2f54d82"/>
    <p:sldId xmlns:r="http://schemas.openxmlformats.org/officeDocument/2006/relationships" id="261" r:id="Rdd1c4dcff4564b52"/>
    <p:sldId xmlns:r="http://schemas.openxmlformats.org/officeDocument/2006/relationships" id="262" r:id="R850d6e49ee194614"/>
    <p:sldId xmlns:r="http://schemas.openxmlformats.org/officeDocument/2006/relationships" id="263" r:id="R1be9d67a12ae4b18"/>
    <p:sldId xmlns:r="http://schemas.openxmlformats.org/officeDocument/2006/relationships" id="264" r:id="Rdbd28ea190944f5b"/>
    <p:sldId xmlns:r="http://schemas.openxmlformats.org/officeDocument/2006/relationships" id="265" r:id="R51c6d38e815c4c89"/>
    <p:sldId xmlns:r="http://schemas.openxmlformats.org/officeDocument/2006/relationships" id="266" r:id="R922258c076414a02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f75b9c5e2f54d82" Type="http://schemas.openxmlformats.org/officeDocument/2006/relationships/slide" Target="slides/slide5.xml"/><Relationship Id="R1be9d67a12ae4b18" Type="http://schemas.openxmlformats.org/officeDocument/2006/relationships/slide" Target="slides/slide8.xml"/><Relationship Id="R203dae9e2cfe4a29" Type="http://schemas.openxmlformats.org/officeDocument/2006/relationships/notesMaster" Target="notesMasters/notesMaster1.xml"/><Relationship Id="R328729cab17f4c1b" Type="http://schemas.openxmlformats.org/officeDocument/2006/relationships/slideMaster" Target="slideMasters/slideMaster1.xml"/><Relationship Id="R3a8e4e4a93034036" Type="http://schemas.openxmlformats.org/officeDocument/2006/relationships/tableStyles" Target="tableStyles.xml"/><Relationship Id="R478a3da4c8b54077" Type="http://schemas.openxmlformats.org/officeDocument/2006/relationships/presProps" Target="presProps.xml"/><Relationship Id="R51c6d38e815c4c89" Type="http://schemas.openxmlformats.org/officeDocument/2006/relationships/slide" Target="slides/slide10.xml"/><Relationship Id="R52644e94f5d443f4" Type="http://schemas.openxmlformats.org/officeDocument/2006/relationships/slide" Target="slides/slide1.xml"/><Relationship Id="R6b33079234094aeb" Type="http://schemas.openxmlformats.org/officeDocument/2006/relationships/slide" Target="slides/slide4.xml"/><Relationship Id="R850d6e49ee194614" Type="http://schemas.openxmlformats.org/officeDocument/2006/relationships/slide" Target="slides/slide7.xml"/><Relationship Id="R8ad509e0a2714679" Type="http://schemas.openxmlformats.org/officeDocument/2006/relationships/theme" Target="theme/theme1.xml"/><Relationship Id="R91a75af6edf540e3" Type="http://schemas.openxmlformats.org/officeDocument/2006/relationships/slide" Target="slides/slide2.xml"/><Relationship Id="R922258c076414a02" Type="http://schemas.openxmlformats.org/officeDocument/2006/relationships/slide" Target="slides/slide11.xml"/><Relationship Id="Rab292a9b5308499e" Type="http://schemas.openxmlformats.org/officeDocument/2006/relationships/slide" Target="slides/slide3.xml"/><Relationship Id="Rdbd28ea190944f5b" Type="http://schemas.openxmlformats.org/officeDocument/2006/relationships/slide" Target="slides/slide9.xml"/><Relationship Id="Rdd1c4dcff4564b5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53a113f044bc44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BB MapScore">
      <a:dk1>
        <a:srgbClr val="0A0B0C"/>
      </a:dk1>
      <a:lt1>
        <a:srgbClr val="FFFFFF"/>
      </a:lt1>
      <a:dk2>
        <a:srgbClr val="171B20"/>
      </a:dk2>
      <a:lt2>
        <a:srgbClr val="F6EFE3"/>
      </a:lt2>
      <a:accent1>
        <a:srgbClr val="D5A756"/>
      </a:accent1>
      <a:accent2>
        <a:srgbClr val="F3CF7C"/>
      </a:accent2>
      <a:accent3>
        <a:srgbClr val="A2732F"/>
      </a:accent3>
      <a:accent4>
        <a:srgbClr val="56606B"/>
      </a:accent4>
      <a:accent5>
        <a:srgbClr val="F6EFE3"/>
      </a:accent5>
      <a:accent6>
        <a:srgbClr val="121415"/>
      </a:accent6>
      <a:hlink>
        <a:srgbClr val="D5A756"/>
      </a:hlink>
      <a:folHlink>
        <a:srgbClr val="F3CF7C"/>
      </a:folHlink>
    </a:clrScheme>
    <a:fontScheme name="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CBB MapSco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e272f8853f94a49" Type="http://schemas.openxmlformats.org/officeDocument/2006/relationships/slide" Target="../slides/slide1.xml"/><Relationship Id="Reec43254bd7d4238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d4866184fe7143d6" Type="http://schemas.openxmlformats.org/officeDocument/2006/relationships/slide" Target="../slides/slide2.xml"/><Relationship Id="Rfb052f380ec04705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9544c3cbadd420d" Type="http://schemas.openxmlformats.org/officeDocument/2006/relationships/slide" Target="../slides/slide3.xml"/><Relationship Id="R6cfbd19ddab146f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11a0ebb797e44d4" Type="http://schemas.openxmlformats.org/officeDocument/2006/relationships/slide" Target="../slides/slide4.xml"/><Relationship Id="R767cb3ef76f24cb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e7bdacadabf479c" Type="http://schemas.openxmlformats.org/officeDocument/2006/relationships/notesMaster" Target="../notesMasters/notesMaster1.xml"/><Relationship Id="R752153f13f0742a5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0b0041140b34852" Type="http://schemas.openxmlformats.org/officeDocument/2006/relationships/slide" Target="../slides/slide6.xml"/><Relationship Id="Rf7e9f6f2ff974966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34f7d24bdeda43fe" Type="http://schemas.openxmlformats.org/officeDocument/2006/relationships/notesMaster" Target="../notesMasters/notesMaster1.xml"/><Relationship Id="R578f06eb3c5a4ace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05bc2c5fe57a4b49" Type="http://schemas.openxmlformats.org/officeDocument/2006/relationships/slide" Target="../slides/slide8.xml"/><Relationship Id="R27e7b0e2527144e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24b269b28fff4116" Type="http://schemas.openxmlformats.org/officeDocument/2006/relationships/slide" Target="../slides/slide9.xml"/><Relationship Id="R8f0959322e624f0c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798a5a7dfe5c45ca" Type="http://schemas.openxmlformats.org/officeDocument/2006/relationships/notesMaster" Target="../notesMasters/notesMaster1.xml"/><Relationship Id="Rea028450a603481c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7772ab2af3f4ed1" Type="http://schemas.openxmlformats.org/officeDocument/2006/relationships/slide" Target="../slides/slide11.xml"/><Relationship Id="Rf21ff63347ff4f6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8caf1341a7e4f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aa89f42d5df742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a0158e2cc9a446f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fc4d3f57bb1b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7220fd080f0496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8c6b2cd8b0d40b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117010-6F92-46A4-823D-4B5AF47F03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93C169-6FA9-4078-870D-98AEEDBBB08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A858886-8E09-4336-BA4C-FC85E1213F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C30F16-8E89-45E4-92F3-3EEF466A67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7534EA7-5501-4845-AE09-64EE275D92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E3F9652-11D3-46D0-85C1-6552E36F35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423F8DB-81F5-45B1-BF98-ABFCB5CE38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62049EF-DE20-4991-8403-B9556200CA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DDE3DC-5B0B-4ACB-9EF3-F9393BDB7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310A20C-C184-443A-9A39-9BBE18B3D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75965c6bde04ac8" Type="http://schemas.openxmlformats.org/officeDocument/2006/relationships/slideLayout" Target="../slideLayouts/slideLayout2.xml"/><Relationship Id="R3888d40c93c24b1f" Type="http://schemas.openxmlformats.org/officeDocument/2006/relationships/slideLayout" Target="../slideLayouts/slideLayout3.xml"/><Relationship Id="R6db205f0c3bf46b6" Type="http://schemas.openxmlformats.org/officeDocument/2006/relationships/theme" Target="theme/theme2.xml"/><Relationship Id="Raf641f3c3b564e30" Type="http://schemas.openxmlformats.org/officeDocument/2006/relationships/slideLayout" Target="../slideLayouts/slideLayout6.xml"/><Relationship Id="Re3b49b6895fa4f16" Type="http://schemas.openxmlformats.org/officeDocument/2006/relationships/slideLayout" Target="../slideLayouts/slideLayout1.xml"/><Relationship Id="Recd723e0c8904754" Type="http://schemas.openxmlformats.org/officeDocument/2006/relationships/slideLayout" Target="../slideLayouts/slideLayout5.xml"/><Relationship Id="Rf31a5550bc6b486c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b49b6895fa4f16"/>
    <p:sldLayoutId xmlns:r="http://schemas.openxmlformats.org/officeDocument/2006/relationships" id="2147483650" r:id="R375965c6bde04ac8"/>
    <p:sldLayoutId xmlns:r="http://schemas.openxmlformats.org/officeDocument/2006/relationships" id="2147483651" r:id="R3888d40c93c24b1f"/>
    <p:sldLayoutId xmlns:r="http://schemas.openxmlformats.org/officeDocument/2006/relationships" id="2147483652" r:id="Rf31a5550bc6b486c"/>
    <p:sldLayoutId xmlns:r="http://schemas.openxmlformats.org/officeDocument/2006/relationships" id="2147483653" r:id="Recd723e0c8904754"/>
    <p:sldLayoutId xmlns:r="http://schemas.openxmlformats.org/officeDocument/2006/relationships" id="2147483654" r:id="Raf641f3c3b564e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BB MapScore">
      <a:dk1>
        <a:srgbClr val="0A0B0C"/>
      </a:dk1>
      <a:lt1>
        <a:srgbClr val="FFFFFF"/>
      </a:lt1>
      <a:dk2>
        <a:srgbClr val="171B20"/>
      </a:dk2>
      <a:lt2>
        <a:srgbClr val="F6EFE3"/>
      </a:lt2>
      <a:accent1>
        <a:srgbClr val="D5A756"/>
      </a:accent1>
      <a:accent2>
        <a:srgbClr val="F3CF7C"/>
      </a:accent2>
      <a:accent3>
        <a:srgbClr val="A2732F"/>
      </a:accent3>
      <a:accent4>
        <a:srgbClr val="56606B"/>
      </a:accent4>
      <a:accent5>
        <a:srgbClr val="F6EFE3"/>
      </a:accent5>
      <a:accent6>
        <a:srgbClr val="121415"/>
      </a:accent6>
      <a:hlink>
        <a:srgbClr val="D5A756"/>
      </a:hlink>
      <a:folHlink>
        <a:srgbClr val="F3CF7C"/>
      </a:folHlink>
    </a:clrScheme>
    <a:fontScheme name="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CBB MapSco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6cfe1e0dbe34a78" Type="http://schemas.openxmlformats.org/officeDocument/2006/relationships/notesSlide" Target="../notesSlides/notesSlide1.xml"/><Relationship Id="R4e654cd9b1ef4064" Type="http://schemas.openxmlformats.org/officeDocument/2006/relationships/slideLayout" Target="../slideLayouts/slideLayout6.xml"/><Relationship Id="R7c2a9334cfe441b4" Type="http://schemas.openxmlformats.org/officeDocument/2006/relationships/image" Target="../media/image.png"/><Relationship Id="R8edcf1b8b2814866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43e9e8cf3fee4183" Type="http://schemas.openxmlformats.org/officeDocument/2006/relationships/slideLayout" Target="../slideLayouts/slideLayout6.xml"/><Relationship Id="Rebb5d5f1f0c049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6c0dd41965bd4035" Type="http://schemas.openxmlformats.org/officeDocument/2006/relationships/image" Target="../media/image4.png"/><Relationship Id="R7c03ecd0c08f497b" Type="http://schemas.openxmlformats.org/officeDocument/2006/relationships/image" Target="../media/image6.png"/><Relationship Id="R7e917abd2e684afd" Type="http://schemas.openxmlformats.org/officeDocument/2006/relationships/notesSlide" Target="../notesSlides/notesSlide3.xml"/><Relationship Id="Ra678a9c26a5545a8" Type="http://schemas.openxmlformats.org/officeDocument/2006/relationships/image" Target="../media/image5.png"/><Relationship Id="Rabd3bd44f3604fc7" Type="http://schemas.openxmlformats.org/officeDocument/2006/relationships/slideLayout" Target="../slideLayouts/slideLayout6.xml"/><Relationship Id="Rf1465b5cc3fd480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bd24792cca894091" Type="http://schemas.openxmlformats.org/officeDocument/2006/relationships/notesSlide" Target="../notesSlides/notesSlide4.xml"/><Relationship Id="Rde0c6a1b6c0542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38a54172fec449d2" Type="http://schemas.openxmlformats.org/officeDocument/2006/relationships/notesSlide" Target="../notesSlides/notesSlide5.xml"/><Relationship Id="Rb40e266ace144233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fecf26a36c9497c" Type="http://schemas.openxmlformats.org/officeDocument/2006/relationships/image" Target="../media/image8.png"/><Relationship Id="R341f9df8209841f9" Type="http://schemas.openxmlformats.org/officeDocument/2006/relationships/notesSlide" Target="../notesSlides/notesSlide6.xml"/><Relationship Id="R4e9bcf5a23224a40" Type="http://schemas.openxmlformats.org/officeDocument/2006/relationships/image" Target="../media/image7.png"/><Relationship Id="Re55190901c8a4db9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3cf82cbf687b45a8" Type="http://schemas.openxmlformats.org/officeDocument/2006/relationships/notesSlide" Target="../notesSlides/notesSlide7.xml"/><Relationship Id="Re9248cc262e140dc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805b49a8338e4307" Type="http://schemas.openxmlformats.org/officeDocument/2006/relationships/notesSlide" Target="../notesSlides/notesSlide8.xml"/><Relationship Id="Rc0511b5b53f1408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1772e230c4404106" Type="http://schemas.openxmlformats.org/officeDocument/2006/relationships/notesSlide" Target="../notesSlides/notesSlide9.xml"/><Relationship Id="R1dbbb29cff5f4c21" Type="http://schemas.openxmlformats.org/officeDocument/2006/relationships/image" Target="../media/image9.png"/><Relationship Id="R664b9adfa01846f4" Type="http://schemas.openxmlformats.org/officeDocument/2006/relationships/image" Target="../media/image16.png"/><Relationship Id="Raf6e44f64a7b4639" Type="http://schemas.openxmlformats.org/officeDocument/2006/relationships/image" Target="../media/image15.png"/><Relationship Id="Rc2f7edd75d2f404c" Type="http://schemas.openxmlformats.org/officeDocument/2006/relationships/image" Target="../media/image11.png"/><Relationship Id="Rca044750ea0640cb" Type="http://schemas.openxmlformats.org/officeDocument/2006/relationships/image" Target="../media/image12.png"/><Relationship Id="Rce8413c9319a46b3" Type="http://schemas.openxmlformats.org/officeDocument/2006/relationships/slideLayout" Target="../slideLayouts/slideLayout6.xml"/><Relationship Id="Rcf559b3fad6c45a7" Type="http://schemas.openxmlformats.org/officeDocument/2006/relationships/image" Target="../media/image14.png"/><Relationship Id="Rd8b5eb76c714428a" Type="http://schemas.openxmlformats.org/officeDocument/2006/relationships/image" Target="../media/image10.png"/><Relationship Id="Rfff82693a56c4d36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7a45fb30e97845bb" Type="http://schemas.openxmlformats.org/officeDocument/2006/relationships/slideLayout" Target="../slideLayouts/slideLayout6.xml"/><Relationship Id="Rc04907e52c3d40b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055c3b01eeb34b20" Type="http://schemas.openxmlformats.org/officeDocument/2006/relationships/image" Target="../media/image17.png"/><Relationship Id="R0e5a7bd37d6e4fda" Type="http://schemas.openxmlformats.org/officeDocument/2006/relationships/image" Target="../media/image18.png"/><Relationship Id="R381fafb7c29c4eaf" Type="http://schemas.openxmlformats.org/officeDocument/2006/relationships/notesSlide" Target="../notesSlides/notesSlide11.xml"/><Relationship Id="Rebf67dbdc0674fdc" Type="http://schemas.openxmlformats.org/officeDocument/2006/relationships/slideLayout" Target="../slideLayouts/slideLayout6.xml"/><Relationship Id="rId6" Type="http://schemas.openxmlformats.org/officeDocument/2006/relationships/hyperlink" Target="https://coveredbridgebrands.com/mapscore#ms-book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0C2C3-3E7F-4317-BC38-3844D42A8B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a9334cfe441b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D79E0-43CE-4733-BE26-BAE2728B1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cf1b8b2814866"/>
          <a:stretch xmlns:a="http://schemas.openxmlformats.org/drawingml/2006/main"/>
        </p:blipFill>
        <p:spPr>
          <a:xfrm xmlns:a="http://schemas.openxmlformats.org/drawingml/2006/main">
            <a:off x="1000125" y="400050"/>
            <a:ext cx="4667250" cy="1555750"/>
          </a:xfrm>
          <a:prstGeom xmlns:a="http://schemas.openxmlformats.org/drawingml/2006/main" prst="rect">
            <a:avLst/>
          </a:prstGeom>
        </p:spPr>
      </p:pic>
      <p:sp>
        <p:nvSpPr>
          <p:cNvPr id="3" name="Product name">
            <a:extLst xmlns:a="http://schemas.openxmlformats.org/drawingml/2006/main">
              <a:ext uri="{FF2B5EF4-FFF2-40B4-BE49-F238E27FC236}">
                <a16:creationId xmlns:a16="http://schemas.microsoft.com/office/drawing/2014/main" id="{BF2D5F6E-3043-4A81-8B0D-C16E8364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14625"/>
            <a:ext cx="98107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0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1305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MapScore</a:t>
            </a:r>
          </a:p>
        </p:txBody>
      </p:sp>
      <p:sp>
        <p:nvSpPr>
          <p:cNvPr id="4" name="Cover statement">
            <a:extLst xmlns:a="http://schemas.openxmlformats.org/drawingml/2006/main">
              <a:ext uri="{FF2B5EF4-FFF2-40B4-BE49-F238E27FC236}">
                <a16:creationId xmlns:a16="http://schemas.microsoft.com/office/drawing/2014/main" id="{3D5F31C0-3F6E-4C1D-80DE-AF09451C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933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51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Local visibility.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51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Managed by CBB.</a:t>
            </a:r>
          </a:p>
        </p:txBody>
      </p:sp>
      <p:sp>
        <p:nvSpPr>
          <p:cNvPr id="5" name="Body AI-assisted Google Busin">
            <a:extLst xmlns:a="http://schemas.openxmlformats.org/drawingml/2006/main">
              <a:ext uri="{FF2B5EF4-FFF2-40B4-BE49-F238E27FC236}">
                <a16:creationId xmlns:a16="http://schemas.microsoft.com/office/drawing/2014/main" id="{167B448E-C37F-4C55-9CE8-C09513BF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858125"/>
            <a:ext cx="904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5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AI-assisted Google Business Profile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5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5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management for local businesses.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D13B23AD-9EB9-4918-8339-42832226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620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defPPr>
            <a:lvl1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F6EFE3"/>
                </a:solidFill>
                <a:latin typeface="Manrope"/>
                <a:ea typeface="Manrope"/>
                <a:cs typeface="Manrope"/>
              </a:defRPr>
            </a:pPr>
            <a:r>
              <a:rPr sz="1875" b="0">
                <a:solidFill>
                  <a:srgbClr val="F6EFE3"/>
                </a:solidFill>
                <a:latin typeface="Manrope"/>
                <a:ea typeface="Manrope"/>
                <a:cs typeface="Manrope"/>
              </a:rPr>
              <a:t>coveredbridgebrands.com</a:t>
            </a:r>
          </a:p>
        </p:txBody>
      </p:sp>
    </p:spTree>
    <p:extLst>
      <p:ext uri="{BB962C8B-B14F-4D97-AF65-F5344CB8AC3E}">
        <p14:creationId xmlns:p14="http://schemas.microsoft.com/office/powerpoint/2010/main" val="4468253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FE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02648D3E-B487-4420-AD54-9DD346DF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THE CHALLENGE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85F476AA-4A8E-4187-A1BA-EFBEDAA0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15621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66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Local marketing needs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66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66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regular attention</a:t>
            </a:r>
          </a:p>
        </p:txBody>
      </p:sp>
      <p:sp>
        <p:nvSpPr>
          <p:cNvPr id="3" name="Core challenge">
            <a:extLst xmlns:a="http://schemas.openxmlformats.org/drawingml/2006/main">
              <a:ext uri="{FF2B5EF4-FFF2-40B4-BE49-F238E27FC236}">
                <a16:creationId xmlns:a16="http://schemas.microsoft.com/office/drawing/2014/main" id="{E15A1ECD-C153-4536-8AFC-4CE7D674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776287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442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 one-time setup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44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442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is only the beginning.</a:t>
            </a:r>
          </a:p>
        </p:txBody>
      </p:sp>
      <p:sp>
        <p:nvSpPr>
          <p:cNvPr id="4" name="Body MapScore brings ongoing ">
            <a:extLst xmlns:a="http://schemas.openxmlformats.org/drawingml/2006/main">
              <a:ext uri="{FF2B5EF4-FFF2-40B4-BE49-F238E27FC236}">
                <a16:creationId xmlns:a16="http://schemas.microsoft.com/office/drawing/2014/main" id="{9271D6CB-CF4D-4118-9E02-6DEF40B1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667625"/>
            <a:ext cx="752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55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MapScore brings ongoing profile work into one managed service from Covered Bridge Brands.</a:t>
            </a:r>
          </a:p>
        </p:txBody>
      </p:sp>
      <p:sp>
        <p:nvSpPr>
          <p:cNvPr id="5" name="List number 0">
            <a:extLst xmlns:a="http://schemas.openxmlformats.org/drawingml/2006/main">
              <a:ext uri="{FF2B5EF4-FFF2-40B4-BE49-F238E27FC236}">
                <a16:creationId xmlns:a16="http://schemas.microsoft.com/office/drawing/2014/main" id="{2D7C1F7E-E934-4C65-9AF6-137E8906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67250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01</a:t>
            </a:r>
          </a:p>
        </p:txBody>
      </p:sp>
      <p:sp>
        <p:nvSpPr>
          <p:cNvPr id="6" name="List heading 0">
            <a:extLst xmlns:a="http://schemas.openxmlformats.org/drawingml/2006/main">
              <a:ext uri="{FF2B5EF4-FFF2-40B4-BE49-F238E27FC236}">
                <a16:creationId xmlns:a16="http://schemas.microsoft.com/office/drawing/2014/main" id="{FBD80D29-5E26-4EE2-A182-6973C611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667250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Accurate business details</a:t>
            </a:r>
          </a:p>
        </p:txBody>
      </p:sp>
      <p:sp>
        <p:nvSpPr>
          <p:cNvPr id="7" name="Body Keep your information cu">
            <a:extLst xmlns:a="http://schemas.openxmlformats.org/drawingml/2006/main">
              <a:ext uri="{FF2B5EF4-FFF2-40B4-BE49-F238E27FC236}">
                <a16:creationId xmlns:a16="http://schemas.microsoft.com/office/drawing/2014/main" id="{9C9A76A6-7749-450B-9259-5144BF0A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381625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Keep your information current as your business changes.</a:t>
            </a:r>
          </a:p>
        </p:txBody>
      </p:sp>
      <p:sp>
        <p:nvSpPr>
          <p:cNvPr id="8" name="List number 1">
            <a:extLst xmlns:a="http://schemas.openxmlformats.org/drawingml/2006/main">
              <a:ext uri="{FF2B5EF4-FFF2-40B4-BE49-F238E27FC236}">
                <a16:creationId xmlns:a16="http://schemas.microsoft.com/office/drawing/2014/main" id="{79C98894-266A-4B76-B14C-1B9CA90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34125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02</a:t>
            </a:r>
          </a:p>
        </p:txBody>
      </p:sp>
      <p:sp>
        <p:nvSpPr>
          <p:cNvPr id="9" name="List heading 1">
            <a:extLst xmlns:a="http://schemas.openxmlformats.org/drawingml/2006/main">
              <a:ext uri="{FF2B5EF4-FFF2-40B4-BE49-F238E27FC236}">
                <a16:creationId xmlns:a16="http://schemas.microsoft.com/office/drawing/2014/main" id="{B824255F-EF14-4B06-AFD3-AA98A0E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Fresh posts and photos</a:t>
            </a:r>
          </a:p>
        </p:txBody>
      </p:sp>
      <p:sp>
        <p:nvSpPr>
          <p:cNvPr id="10" name="Body Give visitors useful, re">
            <a:extLst xmlns:a="http://schemas.openxmlformats.org/drawingml/2006/main">
              <a:ext uri="{FF2B5EF4-FFF2-40B4-BE49-F238E27FC236}">
                <a16:creationId xmlns:a16="http://schemas.microsoft.com/office/drawing/2014/main" id="{594E8406-CCE0-4EF7-98CE-9E15FB36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704850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Give visitors useful, relevant information about your services.</a:t>
            </a:r>
          </a:p>
        </p:txBody>
      </p:sp>
      <p:sp>
        <p:nvSpPr>
          <p:cNvPr id="11" name="List number 2">
            <a:extLst xmlns:a="http://schemas.openxmlformats.org/drawingml/2006/main">
              <a:ext uri="{FF2B5EF4-FFF2-40B4-BE49-F238E27FC236}">
                <a16:creationId xmlns:a16="http://schemas.microsoft.com/office/drawing/2014/main" id="{676262FA-DF4A-4804-8CF0-1D7E0F7D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8001000"/>
            <a:ext cx="95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03</a:t>
            </a:r>
          </a:p>
        </p:txBody>
      </p:sp>
      <p:sp>
        <p:nvSpPr>
          <p:cNvPr id="12" name="List heading 2">
            <a:extLst xmlns:a="http://schemas.openxmlformats.org/drawingml/2006/main">
              <a:ext uri="{FF2B5EF4-FFF2-40B4-BE49-F238E27FC236}">
                <a16:creationId xmlns:a16="http://schemas.microsoft.com/office/drawing/2014/main" id="{DE2AF8EB-65B5-49D6-B1D7-0DE651D7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001000"/>
            <a:ext cx="581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Reviews and responses</a:t>
            </a:r>
          </a:p>
        </p:txBody>
      </p:sp>
      <p:sp>
        <p:nvSpPr>
          <p:cNvPr id="13" name="Body Handle new feedback cons">
            <a:extLst xmlns:a="http://schemas.openxmlformats.org/drawingml/2006/main">
              <a:ext uri="{FF2B5EF4-FFF2-40B4-BE49-F238E27FC236}">
                <a16:creationId xmlns:a16="http://schemas.microsoft.com/office/drawing/2014/main" id="{F0F542CA-D522-4C31-B74F-0DC1A499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715375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Handle new feedback consistently with your preferences.</a:t>
            </a:r>
          </a:p>
        </p:txBody>
      </p:sp>
      <p:sp>
        <p:nvSpPr>
          <p:cNvPr id="14" name="CBB signature">
            <a:extLst xmlns:a="http://schemas.openxmlformats.org/drawingml/2006/main">
              <a:ext uri="{FF2B5EF4-FFF2-40B4-BE49-F238E27FC236}">
                <a16:creationId xmlns:a16="http://schemas.microsoft.com/office/drawing/2014/main" id="{0E9DC6E1-0ADF-4327-8C52-3223C998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829800"/>
            <a:ext cx="1428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MAPSCORE BY COVERED BRIDGE BRANDS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AB75965-9B5E-44C8-9547-B241ECA7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25" y="9763125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725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52244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B2BFB185-499D-4A90-BE3D-C56CED2E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THE FOUNDATION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5FE8B43-112F-41E7-B028-26B079CD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7239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82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Your profile,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68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82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kept current.</a:t>
            </a:r>
          </a:p>
        </p:txBody>
      </p:sp>
      <p:sp>
        <p:nvSpPr>
          <p:cNvPr id="3" name="Body Your Google Business Pro">
            <a:extLst xmlns:a="http://schemas.openxmlformats.org/drawingml/2006/main">
              <a:ext uri="{FF2B5EF4-FFF2-40B4-BE49-F238E27FC236}">
                <a16:creationId xmlns:a16="http://schemas.microsoft.com/office/drawing/2014/main" id="{2BB332E9-7247-4A4A-8A62-737CB0FA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676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8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Your Google Business Profile helps people understand your business and decide what to do next.</a:t>
            </a:r>
          </a:p>
        </p:txBody>
      </p:sp>
      <p:sp>
        <p:nvSpPr>
          <p:cNvPr id="4" name="Foundation accent">
            <a:extLst xmlns:a="http://schemas.openxmlformats.org/drawingml/2006/main">
              <a:ext uri="{FF2B5EF4-FFF2-40B4-BE49-F238E27FC236}">
                <a16:creationId xmlns:a16="http://schemas.microsoft.com/office/drawing/2014/main" id="{13A6C04E-44AF-45BA-A95C-76360615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6677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2325" b="1">
                <a:solidFill>
                  <a:srgbClr val="D5A756"/>
                </a:solidFill>
                <a:latin typeface="Sora"/>
                <a:ea typeface="Sora"/>
                <a:cs typeface="Sora"/>
              </a:rPr>
              <a:t>Google Business Profile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D381F1-1190-4327-8FC0-B24634DFFF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65b5cc3fd4804"/>
          <a:stretch xmlns:a="http://schemas.openxmlformats.org/drawingml/2006/main"/>
        </p:blipFill>
        <p:spPr>
          <a:xfrm xmlns:a="http://schemas.openxmlformats.org/drawingml/2006/main">
            <a:off x="8858250" y="257175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6" name="Foundation item 0">
            <a:extLst xmlns:a="http://schemas.openxmlformats.org/drawingml/2006/main">
              <a:ext uri="{FF2B5EF4-FFF2-40B4-BE49-F238E27FC236}">
                <a16:creationId xmlns:a16="http://schemas.microsoft.com/office/drawing/2014/main" id="{BB1BFAC7-5D7B-4316-BDF7-BBEE4DC3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67125"/>
            <a:ext cx="366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Profile optimization</a:t>
            </a:r>
          </a:p>
        </p:txBody>
      </p:sp>
      <p:sp>
        <p:nvSpPr>
          <p:cNvPr id="7" name="Body Business details, catego">
            <a:extLst xmlns:a="http://schemas.openxmlformats.org/drawingml/2006/main">
              <a:ext uri="{FF2B5EF4-FFF2-40B4-BE49-F238E27FC236}">
                <a16:creationId xmlns:a16="http://schemas.microsoft.com/office/drawing/2014/main" id="{67B4F45F-1745-4466-A08B-164FB7E4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148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Business details, categories and services aligned with your business.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7036B-C657-4B8C-B233-A82ED3609D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dd41965bd4035"/>
          <a:stretch xmlns:a="http://schemas.openxmlformats.org/drawingml/2006/main"/>
        </p:blipFill>
        <p:spPr>
          <a:xfrm xmlns:a="http://schemas.openxmlformats.org/drawingml/2006/main">
            <a:off x="13811250" y="257175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9" name="Foundation item 1">
            <a:extLst xmlns:a="http://schemas.openxmlformats.org/drawingml/2006/main">
              <a:ext uri="{FF2B5EF4-FFF2-40B4-BE49-F238E27FC236}">
                <a16:creationId xmlns:a16="http://schemas.microsoft.com/office/drawing/2014/main" id="{00DB16A6-1F32-46F0-8F6C-CDE5FFCB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667125"/>
            <a:ext cx="366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Review management</a:t>
            </a:r>
          </a:p>
        </p:txBody>
      </p:sp>
      <p:sp>
        <p:nvSpPr>
          <p:cNvPr id="10" name="Body Review requests and AI-a">
            <a:extLst xmlns:a="http://schemas.openxmlformats.org/drawingml/2006/main">
              <a:ext uri="{FF2B5EF4-FFF2-40B4-BE49-F238E27FC236}">
                <a16:creationId xmlns:a16="http://schemas.microsoft.com/office/drawing/2014/main" id="{5CB0E7CE-66AE-429C-A30F-4063D98D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7148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Review requests and AI-assisted responses with configured approvals.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91C68-D085-4C57-A2D1-0EB9573123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8a9c26a5545a8"/>
          <a:stretch xmlns:a="http://schemas.openxmlformats.org/drawingml/2006/main"/>
        </p:blipFill>
        <p:spPr>
          <a:xfrm xmlns:a="http://schemas.openxmlformats.org/drawingml/2006/main">
            <a:off x="8858250" y="619125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12" name="Foundation item 2">
            <a:extLst xmlns:a="http://schemas.openxmlformats.org/drawingml/2006/main">
              <a:ext uri="{FF2B5EF4-FFF2-40B4-BE49-F238E27FC236}">
                <a16:creationId xmlns:a16="http://schemas.microsoft.com/office/drawing/2014/main" id="{B7292724-D936-4B1C-98A0-3BAC4C08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286625"/>
            <a:ext cx="366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Regular posts</a:t>
            </a:r>
          </a:p>
        </p:txBody>
      </p:sp>
      <p:sp>
        <p:nvSpPr>
          <p:cNvPr id="13" name="Body Relevant updates about y">
            <a:extLst xmlns:a="http://schemas.openxmlformats.org/drawingml/2006/main">
              <a:ext uri="{FF2B5EF4-FFF2-40B4-BE49-F238E27FC236}">
                <a16:creationId xmlns:a16="http://schemas.microsoft.com/office/drawing/2014/main" id="{220CC56D-694B-4D07-BA3A-C9A98CDB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3343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Relevant updates about your services, offers and business.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38C32-1F7C-47E6-B51F-FB3D5CA5E4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3ecd0c08f497b"/>
          <a:stretch xmlns:a="http://schemas.openxmlformats.org/drawingml/2006/main"/>
        </p:blipFill>
        <p:spPr>
          <a:xfrm xmlns:a="http://schemas.openxmlformats.org/drawingml/2006/main">
            <a:off x="13811250" y="619125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15" name="Foundation item 3">
            <a:extLst xmlns:a="http://schemas.openxmlformats.org/drawingml/2006/main">
              <a:ext uri="{FF2B5EF4-FFF2-40B4-BE49-F238E27FC236}">
                <a16:creationId xmlns:a16="http://schemas.microsoft.com/office/drawing/2014/main" id="{AB114E8D-4441-4535-9B36-700369E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7286625"/>
            <a:ext cx="366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Photos and video</a:t>
            </a:r>
          </a:p>
        </p:txBody>
      </p:sp>
      <p:sp>
        <p:nvSpPr>
          <p:cNvPr id="16" name="Body Visual content published">
            <a:extLst xmlns:a="http://schemas.openxmlformats.org/drawingml/2006/main">
              <a:ext uri="{FF2B5EF4-FFF2-40B4-BE49-F238E27FC236}">
                <a16:creationId xmlns:a16="http://schemas.microsoft.com/office/drawing/2014/main" id="{2057AF77-B989-4FA5-8862-BE859048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83343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Visual content published through supported account connections.</a:t>
            </a:r>
          </a:p>
        </p:txBody>
      </p:sp>
      <p:sp>
        <p:nvSpPr>
          <p:cNvPr id="17" name="CBB signature">
            <a:extLst xmlns:a="http://schemas.openxmlformats.org/drawingml/2006/main">
              <a:ext uri="{FF2B5EF4-FFF2-40B4-BE49-F238E27FC236}">
                <a16:creationId xmlns:a16="http://schemas.microsoft.com/office/drawing/2014/main" id="{3F9C61FE-5DA0-4569-9FB2-E32466E6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829800"/>
            <a:ext cx="1428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MAPSCORE BY COVERED BRIDGE BRANDS</a:t>
            </a:r>
          </a:p>
        </p:txBody>
      </p:sp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F72314A-B8D2-4639-B916-6C1787DE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25" y="9763125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725" b="1">
                <a:solidFill>
                  <a:srgbClr val="D5A756"/>
                </a:solidFill>
                <a:latin typeface="Sora"/>
                <a:ea typeface="Sora"/>
                <a:cs typeface="Sor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694747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FE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336971D1-9D7B-4FF2-BBE0-5D13BE96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THE BIGGER PICTURE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CB83025A-03AE-44AF-BA7E-D6AF46C8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685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Local visibility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across your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5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5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online presence</a:t>
            </a:r>
          </a:p>
        </p:txBody>
      </p:sp>
      <p:sp>
        <p:nvSpPr>
          <p:cNvPr id="3" name="Body MapScore coordinates the">
            <a:extLst xmlns:a="http://schemas.openxmlformats.org/drawingml/2006/main">
              <a:ext uri="{FF2B5EF4-FFF2-40B4-BE49-F238E27FC236}">
                <a16:creationId xmlns:a16="http://schemas.microsoft.com/office/drawing/2014/main" id="{4FC4CBA5-829E-4B17-9FB9-FACCDE19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858000"/>
            <a:ext cx="6477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6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6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MapScore coordinates the work around your profile and connected accounts.</a:t>
            </a:r>
          </a:p>
        </p:txBody>
      </p:sp>
      <p:sp>
        <p:nvSpPr>
          <p:cNvPr id="4" name="Strategy number 0">
            <a:extLst xmlns:a="http://schemas.openxmlformats.org/drawingml/2006/main">
              <a:ext uri="{FF2B5EF4-FFF2-40B4-BE49-F238E27FC236}">
                <a16:creationId xmlns:a16="http://schemas.microsoft.com/office/drawing/2014/main" id="{23B398D1-7443-42A0-805D-E91BDE9D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90500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01</a:t>
            </a:r>
          </a:p>
        </p:txBody>
      </p:sp>
      <p:sp>
        <p:nvSpPr>
          <p:cNvPr id="5" name="Strategy heading 0">
            <a:extLst xmlns:a="http://schemas.openxmlformats.org/drawingml/2006/main">
              <a:ext uri="{FF2B5EF4-FFF2-40B4-BE49-F238E27FC236}">
                <a16:creationId xmlns:a16="http://schemas.microsoft.com/office/drawing/2014/main" id="{3065B45D-D677-480D-9FC4-69478BB8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05000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Google Business Profile</a:t>
            </a:r>
          </a:p>
        </p:txBody>
      </p:sp>
      <p:sp>
        <p:nvSpPr>
          <p:cNvPr id="6" name="Body Current information, ser">
            <a:extLst xmlns:a="http://schemas.openxmlformats.org/drawingml/2006/main">
              <a:ext uri="{FF2B5EF4-FFF2-40B4-BE49-F238E27FC236}">
                <a16:creationId xmlns:a16="http://schemas.microsoft.com/office/drawing/2014/main" id="{391A8425-8F49-4092-963C-7AC44DBB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2412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Current information, services and content.</a:t>
            </a:r>
          </a:p>
        </p:txBody>
      </p:sp>
      <p:sp>
        <p:nvSpPr>
          <p:cNvPr id="7" name="Strategy number 1">
            <a:extLst xmlns:a="http://schemas.openxmlformats.org/drawingml/2006/main">
              <a:ext uri="{FF2B5EF4-FFF2-40B4-BE49-F238E27FC236}">
                <a16:creationId xmlns:a16="http://schemas.microsoft.com/office/drawing/2014/main" id="{4AFB8C0E-57FC-4BD8-BFCA-872CE62C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718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02</a:t>
            </a:r>
          </a:p>
        </p:txBody>
      </p:sp>
      <p:sp>
        <p:nvSpPr>
          <p:cNvPr id="8" name="Strategy heading 1">
            <a:extLst xmlns:a="http://schemas.openxmlformats.org/drawingml/2006/main">
              <a:ext uri="{FF2B5EF4-FFF2-40B4-BE49-F238E27FC236}">
                <a16:creationId xmlns:a16="http://schemas.microsoft.com/office/drawing/2014/main" id="{175C63AB-F103-41BF-9FA6-5B8A625B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171825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Customer reviews</a:t>
            </a:r>
          </a:p>
        </p:txBody>
      </p:sp>
      <p:sp>
        <p:nvSpPr>
          <p:cNvPr id="9" name="Body Genuine feedback and con">
            <a:extLst xmlns:a="http://schemas.openxmlformats.org/drawingml/2006/main">
              <a:ext uri="{FF2B5EF4-FFF2-40B4-BE49-F238E27FC236}">
                <a16:creationId xmlns:a16="http://schemas.microsoft.com/office/drawing/2014/main" id="{177EB4BF-68DA-4F7F-AF6D-A4487155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7909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Genuine feedback and consistent responses.</a:t>
            </a:r>
          </a:p>
        </p:txBody>
      </p:sp>
      <p:sp>
        <p:nvSpPr>
          <p:cNvPr id="10" name="Strategy number 2">
            <a:extLst xmlns:a="http://schemas.openxmlformats.org/drawingml/2006/main">
              <a:ext uri="{FF2B5EF4-FFF2-40B4-BE49-F238E27FC236}">
                <a16:creationId xmlns:a16="http://schemas.microsoft.com/office/drawing/2014/main" id="{E65EBB84-6DD5-4F99-A90A-12370DA3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43865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03</a:t>
            </a:r>
          </a:p>
        </p:txBody>
      </p:sp>
      <p:sp>
        <p:nvSpPr>
          <p:cNvPr id="11" name="Strategy heading 2">
            <a:extLst xmlns:a="http://schemas.openxmlformats.org/drawingml/2006/main">
              <a:ext uri="{FF2B5EF4-FFF2-40B4-BE49-F238E27FC236}">
                <a16:creationId xmlns:a16="http://schemas.microsoft.com/office/drawing/2014/main" id="{0636BAD7-3275-445B-9840-FAA16DFC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38650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Directory listings</a:t>
            </a:r>
          </a:p>
        </p:txBody>
      </p:sp>
      <p:sp>
        <p:nvSpPr>
          <p:cNvPr id="12" name="Body Citations, listing sync ">
            <a:extLst xmlns:a="http://schemas.openxmlformats.org/drawingml/2006/main">
              <a:ext uri="{FF2B5EF4-FFF2-40B4-BE49-F238E27FC236}">
                <a16:creationId xmlns:a16="http://schemas.microsoft.com/office/drawing/2014/main" id="{FCA4D37F-1490-4B33-B52A-3F9E30A3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0577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Citations, listing sync and business updates.</a:t>
            </a:r>
          </a:p>
        </p:txBody>
      </p:sp>
      <p:sp>
        <p:nvSpPr>
          <p:cNvPr id="13" name="Strategy number 3">
            <a:extLst xmlns:a="http://schemas.openxmlformats.org/drawingml/2006/main">
              <a:ext uri="{FF2B5EF4-FFF2-40B4-BE49-F238E27FC236}">
                <a16:creationId xmlns:a16="http://schemas.microsoft.com/office/drawing/2014/main" id="{A6086542-F915-46E4-A397-90C1F286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70547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04</a:t>
            </a:r>
          </a:p>
        </p:txBody>
      </p:sp>
      <p:sp>
        <p:nvSpPr>
          <p:cNvPr id="14" name="Strategy heading 3">
            <a:extLst xmlns:a="http://schemas.openxmlformats.org/drawingml/2006/main">
              <a:ext uri="{FF2B5EF4-FFF2-40B4-BE49-F238E27FC236}">
                <a16:creationId xmlns:a16="http://schemas.microsoft.com/office/drawing/2014/main" id="{E53EA0B0-0E87-4FAB-9558-50541B88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705475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Social accounts</a:t>
            </a:r>
          </a:p>
        </p:txBody>
      </p:sp>
      <p:sp>
        <p:nvSpPr>
          <p:cNvPr id="15" name="Body Facebook, Instagram, Lin">
            <a:extLst xmlns:a="http://schemas.openxmlformats.org/drawingml/2006/main">
              <a:ext uri="{FF2B5EF4-FFF2-40B4-BE49-F238E27FC236}">
                <a16:creationId xmlns:a16="http://schemas.microsoft.com/office/drawing/2014/main" id="{62D4CE58-CB56-4475-9991-97BD6CC2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2460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Facebook, Instagram, LinkedIn, YouTube and TikTok.</a:t>
            </a:r>
          </a:p>
        </p:txBody>
      </p:sp>
      <p:sp>
        <p:nvSpPr>
          <p:cNvPr id="16" name="Strategy number 4">
            <a:extLst xmlns:a="http://schemas.openxmlformats.org/drawingml/2006/main">
              <a:ext uri="{FF2B5EF4-FFF2-40B4-BE49-F238E27FC236}">
                <a16:creationId xmlns:a16="http://schemas.microsoft.com/office/drawing/2014/main" id="{3B494566-ED75-46E0-B822-23CD19E6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97230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05</a:t>
            </a:r>
          </a:p>
        </p:txBody>
      </p:sp>
      <p:sp>
        <p:nvSpPr>
          <p:cNvPr id="17" name="Strategy heading 4">
            <a:extLst xmlns:a="http://schemas.openxmlformats.org/drawingml/2006/main">
              <a:ext uri="{FF2B5EF4-FFF2-40B4-BE49-F238E27FC236}">
                <a16:creationId xmlns:a16="http://schemas.microsoft.com/office/drawing/2014/main" id="{86F43D5D-883F-468D-8BAD-A21D65B2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972300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AI search visibility</a:t>
            </a:r>
          </a:p>
        </p:txBody>
      </p:sp>
      <p:sp>
        <p:nvSpPr>
          <p:cNvPr id="18" name="Body Visibility checks and cl">
            <a:extLst xmlns:a="http://schemas.openxmlformats.org/drawingml/2006/main">
              <a:ext uri="{FF2B5EF4-FFF2-40B4-BE49-F238E27FC236}">
                <a16:creationId xmlns:a16="http://schemas.microsoft.com/office/drawing/2014/main" id="{CF5E088A-EC28-46BC-8050-5D4DCD52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59142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Visibility checks and clearer business information.</a:t>
            </a:r>
          </a:p>
        </p:txBody>
      </p:sp>
      <p:sp>
        <p:nvSpPr>
          <p:cNvPr id="19" name="Strategy number 5">
            <a:extLst xmlns:a="http://schemas.openxmlformats.org/drawingml/2006/main">
              <a:ext uri="{FF2B5EF4-FFF2-40B4-BE49-F238E27FC236}">
                <a16:creationId xmlns:a16="http://schemas.microsoft.com/office/drawing/2014/main" id="{A0C0FF82-5AC8-4C71-A6BF-2F477487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82391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28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06</a:t>
            </a:r>
          </a:p>
        </p:txBody>
      </p:sp>
      <p:sp>
        <p:nvSpPr>
          <p:cNvPr id="20" name="Strategy heading 5">
            <a:extLst xmlns:a="http://schemas.openxmlformats.org/drawingml/2006/main">
              <a:ext uri="{FF2B5EF4-FFF2-40B4-BE49-F238E27FC236}">
                <a16:creationId xmlns:a16="http://schemas.microsoft.com/office/drawing/2014/main" id="{33BA4834-E23C-4302-BB20-7A12D5CB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8239125"/>
            <a:ext cx="704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Existing website</a:t>
            </a:r>
          </a:p>
        </p:txBody>
      </p:sp>
      <p:sp>
        <p:nvSpPr>
          <p:cNvPr id="21" name="Body SEO recommendations and ">
            <a:extLst xmlns:a="http://schemas.openxmlformats.org/drawingml/2006/main">
              <a:ext uri="{FF2B5EF4-FFF2-40B4-BE49-F238E27FC236}">
                <a16:creationId xmlns:a16="http://schemas.microsoft.com/office/drawing/2014/main" id="{E223F01D-78F3-444E-BA12-2E170307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88582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SEO recommendations and widgets for your current site.</a:t>
            </a:r>
          </a:p>
        </p:txBody>
      </p:sp>
      <p:sp>
        <p:nvSpPr>
          <p:cNvPr id="22" name="CBB signature">
            <a:extLst xmlns:a="http://schemas.openxmlformats.org/drawingml/2006/main">
              <a:ext uri="{FF2B5EF4-FFF2-40B4-BE49-F238E27FC236}">
                <a16:creationId xmlns:a16="http://schemas.microsoft.com/office/drawing/2014/main" id="{CF205A50-5F2F-4DA6-9CA6-319989A6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829800"/>
            <a:ext cx="1428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MAPSCORE BY COVERED BRIDGE BRANDS</a:t>
            </a:r>
          </a:p>
        </p:txBody>
      </p:sp>
      <p:sp>
        <p:nvSpPr>
          <p:cNvPr id="2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08CA620-8F73-4A2D-A0E7-FAC9B02B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2125" y="9763125"/>
            <a:ext cx="619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725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576622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EFE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5BE0776A-B86E-4DE2-B239-60ED332B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RESULTS FROM THE TECHNOLOGY BEHIND MAPSCORE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8D22B13B-1AE2-44AC-AA62-5A9027E8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16192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Real results from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the technology behind MapScore</a:t>
            </a:r>
          </a:p>
        </p:txBody>
      </p:sp>
      <p:sp>
        <p:nvSpPr>
          <p:cNvPr id="3" name="Case business 0">
            <a:extLst xmlns:a="http://schemas.openxmlformats.org/drawingml/2006/main">
              <a:ext uri="{FF2B5EF4-FFF2-40B4-BE49-F238E27FC236}">
                <a16:creationId xmlns:a16="http://schemas.microsoft.com/office/drawing/2014/main" id="{8EA61C0A-56E9-40E0-B71F-D647BD8F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52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62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Home Crush</a:t>
            </a:r>
          </a:p>
        </p:txBody>
      </p:sp>
      <p:sp>
        <p:nvSpPr>
          <p:cNvPr id="4" name="Body Home goods retailer">
            <a:extLst xmlns:a="http://schemas.openxmlformats.org/drawingml/2006/main">
              <a:ext uri="{FF2B5EF4-FFF2-40B4-BE49-F238E27FC236}">
                <a16:creationId xmlns:a16="http://schemas.microsoft.com/office/drawing/2014/main" id="{AE9DA6F7-86C1-44F2-AA43-327792FA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Home goods retailer</a:t>
            </a:r>
          </a:p>
        </p:txBody>
      </p:sp>
      <p:sp>
        <p:nvSpPr>
          <p:cNvPr id="5" name="Case ranking result 0">
            <a:extLst xmlns:a="http://schemas.openxmlformats.org/drawingml/2006/main">
              <a:ext uri="{FF2B5EF4-FFF2-40B4-BE49-F238E27FC236}">
                <a16:creationId xmlns:a16="http://schemas.microsoft.com/office/drawing/2014/main" id="{9192C6B1-9D33-49D3-986E-52D9AE61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7,320%</a:t>
            </a:r>
          </a:p>
        </p:txBody>
      </p:sp>
      <p:sp>
        <p:nvSpPr>
          <p:cNvPr id="6" name="Body ranking improvement in 3">
            <a:extLst xmlns:a="http://schemas.openxmlformats.org/drawingml/2006/main">
              <a:ext uri="{FF2B5EF4-FFF2-40B4-BE49-F238E27FC236}">
                <a16:creationId xmlns:a16="http://schemas.microsoft.com/office/drawing/2014/main" id="{F9A16838-86D0-4AEF-A5B6-AA987609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667500"/>
            <a:ext cx="4810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ranking improvement in 30 days</a:t>
            </a:r>
          </a:p>
        </p:txBody>
      </p:sp>
      <p:sp>
        <p:nvSpPr>
          <p:cNvPr id="7" name="Body 225 people found the bus">
            <a:extLst xmlns:a="http://schemas.openxmlformats.org/drawingml/2006/main">
              <a:ext uri="{FF2B5EF4-FFF2-40B4-BE49-F238E27FC236}">
                <a16:creationId xmlns:a16="http://schemas.microsoft.com/office/drawing/2014/main" id="{0A3D5A46-BF7B-4EFA-AEC1-00A8FD55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810500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225 people found the business on Google.</a:t>
            </a:r>
          </a:p>
        </p:txBody>
      </p:sp>
      <p:sp>
        <p:nvSpPr>
          <p:cNvPr id="8" name="Estimated value 0">
            <a:extLst xmlns:a="http://schemas.openxmlformats.org/drawingml/2006/main">
              <a:ext uri="{FF2B5EF4-FFF2-40B4-BE49-F238E27FC236}">
                <a16:creationId xmlns:a16="http://schemas.microsoft.com/office/drawing/2014/main" id="{E8D171B1-0DF0-4852-B6DC-F320B892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0487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31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$1,112,500</a:t>
            </a:r>
          </a:p>
        </p:txBody>
      </p:sp>
      <p:sp>
        <p:nvSpPr>
          <p:cNvPr id="9" name="Case business 1">
            <a:extLst xmlns:a="http://schemas.openxmlformats.org/drawingml/2006/main">
              <a:ext uri="{FF2B5EF4-FFF2-40B4-BE49-F238E27FC236}">
                <a16:creationId xmlns:a16="http://schemas.microsoft.com/office/drawing/2014/main" id="{B5FFA9A1-611F-40B1-8BD0-AB2FB6EE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52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62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Rooster Roofers</a:t>
            </a:r>
          </a:p>
        </p:txBody>
      </p:sp>
      <p:sp>
        <p:nvSpPr>
          <p:cNvPr id="10" name="Body Roofing contractor">
            <a:extLst xmlns:a="http://schemas.openxmlformats.org/drawingml/2006/main">
              <a:ext uri="{FF2B5EF4-FFF2-40B4-BE49-F238E27FC236}">
                <a16:creationId xmlns:a16="http://schemas.microsoft.com/office/drawing/2014/main" id="{A4C0DD22-F037-45B7-8BDD-2D1FE298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672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Roofing contractor</a:t>
            </a:r>
          </a:p>
        </p:txBody>
      </p:sp>
      <p:sp>
        <p:nvSpPr>
          <p:cNvPr id="11" name="Case ranking result 1">
            <a:extLst xmlns:a="http://schemas.openxmlformats.org/drawingml/2006/main">
              <a:ext uri="{FF2B5EF4-FFF2-40B4-BE49-F238E27FC236}">
                <a16:creationId xmlns:a16="http://schemas.microsoft.com/office/drawing/2014/main" id="{0974ECED-91A7-4CB3-B749-3EB3657A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429250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19,862%</a:t>
            </a:r>
          </a:p>
        </p:txBody>
      </p:sp>
      <p:sp>
        <p:nvSpPr>
          <p:cNvPr id="12" name="Body ranking improvement in 3">
            <a:extLst xmlns:a="http://schemas.openxmlformats.org/drawingml/2006/main">
              <a:ext uri="{FF2B5EF4-FFF2-40B4-BE49-F238E27FC236}">
                <a16:creationId xmlns:a16="http://schemas.microsoft.com/office/drawing/2014/main" id="{FD8EE370-7A07-4410-B89E-8490E5F1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6667500"/>
            <a:ext cx="4810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ranking improvement in 3½ months</a:t>
            </a:r>
          </a:p>
        </p:txBody>
      </p:sp>
      <p:sp>
        <p:nvSpPr>
          <p:cNvPr id="13" name="Body 29 customer actions from">
            <a:extLst xmlns:a="http://schemas.openxmlformats.org/drawingml/2006/main">
              <a:ext uri="{FF2B5EF4-FFF2-40B4-BE49-F238E27FC236}">
                <a16:creationId xmlns:a16="http://schemas.microsoft.com/office/drawing/2014/main" id="{9B0C7189-1262-4E96-8097-9C23B6B6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7810500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29 customer actions from the campaign.</a:t>
            </a:r>
          </a:p>
        </p:txBody>
      </p:sp>
      <p:sp>
        <p:nvSpPr>
          <p:cNvPr id="14" name="Estimated value 1">
            <a:extLst xmlns:a="http://schemas.openxmlformats.org/drawingml/2006/main">
              <a:ext uri="{FF2B5EF4-FFF2-40B4-BE49-F238E27FC236}">
                <a16:creationId xmlns:a16="http://schemas.microsoft.com/office/drawing/2014/main" id="{68836736-82A1-4E54-8DF2-70EB762E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90487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31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$520,000</a:t>
            </a:r>
          </a:p>
        </p:txBody>
      </p:sp>
      <p:sp>
        <p:nvSpPr>
          <p:cNvPr id="15" name="Case business 2">
            <a:extLst xmlns:a="http://schemas.openxmlformats.org/drawingml/2006/main">
              <a:ext uri="{FF2B5EF4-FFF2-40B4-BE49-F238E27FC236}">
                <a16:creationId xmlns:a16="http://schemas.microsoft.com/office/drawing/2014/main" id="{B51718BE-2075-4092-8314-18A42532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952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62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62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The Hybrid Clinic</a:t>
            </a:r>
          </a:p>
        </p:txBody>
      </p:sp>
      <p:sp>
        <p:nvSpPr>
          <p:cNvPr id="16" name="Body Wellness center">
            <a:extLst xmlns:a="http://schemas.openxmlformats.org/drawingml/2006/main">
              <a:ext uri="{FF2B5EF4-FFF2-40B4-BE49-F238E27FC236}">
                <a16:creationId xmlns:a16="http://schemas.microsoft.com/office/drawing/2014/main" id="{A3A638A9-9919-419D-BF29-2738E55A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46672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Wellness center</a:t>
            </a:r>
          </a:p>
        </p:txBody>
      </p:sp>
      <p:sp>
        <p:nvSpPr>
          <p:cNvPr id="17" name="Case ranking result 2">
            <a:extLst xmlns:a="http://schemas.openxmlformats.org/drawingml/2006/main">
              <a:ext uri="{FF2B5EF4-FFF2-40B4-BE49-F238E27FC236}">
                <a16:creationId xmlns:a16="http://schemas.microsoft.com/office/drawing/2014/main" id="{B021532C-5BBA-442E-B392-A7BE0B54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5429250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2,674%</a:t>
            </a:r>
          </a:p>
        </p:txBody>
      </p:sp>
      <p:sp>
        <p:nvSpPr>
          <p:cNvPr id="18" name="Body ranking improvement in 3">
            <a:extLst xmlns:a="http://schemas.openxmlformats.org/drawingml/2006/main">
              <a:ext uri="{FF2B5EF4-FFF2-40B4-BE49-F238E27FC236}">
                <a16:creationId xmlns:a16="http://schemas.microsoft.com/office/drawing/2014/main" id="{55875C03-958E-4C47-A258-208BE693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6667500"/>
            <a:ext cx="4810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ranking improvement in 30 days</a:t>
            </a:r>
          </a:p>
        </p:txBody>
      </p:sp>
      <p:sp>
        <p:nvSpPr>
          <p:cNvPr id="19" name="Body 2,768 calls, clicks and ">
            <a:extLst xmlns:a="http://schemas.openxmlformats.org/drawingml/2006/main">
              <a:ext uri="{FF2B5EF4-FFF2-40B4-BE49-F238E27FC236}">
                <a16:creationId xmlns:a16="http://schemas.microsoft.com/office/drawing/2014/main" id="{FC5C2D24-52CE-48F4-8478-04010114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7810500"/>
            <a:ext cx="4810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2,768 calls, clicks and direction requests.</a:t>
            </a:r>
          </a:p>
        </p:txBody>
      </p:sp>
      <p:sp>
        <p:nvSpPr>
          <p:cNvPr id="20" name="Estimated value 2">
            <a:extLst xmlns:a="http://schemas.openxmlformats.org/drawingml/2006/main">
              <a:ext uri="{FF2B5EF4-FFF2-40B4-BE49-F238E27FC236}">
                <a16:creationId xmlns:a16="http://schemas.microsoft.com/office/drawing/2014/main" id="{C92F2BFA-33A1-4283-9AAA-D4788B20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90487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15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315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$415,200</a:t>
            </a:r>
          </a:p>
        </p:txBody>
      </p:sp>
      <p:sp>
        <p:nvSpPr>
          <p:cNvPr id="21" name="Case evidence disclosure">
            <a:extLst xmlns:a="http://schemas.openxmlformats.org/drawingml/2006/main">
              <a:ext uri="{FF2B5EF4-FFF2-40B4-BE49-F238E27FC236}">
                <a16:creationId xmlns:a16="http://schemas.microsoft.com/office/drawing/2014/main" id="{BD16B66E-A9D5-4230-A467-781BEAA0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715500"/>
            <a:ext cx="1600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Provider-reported examples, not CBB client results. Dollar amounts are estimated potential revenue from provider materials, not verified sales. Individual outcomes vary.</a:t>
            </a:r>
          </a:p>
        </p:txBody>
      </p:sp>
    </p:spTree>
    <p:extLst>
      <p:ext uri="{BB962C8B-B14F-4D97-AF65-F5344CB8AC3E}">
        <p14:creationId xmlns:p14="http://schemas.microsoft.com/office/powerpoint/2010/main" val="2538536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B931165E-E99D-4461-9F19-02467A9F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HOW TO READ THE RESULTS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A84C3F17-6C66-4477-BF76-235007DB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76375"/>
            <a:ext cx="1619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5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555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Visibility, location by location</a:t>
            </a:r>
          </a:p>
        </p:txBody>
      </p:sp>
      <p:sp>
        <p:nvSpPr>
          <p:cNvPr id="3" name="Body Each number represents a">
            <a:extLst xmlns:a="http://schemas.openxmlformats.org/drawingml/2006/main">
              <a:ext uri="{FF2B5EF4-FFF2-40B4-BE49-F238E27FC236}">
                <a16:creationId xmlns:a16="http://schemas.microsoft.com/office/drawing/2014/main" id="{C6CFDD97-A10F-4CBC-BCBA-B1A781A1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1590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3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32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Each number represents a Google Maps ranking position at a location on the grid.</a:t>
            </a:r>
          </a:p>
        </p:txBody>
      </p:sp>
      <p:sp>
        <p:nvSpPr>
          <p:cNvPr id="4" name="Before label">
            <a:extLst xmlns:a="http://schemas.openxmlformats.org/drawingml/2006/main">
              <a:ext uri="{FF2B5EF4-FFF2-40B4-BE49-F238E27FC236}">
                <a16:creationId xmlns:a16="http://schemas.microsoft.com/office/drawing/2014/main" id="{9CD4947E-88A2-463B-869B-6B9A7888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1475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BEFORE</a:t>
            </a:r>
          </a:p>
        </p:txBody>
      </p:sp>
      <p:sp>
        <p:nvSpPr>
          <p:cNvPr id="5" name="After label">
            <a:extLst xmlns:a="http://schemas.openxmlformats.org/drawingml/2006/main">
              <a:ext uri="{FF2B5EF4-FFF2-40B4-BE49-F238E27FC236}">
                <a16:creationId xmlns:a16="http://schemas.microsoft.com/office/drawing/2014/main" id="{AA9D6C93-AF18-4F73-8BA6-9DD91B3C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1475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AFTER 30 DAYS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A4554-98F2-4C72-9BE9-AE06C29F01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bcf5a23224a40"/>
          <a:stretch xmlns:a="http://schemas.openxmlformats.org/drawingml/2006/main"/>
        </p:blipFill>
        <p:spPr>
          <a:xfrm xmlns:a="http://schemas.openxmlformats.org/drawingml/2006/main">
            <a:off x="1905000" y="4333875"/>
            <a:ext cx="5429250" cy="54292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337E0-DF61-4030-9DB6-EC2C85255B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cf26a36c9497c"/>
          <a:stretch xmlns:a="http://schemas.openxmlformats.org/drawingml/2006/main"/>
        </p:blipFill>
        <p:spPr>
          <a:xfrm xmlns:a="http://schemas.openxmlformats.org/drawingml/2006/main">
            <a:off x="10287000" y="4333875"/>
            <a:ext cx="5429250" cy="5429250"/>
          </a:xfrm>
          <a:prstGeom xmlns:a="http://schemas.openxmlformats.org/drawingml/2006/main" prst="rect">
            <a:avLst/>
          </a:prstGeom>
        </p:spPr>
      </p:pic>
      <p:sp>
        <p:nvSpPr>
          <p:cNvPr id="8" name="Evidence caveat">
            <a:extLst xmlns:a="http://schemas.openxmlformats.org/drawingml/2006/main">
              <a:ext uri="{FF2B5EF4-FFF2-40B4-BE49-F238E27FC236}">
                <a16:creationId xmlns:a16="http://schemas.microsoft.com/office/drawing/2014/main" id="{C83156F2-6E2D-4A9A-B794-A9B6E457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906000"/>
            <a:ext cx="1609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Home Crush, before and after 30 days. Provider-reported example, not a CBB client report. Results vary.</a:t>
            </a:r>
          </a:p>
        </p:txBody>
      </p:sp>
    </p:spTree>
    <p:extLst>
      <p:ext uri="{BB962C8B-B14F-4D97-AF65-F5344CB8AC3E}">
        <p14:creationId xmlns:p14="http://schemas.microsoft.com/office/powerpoint/2010/main" val="18119740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EFE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34477547-C546-4CB5-B7CC-18AF6AC0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THE CBB EXPERIENCE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C5E1660D-01DA-4023-9DBA-CF73BCF2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16097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 managed service,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7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57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with your business in view</a:t>
            </a:r>
          </a:p>
        </p:txBody>
      </p:sp>
      <p:sp>
        <p:nvSpPr>
          <p:cNvPr id="3" name="Service number 0">
            <a:extLst xmlns:a="http://schemas.openxmlformats.org/drawingml/2006/main">
              <a:ext uri="{FF2B5EF4-FFF2-40B4-BE49-F238E27FC236}">
                <a16:creationId xmlns:a16="http://schemas.microsoft.com/office/drawing/2014/main" id="{4249AF50-7C09-4824-81C9-095A886F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386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01</a:t>
            </a:r>
          </a:p>
        </p:txBody>
      </p:sp>
      <p:sp>
        <p:nvSpPr>
          <p:cNvPr id="4" name="Service title 0">
            <a:extLst xmlns:a="http://schemas.openxmlformats.org/drawingml/2006/main">
              <a:ext uri="{FF2B5EF4-FFF2-40B4-BE49-F238E27FC236}">
                <a16:creationId xmlns:a16="http://schemas.microsoft.com/office/drawing/2014/main" id="{F6717E80-7065-4C21-83D4-1BF102F6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Guided onboarding</a:t>
            </a:r>
          </a:p>
        </p:txBody>
      </p:sp>
      <p:sp>
        <p:nvSpPr>
          <p:cNvPr id="5" name="Body Business details and the">
            <a:extLst xmlns:a="http://schemas.openxmlformats.org/drawingml/2006/main">
              <a:ext uri="{FF2B5EF4-FFF2-40B4-BE49-F238E27FC236}">
                <a16:creationId xmlns:a16="http://schemas.microsoft.com/office/drawing/2014/main" id="{F26F1ADC-C181-4982-BFDA-B30F746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53125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Business details and the account access needed to begin.</a:t>
            </a:r>
          </a:p>
        </p:txBody>
      </p:sp>
      <p:sp>
        <p:nvSpPr>
          <p:cNvPr id="6" name="Service number 1">
            <a:extLst xmlns:a="http://schemas.openxmlformats.org/drawingml/2006/main">
              <a:ext uri="{FF2B5EF4-FFF2-40B4-BE49-F238E27FC236}">
                <a16:creationId xmlns:a16="http://schemas.microsoft.com/office/drawing/2014/main" id="{3B8B98A0-D6F5-4F09-AAB3-BB645341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386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02</a:t>
            </a:r>
          </a:p>
        </p:txBody>
      </p:sp>
      <p:sp>
        <p:nvSpPr>
          <p:cNvPr id="7" name="Service title 1">
            <a:extLst xmlns:a="http://schemas.openxmlformats.org/drawingml/2006/main">
              <a:ext uri="{FF2B5EF4-FFF2-40B4-BE49-F238E27FC236}">
                <a16:creationId xmlns:a16="http://schemas.microsoft.com/office/drawing/2014/main" id="{E1B1C4C0-D757-4718-A2CC-9B258028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14350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Your preferences</a:t>
            </a:r>
          </a:p>
        </p:txBody>
      </p:sp>
      <p:sp>
        <p:nvSpPr>
          <p:cNvPr id="8" name="Body Tone, priorities and con">
            <a:extLst xmlns:a="http://schemas.openxmlformats.org/drawingml/2006/main">
              <a:ext uri="{FF2B5EF4-FFF2-40B4-BE49-F238E27FC236}">
                <a16:creationId xmlns:a16="http://schemas.microsoft.com/office/drawing/2014/main" id="{7D77D980-95C7-4365-857B-256EE85E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953125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Tone, priorities and content approval settings.</a:t>
            </a:r>
          </a:p>
        </p:txBody>
      </p:sp>
      <p:sp>
        <p:nvSpPr>
          <p:cNvPr id="9" name="Service number 2">
            <a:extLst xmlns:a="http://schemas.openxmlformats.org/drawingml/2006/main">
              <a:ext uri="{FF2B5EF4-FFF2-40B4-BE49-F238E27FC236}">
                <a16:creationId xmlns:a16="http://schemas.microsoft.com/office/drawing/2014/main" id="{7E0D091E-8972-49AE-89DD-03479A53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42386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03</a:t>
            </a:r>
          </a:p>
        </p:txBody>
      </p:sp>
      <p:sp>
        <p:nvSpPr>
          <p:cNvPr id="10" name="Service title 2">
            <a:extLst xmlns:a="http://schemas.openxmlformats.org/drawingml/2006/main">
              <a:ext uri="{FF2B5EF4-FFF2-40B4-BE49-F238E27FC236}">
                <a16:creationId xmlns:a16="http://schemas.microsoft.com/office/drawing/2014/main" id="{E4EBDEC4-70E4-4FBA-89A3-694CB82F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514350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Business-specific content</a:t>
            </a:r>
          </a:p>
        </p:txBody>
      </p:sp>
      <p:sp>
        <p:nvSpPr>
          <p:cNvPr id="11" name="Body AI-assisted content base">
            <a:extLst xmlns:a="http://schemas.openxmlformats.org/drawingml/2006/main">
              <a:ext uri="{FF2B5EF4-FFF2-40B4-BE49-F238E27FC236}">
                <a16:creationId xmlns:a16="http://schemas.microsoft.com/office/drawing/2014/main" id="{4CFFD4A1-E333-4630-A33D-AF2F001D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5953125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AI-assisted content based on your services and location.</a:t>
            </a:r>
          </a:p>
        </p:txBody>
      </p:sp>
      <p:sp>
        <p:nvSpPr>
          <p:cNvPr id="12" name="Service number 3">
            <a:extLst xmlns:a="http://schemas.openxmlformats.org/drawingml/2006/main">
              <a:ext uri="{FF2B5EF4-FFF2-40B4-BE49-F238E27FC236}">
                <a16:creationId xmlns:a16="http://schemas.microsoft.com/office/drawing/2014/main" id="{05FBB924-0EEC-41B2-A66C-CA8C27A2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0485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04</a:t>
            </a:r>
          </a:p>
        </p:txBody>
      </p:sp>
      <p:sp>
        <p:nvSpPr>
          <p:cNvPr id="13" name="Service title 3">
            <a:extLst xmlns:a="http://schemas.openxmlformats.org/drawingml/2006/main">
              <a:ext uri="{FF2B5EF4-FFF2-40B4-BE49-F238E27FC236}">
                <a16:creationId xmlns:a16="http://schemas.microsoft.com/office/drawing/2014/main" id="{EED14D26-265E-4C0A-8DE1-AFF46068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953375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Connected activity</a:t>
            </a:r>
          </a:p>
        </p:txBody>
      </p:sp>
      <p:sp>
        <p:nvSpPr>
          <p:cNvPr id="14" name="Body Supported profiles and c">
            <a:extLst xmlns:a="http://schemas.openxmlformats.org/drawingml/2006/main">
              <a:ext uri="{FF2B5EF4-FFF2-40B4-BE49-F238E27FC236}">
                <a16:creationId xmlns:a16="http://schemas.microsoft.com/office/drawing/2014/main" id="{38FD6036-B6DC-4109-BE36-12AFE9D2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763000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Supported profiles and channels within the configured service.</a:t>
            </a:r>
          </a:p>
        </p:txBody>
      </p:sp>
      <p:sp>
        <p:nvSpPr>
          <p:cNvPr id="15" name="Service number 4">
            <a:extLst xmlns:a="http://schemas.openxmlformats.org/drawingml/2006/main">
              <a:ext uri="{FF2B5EF4-FFF2-40B4-BE49-F238E27FC236}">
                <a16:creationId xmlns:a16="http://schemas.microsoft.com/office/drawing/2014/main" id="{E285C6DC-946A-4C2A-A48B-3C38AB4D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70485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05</a:t>
            </a:r>
          </a:p>
        </p:txBody>
      </p:sp>
      <p:sp>
        <p:nvSpPr>
          <p:cNvPr id="16" name="Service title 4">
            <a:extLst xmlns:a="http://schemas.openxmlformats.org/drawingml/2006/main">
              <a:ext uri="{FF2B5EF4-FFF2-40B4-BE49-F238E27FC236}">
                <a16:creationId xmlns:a16="http://schemas.microsoft.com/office/drawing/2014/main" id="{709728D8-5BB5-43D6-B6FF-979EE39E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7953375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Competitor intelligence</a:t>
            </a:r>
          </a:p>
        </p:txBody>
      </p:sp>
      <p:sp>
        <p:nvSpPr>
          <p:cNvPr id="17" name="Body Ranking reports, competi">
            <a:extLst xmlns:a="http://schemas.openxmlformats.org/drawingml/2006/main">
              <a:ext uri="{FF2B5EF4-FFF2-40B4-BE49-F238E27FC236}">
                <a16:creationId xmlns:a16="http://schemas.microsoft.com/office/drawing/2014/main" id="{856311D9-EE7F-4BEC-8F79-B3827C8A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8763000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Ranking reports, competitor analysis and strategy adjustments.</a:t>
            </a:r>
          </a:p>
        </p:txBody>
      </p:sp>
      <p:sp>
        <p:nvSpPr>
          <p:cNvPr id="18" name="Service number 5">
            <a:extLst xmlns:a="http://schemas.openxmlformats.org/drawingml/2006/main">
              <a:ext uri="{FF2B5EF4-FFF2-40B4-BE49-F238E27FC236}">
                <a16:creationId xmlns:a16="http://schemas.microsoft.com/office/drawing/2014/main" id="{1A5AB364-3204-49A3-862D-377233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70485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90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390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06</a:t>
            </a:r>
          </a:p>
        </p:txBody>
      </p:sp>
      <p:sp>
        <p:nvSpPr>
          <p:cNvPr id="19" name="Service title 5">
            <a:extLst xmlns:a="http://schemas.openxmlformats.org/drawingml/2006/main">
              <a:ext uri="{FF2B5EF4-FFF2-40B4-BE49-F238E27FC236}">
                <a16:creationId xmlns:a16="http://schemas.microsoft.com/office/drawing/2014/main" id="{08EB9AD6-7D35-408D-A4E9-5C25C3D6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7953375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4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Proactive support</a:t>
            </a:r>
          </a:p>
        </p:txBody>
      </p:sp>
      <p:sp>
        <p:nvSpPr>
          <p:cNvPr id="20" name="Body AI account updates, appr">
            <a:extLst xmlns:a="http://schemas.openxmlformats.org/drawingml/2006/main">
              <a:ext uri="{FF2B5EF4-FFF2-40B4-BE49-F238E27FC236}">
                <a16:creationId xmlns:a16="http://schemas.microsoft.com/office/drawing/2014/main" id="{1238947B-8252-4178-8482-3ADB9C3B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763000"/>
            <a:ext cx="4714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AI account updates, approval requests and reminders, backed by CBB.</a:t>
            </a:r>
          </a:p>
        </p:txBody>
      </p:sp>
    </p:spTree>
    <p:extLst>
      <p:ext uri="{BB962C8B-B14F-4D97-AF65-F5344CB8AC3E}">
        <p14:creationId xmlns:p14="http://schemas.microsoft.com/office/powerpoint/2010/main" val="18861471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90C07C10-2DE6-43A7-99DB-9CAE5A9B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REVIEWS OF THE TECHNOLOGY BEHIND MAPSCORE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6D7F0CFE-CCB3-49D0-8D14-BDDAF9CE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76375"/>
            <a:ext cx="16097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5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577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What customers say</a:t>
            </a:r>
          </a:p>
        </p:txBody>
      </p:sp>
      <p:sp>
        <p:nvSpPr>
          <p:cNvPr id="3" name="Provider statistic 0">
            <a:extLst xmlns:a="http://schemas.openxmlformats.org/drawingml/2006/main">
              <a:ext uri="{FF2B5EF4-FFF2-40B4-BE49-F238E27FC236}">
                <a16:creationId xmlns:a16="http://schemas.microsoft.com/office/drawing/2014/main" id="{A392E96F-01EC-4D95-B16E-6C870993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76625"/>
            <a:ext cx="4953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63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4.9/5</a:t>
            </a:r>
          </a:p>
        </p:txBody>
      </p:sp>
      <p:sp>
        <p:nvSpPr>
          <p:cNvPr id="4" name="Body Provider-reported averag">
            <a:extLst xmlns:a="http://schemas.openxmlformats.org/drawingml/2006/main">
              <a:ext uri="{FF2B5EF4-FFF2-40B4-BE49-F238E27FC236}">
                <a16:creationId xmlns:a16="http://schemas.microsoft.com/office/drawing/2014/main" id="{8D09993C-2F2D-461A-976F-22ECAE8D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Provider-reported average rating</a:t>
            </a:r>
          </a:p>
        </p:txBody>
      </p:sp>
      <p:sp>
        <p:nvSpPr>
          <p:cNvPr id="5" name="Provider statistic 1">
            <a:extLst xmlns:a="http://schemas.openxmlformats.org/drawingml/2006/main">
              <a:ext uri="{FF2B5EF4-FFF2-40B4-BE49-F238E27FC236}">
                <a16:creationId xmlns:a16="http://schemas.microsoft.com/office/drawing/2014/main" id="{F3E9885E-24E9-4FDC-9BB3-B2141850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76625"/>
            <a:ext cx="4953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63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1,000+</a:t>
            </a:r>
          </a:p>
        </p:txBody>
      </p:sp>
      <p:sp>
        <p:nvSpPr>
          <p:cNvPr id="6" name="Body Reviews across Google, T">
            <a:extLst xmlns:a="http://schemas.openxmlformats.org/drawingml/2006/main">
              <a:ext uri="{FF2B5EF4-FFF2-40B4-BE49-F238E27FC236}">
                <a16:creationId xmlns:a16="http://schemas.microsoft.com/office/drawing/2014/main" id="{99AEB34A-048C-4847-AEDC-E94F9DA4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8101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Reviews across Google, Trustpilot and G2</a:t>
            </a:r>
          </a:p>
        </p:txBody>
      </p:sp>
      <p:sp>
        <p:nvSpPr>
          <p:cNvPr id="7" name="Provider statistic 2">
            <a:extLst xmlns:a="http://schemas.openxmlformats.org/drawingml/2006/main">
              <a:ext uri="{FF2B5EF4-FFF2-40B4-BE49-F238E27FC236}">
                <a16:creationId xmlns:a16="http://schemas.microsoft.com/office/drawing/2014/main" id="{61488E60-C7CB-43F9-A4C9-289065E6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476625"/>
            <a:ext cx="4953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3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63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13,000+</a:t>
            </a:r>
          </a:p>
        </p:txBody>
      </p:sp>
      <p:sp>
        <p:nvSpPr>
          <p:cNvPr id="8" name="Body Businesses using the technology">
            <a:extLst xmlns:a="http://schemas.openxmlformats.org/drawingml/2006/main">
              <a:ext uri="{FF2B5EF4-FFF2-40B4-BE49-F238E27FC236}">
                <a16:creationId xmlns:a16="http://schemas.microsoft.com/office/drawing/2014/main" id="{FAA314C4-B583-4A5D-B823-6E7F2F19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48101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1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Businesses using the technology</a:t>
            </a:r>
          </a:p>
        </p:txBody>
      </p:sp>
      <p:sp>
        <p:nvSpPr>
          <p:cNvPr id="9" name="Will Higgins review">
            <a:extLst xmlns:a="http://schemas.openxmlformats.org/drawingml/2006/main">
              <a:ext uri="{FF2B5EF4-FFF2-40B4-BE49-F238E27FC236}">
                <a16:creationId xmlns:a16="http://schemas.microsoft.com/office/drawing/2014/main" id="{FDEB191C-251F-43A1-8B3D-2D351280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715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36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“…now I’m number 2 in my market.”</a:t>
            </a:r>
          </a:p>
        </p:txBody>
      </p:sp>
      <p:sp>
        <p:nvSpPr>
          <p:cNvPr id="10" name="Will attribution">
            <a:extLst xmlns:a="http://schemas.openxmlformats.org/drawingml/2006/main">
              <a:ext uri="{FF2B5EF4-FFF2-40B4-BE49-F238E27FC236}">
                <a16:creationId xmlns:a16="http://schemas.microsoft.com/office/drawing/2014/main" id="{80850553-68DE-4990-BDBE-BD5CD467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810625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D5A756"/>
                </a:solidFill>
                <a:latin typeface="Manrope"/>
                <a:ea typeface="Manrope"/>
                <a:cs typeface="Manrope"/>
              </a:rPr>
              <a:t>Will Higgins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D5A756"/>
                </a:solidFill>
                <a:latin typeface="Manrope"/>
                <a:ea typeface="Manrope"/>
                <a:cs typeface="Manrope"/>
              </a:rPr>
              <a:t>Realtor</a:t>
            </a:r>
          </a:p>
        </p:txBody>
      </p:sp>
      <p:sp>
        <p:nvSpPr>
          <p:cNvPr id="11" name="Ryan Fullarton review">
            <a:extLst xmlns:a="http://schemas.openxmlformats.org/drawingml/2006/main">
              <a:ext uri="{FF2B5EF4-FFF2-40B4-BE49-F238E27FC236}">
                <a16:creationId xmlns:a16="http://schemas.microsoft.com/office/drawing/2014/main" id="{DFFA3F87-9D5D-4A75-B570-6CFA4886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81750"/>
            <a:ext cx="723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36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“an absolute game changer for my agency.”</a:t>
            </a:r>
          </a:p>
        </p:txBody>
      </p:sp>
      <p:sp>
        <p:nvSpPr>
          <p:cNvPr id="12" name="Ryan attribution">
            <a:extLst xmlns:a="http://schemas.openxmlformats.org/drawingml/2006/main">
              <a:ext uri="{FF2B5EF4-FFF2-40B4-BE49-F238E27FC236}">
                <a16:creationId xmlns:a16="http://schemas.microsoft.com/office/drawing/2014/main" id="{715F0534-56D7-4721-A29F-9A2DD8FE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8810625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defPPr>
            <a:lvl1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D5A756"/>
                </a:solidFill>
                <a:latin typeface="Manrope"/>
                <a:ea typeface="Manrope"/>
                <a:cs typeface="Manrope"/>
              </a:rPr>
              <a:t>Ryan Fullarton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D5A756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D5A756"/>
                </a:solidFill>
                <a:latin typeface="Manrope"/>
                <a:ea typeface="Manrope"/>
                <a:cs typeface="Manrope"/>
              </a:rPr>
              <a:t>Agency owner</a:t>
            </a:r>
          </a:p>
        </p:txBody>
      </p:sp>
      <p:sp>
        <p:nvSpPr>
          <p:cNvPr id="13" name="Review attribution">
            <a:extLst xmlns:a="http://schemas.openxmlformats.org/drawingml/2006/main">
              <a:ext uri="{FF2B5EF4-FFF2-40B4-BE49-F238E27FC236}">
                <a16:creationId xmlns:a16="http://schemas.microsoft.com/office/drawing/2014/main" id="{132B68F1-8759-4588-BE41-139485A7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906000"/>
            <a:ext cx="1600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50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Excerpts from customer reviews of the technology behind MapScore. Provider ratings and customer counts are not CBB ratings or client counts.</a:t>
            </a:r>
          </a:p>
        </p:txBody>
      </p:sp>
    </p:spTree>
    <p:extLst>
      <p:ext uri="{BB962C8B-B14F-4D97-AF65-F5344CB8AC3E}">
        <p14:creationId xmlns:p14="http://schemas.microsoft.com/office/powerpoint/2010/main" val="1626549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EFE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CEC16FCC-103B-4E8C-93D3-9B924CE5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A2732F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A2732F"/>
                </a:solidFill>
                <a:latin typeface="Sora"/>
                <a:ea typeface="Sora"/>
                <a:cs typeface="Sora"/>
              </a:rPr>
              <a:t>THE MAPSCORE PLAN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9B4BC42E-0FCB-407C-A92F-C110063D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61912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637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Every service.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6375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6375" b="1">
                <a:solidFill>
                  <a:srgbClr val="171B20"/>
                </a:solidFill>
                <a:latin typeface="Sora"/>
                <a:ea typeface="Sora"/>
                <a:cs typeface="Sora"/>
              </a:rPr>
              <a:t>One plan.</a:t>
            </a:r>
          </a:p>
        </p:txBody>
      </p:sp>
      <p:sp>
        <p:nvSpPr>
          <p:cNvPr id="3" name="Body All MapScore services, with">
            <a:extLst xmlns:a="http://schemas.openxmlformats.org/drawingml/2006/main">
              <a:ext uri="{FF2B5EF4-FFF2-40B4-BE49-F238E27FC236}">
                <a16:creationId xmlns:a16="http://schemas.microsoft.com/office/drawing/2014/main" id="{8B1F072F-7344-4341-A3F8-D01BB8FA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85800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850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850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Everything here is included in one MapScore plan.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F06B1-40A3-4B6A-9AF4-1B99743BC9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bb29cff5f4c21"/>
          <a:stretch xmlns:a="http://schemas.openxmlformats.org/drawingml/2006/main"/>
        </p:blipFill>
        <p:spPr>
          <a:xfrm xmlns:a="http://schemas.openxmlformats.org/drawingml/2006/main">
            <a:off x="8096250" y="2190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5" name="Feature title 0">
            <a:extLst xmlns:a="http://schemas.openxmlformats.org/drawingml/2006/main">
              <a:ext uri="{FF2B5EF4-FFF2-40B4-BE49-F238E27FC236}">
                <a16:creationId xmlns:a16="http://schemas.microsoft.com/office/drawing/2014/main" id="{F69D0C38-26EE-45C2-9FBF-FFE17073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907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Profile management</a:t>
            </a:r>
          </a:p>
        </p:txBody>
      </p:sp>
      <p:sp>
        <p:nvSpPr>
          <p:cNvPr id="6" name="Body Business details, servic">
            <a:extLst xmlns:a="http://schemas.openxmlformats.org/drawingml/2006/main">
              <a:ext uri="{FF2B5EF4-FFF2-40B4-BE49-F238E27FC236}">
                <a16:creationId xmlns:a16="http://schemas.microsoft.com/office/drawing/2014/main" id="{366C64CD-AA6A-4A50-BC12-7BE0D114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Business details, services and content updates.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32315-892C-4E44-83C6-F89A3CC459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b5eb76c714428a"/>
          <a:stretch xmlns:a="http://schemas.openxmlformats.org/drawingml/2006/main"/>
        </p:blipFill>
        <p:spPr>
          <a:xfrm xmlns:a="http://schemas.openxmlformats.org/drawingml/2006/main">
            <a:off x="13049250" y="2190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8" name="Feature title 1">
            <a:extLst xmlns:a="http://schemas.openxmlformats.org/drawingml/2006/main">
              <a:ext uri="{FF2B5EF4-FFF2-40B4-BE49-F238E27FC236}">
                <a16:creationId xmlns:a16="http://schemas.microsoft.com/office/drawing/2014/main" id="{8E851FB2-FBC1-47E9-9FD0-9264E85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1907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Review management</a:t>
            </a:r>
          </a:p>
        </p:txBody>
      </p:sp>
      <p:sp>
        <p:nvSpPr>
          <p:cNvPr id="9" name="Body Review requests and AI-a">
            <a:extLst xmlns:a="http://schemas.openxmlformats.org/drawingml/2006/main">
              <a:ext uri="{FF2B5EF4-FFF2-40B4-BE49-F238E27FC236}">
                <a16:creationId xmlns:a16="http://schemas.microsoft.com/office/drawing/2014/main" id="{B8086927-342F-4A00-BE19-100A8E18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309562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Review requests and AI-assisted replies.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D07832-51D1-4F4B-9897-9F6BBE67D5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f7edd75d2f404c"/>
          <a:stretch xmlns:a="http://schemas.openxmlformats.org/drawingml/2006/main"/>
        </p:blipFill>
        <p:spPr>
          <a:xfrm xmlns:a="http://schemas.openxmlformats.org/drawingml/2006/main">
            <a:off x="8096250" y="400050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1" name="Feature title 2">
            <a:extLst xmlns:a="http://schemas.openxmlformats.org/drawingml/2006/main">
              <a:ext uri="{FF2B5EF4-FFF2-40B4-BE49-F238E27FC236}">
                <a16:creationId xmlns:a16="http://schemas.microsoft.com/office/drawing/2014/main" id="{F9A9A8F4-BBF0-49ED-A140-3FF6F37F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005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Existing-website SEO</a:t>
            </a:r>
          </a:p>
        </p:txBody>
      </p:sp>
      <p:sp>
        <p:nvSpPr>
          <p:cNvPr id="12" name="Body SEO recommendations, rev">
            <a:extLst xmlns:a="http://schemas.openxmlformats.org/drawingml/2006/main">
              <a:ext uri="{FF2B5EF4-FFF2-40B4-BE49-F238E27FC236}">
                <a16:creationId xmlns:a16="http://schemas.microsoft.com/office/drawing/2014/main" id="{5A82F472-8FEE-4072-A59B-D352A350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053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SEO recommendations, review, photo and post widgets.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1074A-E5F7-4E0C-9123-E86F7D85F1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44750ea0640cb"/>
          <a:stretch xmlns:a="http://schemas.openxmlformats.org/drawingml/2006/main"/>
        </p:blipFill>
        <p:spPr>
          <a:xfrm xmlns:a="http://schemas.openxmlformats.org/drawingml/2006/main">
            <a:off x="13049250" y="400050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4" name="Feature title 3">
            <a:extLst xmlns:a="http://schemas.openxmlformats.org/drawingml/2006/main">
              <a:ext uri="{FF2B5EF4-FFF2-40B4-BE49-F238E27FC236}">
                <a16:creationId xmlns:a16="http://schemas.microsoft.com/office/drawing/2014/main" id="{8BEB80D2-769F-4E3D-9A7D-4C0393B8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40005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Directory citations</a:t>
            </a:r>
          </a:p>
        </p:txBody>
      </p:sp>
      <p:sp>
        <p:nvSpPr>
          <p:cNvPr id="15" name="Body Citation creation, listi">
            <a:extLst xmlns:a="http://schemas.openxmlformats.org/drawingml/2006/main">
              <a:ext uri="{FF2B5EF4-FFF2-40B4-BE49-F238E27FC236}">
                <a16:creationId xmlns:a16="http://schemas.microsoft.com/office/drawing/2014/main" id="{8D39E4FF-DC13-4E11-B749-9C7926B7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49053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Citation creation, listing sync and business updates.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FE064-443E-4FAB-9A53-BDDDD893F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82693a56c4d36"/>
          <a:stretch xmlns:a="http://schemas.openxmlformats.org/drawingml/2006/main"/>
        </p:blipFill>
        <p:spPr>
          <a:xfrm xmlns:a="http://schemas.openxmlformats.org/drawingml/2006/main">
            <a:off x="8096250" y="58102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7" name="Feature title 4">
            <a:extLst xmlns:a="http://schemas.openxmlformats.org/drawingml/2006/main">
              <a:ext uri="{FF2B5EF4-FFF2-40B4-BE49-F238E27FC236}">
                <a16:creationId xmlns:a16="http://schemas.microsoft.com/office/drawing/2014/main" id="{7BA56803-ACAA-458D-9912-50FD8F49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8102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Video content</a:t>
            </a:r>
          </a:p>
        </p:txBody>
      </p:sp>
      <p:sp>
        <p:nvSpPr>
          <p:cNvPr id="18" name="Body Video creation, YouTube ">
            <a:extLst xmlns:a="http://schemas.openxmlformats.org/drawingml/2006/main">
              <a:ext uri="{FF2B5EF4-FFF2-40B4-BE49-F238E27FC236}">
                <a16:creationId xmlns:a16="http://schemas.microsoft.com/office/drawing/2014/main" id="{48169452-FBEE-4FA0-85C9-11BE83CB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71512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Video creation, YouTube and TikTok publishing.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B621A2-51E9-4BEE-B342-4B6CBF2693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59b3fad6c45a7"/>
          <a:stretch xmlns:a="http://schemas.openxmlformats.org/drawingml/2006/main"/>
        </p:blipFill>
        <p:spPr>
          <a:xfrm xmlns:a="http://schemas.openxmlformats.org/drawingml/2006/main">
            <a:off x="13049250" y="58102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20" name="Feature title 5">
            <a:extLst xmlns:a="http://schemas.openxmlformats.org/drawingml/2006/main">
              <a:ext uri="{FF2B5EF4-FFF2-40B4-BE49-F238E27FC236}">
                <a16:creationId xmlns:a16="http://schemas.microsoft.com/office/drawing/2014/main" id="{5146E514-66D8-491B-A60F-7C9AC56D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58102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Social publishing</a:t>
            </a:r>
          </a:p>
        </p:txBody>
      </p:sp>
      <p:sp>
        <p:nvSpPr>
          <p:cNvPr id="21" name="Body Posts for Facebook, Inst">
            <a:extLst xmlns:a="http://schemas.openxmlformats.org/drawingml/2006/main">
              <a:ext uri="{FF2B5EF4-FFF2-40B4-BE49-F238E27FC236}">
                <a16:creationId xmlns:a16="http://schemas.microsoft.com/office/drawing/2014/main" id="{A7A68678-D46E-4E81-9B9A-E8DBE26D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671512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Posts for Facebook, Instagram and LinkedIn.</a:t>
            </a:r>
          </a:p>
        </p:txBody>
      </p:sp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214154-62AE-476B-8826-A8623560D9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e44f64a7b4639"/>
          <a:stretch xmlns:a="http://schemas.openxmlformats.org/drawingml/2006/main"/>
        </p:blipFill>
        <p:spPr>
          <a:xfrm xmlns:a="http://schemas.openxmlformats.org/drawingml/2006/main">
            <a:off x="8096250" y="762000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23" name="Feature title 6">
            <a:extLst xmlns:a="http://schemas.openxmlformats.org/drawingml/2006/main">
              <a:ext uri="{FF2B5EF4-FFF2-40B4-BE49-F238E27FC236}">
                <a16:creationId xmlns:a16="http://schemas.microsoft.com/office/drawing/2014/main" id="{7840FEE9-9416-4B10-9559-80BA48B7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76200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AI search visibility</a:t>
            </a:r>
          </a:p>
        </p:txBody>
      </p:sp>
      <p:sp>
        <p:nvSpPr>
          <p:cNvPr id="24" name="Body Visibility on ChatGPT, G">
            <a:extLst xmlns:a="http://schemas.openxmlformats.org/drawingml/2006/main">
              <a:ext uri="{FF2B5EF4-FFF2-40B4-BE49-F238E27FC236}">
                <a16:creationId xmlns:a16="http://schemas.microsoft.com/office/drawing/2014/main" id="{CFCDC531-FD34-4D5E-92FE-3EF41A56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5248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Visibility on ChatGPT, Gemini and other AI platforms.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776D41-BD40-4FCC-BAA2-F9CBB869A7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b9adfa01846f4"/>
          <a:stretch xmlns:a="http://schemas.openxmlformats.org/drawingml/2006/main"/>
        </p:blipFill>
        <p:spPr>
          <a:xfrm xmlns:a="http://schemas.openxmlformats.org/drawingml/2006/main">
            <a:off x="13049250" y="762000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26" name="Feature title 7">
            <a:extLst xmlns:a="http://schemas.openxmlformats.org/drawingml/2006/main">
              <a:ext uri="{FF2B5EF4-FFF2-40B4-BE49-F238E27FC236}">
                <a16:creationId xmlns:a16="http://schemas.microsoft.com/office/drawing/2014/main" id="{7A189453-BC1F-4029-B517-4AB9F1BF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76200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defPPr>
            <a:lvl1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1pPr>
            <a:lvl2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2pPr>
            <a:lvl3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3pPr>
            <a:lvl4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4pPr>
            <a:lvl5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5pPr>
            <a:lvl6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6pPr>
            <a:lvl7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7pPr>
            <a:lvl8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8pPr>
            <a:lvl9pPr algn="l"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100" b="1">
                <a:solidFill>
                  <a:srgbClr val="171B20"/>
                </a:solidFill>
                <a:latin typeface="Sora"/>
                <a:ea typeface="Sora"/>
                <a:cs typeface="Sora"/>
              </a:defRPr>
            </a:pPr>
            <a:r>
              <a:rPr sz="2100" b="1">
                <a:solidFill>
                  <a:srgbClr val="171B20"/>
                </a:solidFill>
                <a:latin typeface="Sora"/>
                <a:ea typeface="Sora"/>
                <a:cs typeface="Sora"/>
              </a:rPr>
              <a:t>Reports and heatmaps</a:t>
            </a:r>
          </a:p>
        </p:txBody>
      </p:sp>
      <p:sp>
        <p:nvSpPr>
          <p:cNvPr id="27" name="Body Heatmaps, keyword tracki">
            <a:extLst xmlns:a="http://schemas.openxmlformats.org/drawingml/2006/main">
              <a:ext uri="{FF2B5EF4-FFF2-40B4-BE49-F238E27FC236}">
                <a16:creationId xmlns:a16="http://schemas.microsoft.com/office/drawing/2014/main" id="{2AC4A188-282A-448C-A176-6098BA78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8524875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20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Heatmaps, keyword tracking, AI reports and action logs.</a:t>
            </a:r>
          </a:p>
        </p:txBody>
      </p:sp>
      <p:sp>
        <p:nvSpPr>
          <p:cNvPr id="28" name="Plan qualifier">
            <a:extLst xmlns:a="http://schemas.openxmlformats.org/drawingml/2006/main">
              <a:ext uri="{FF2B5EF4-FFF2-40B4-BE49-F238E27FC236}">
                <a16:creationId xmlns:a16="http://schemas.microsoft.com/office/drawing/2014/main" id="{960BB7DA-E6B5-4F5E-A23A-406DBF78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763125"/>
            <a:ext cx="1609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defPPr>
            <a:lvl1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6606B"/>
                </a:solidFill>
                <a:latin typeface="Manrope"/>
                <a:ea typeface="Manrope"/>
                <a:cs typeface="Manrope"/>
              </a:defRPr>
            </a:pPr>
            <a:r>
              <a:rPr sz="1725" b="0">
                <a:solidFill>
                  <a:srgbClr val="56606B"/>
                </a:solidFill>
                <a:latin typeface="Manrope"/>
                <a:ea typeface="Manrope"/>
                <a:cs typeface="Manrope"/>
              </a:rPr>
              <a:t>Connected features require the relevant account access.</a:t>
            </a:r>
          </a:p>
        </p:txBody>
      </p:sp>
    </p:spTree>
    <p:extLst>
      <p:ext uri="{BB962C8B-B14F-4D97-AF65-F5344CB8AC3E}">
        <p14:creationId xmlns:p14="http://schemas.microsoft.com/office/powerpoint/2010/main" val="14627055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 label">
            <a:extLst xmlns:a="http://schemas.openxmlformats.org/drawingml/2006/main">
              <a:ext uri="{FF2B5EF4-FFF2-40B4-BE49-F238E27FC236}">
                <a16:creationId xmlns:a16="http://schemas.microsoft.com/office/drawing/2014/main" id="{FFB100F0-6F4D-46FF-8A89-546D4CF5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14375"/>
            <a:ext cx="1476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65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ONE COMPLETE PLAN</a:t>
            </a:r>
          </a:p>
        </p:txBody>
      </p:sp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56936E40-9BE0-446D-A256-C0E26E39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79295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75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75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MapScore</a:t>
            </a:r>
          </a:p>
        </p:txBody>
      </p:sp>
      <p:sp>
        <p:nvSpPr>
          <p:cNvPr id="3" name="Price currency">
            <a:extLst xmlns:a="http://schemas.openxmlformats.org/drawingml/2006/main">
              <a:ext uri="{FF2B5EF4-FFF2-40B4-BE49-F238E27FC236}">
                <a16:creationId xmlns:a16="http://schemas.microsoft.com/office/drawing/2014/main" id="{47C70CC3-3637-4A65-AD3D-A1F50B17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4795"/>
            <a:ext cx="152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945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945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$</a:t>
            </a:r>
          </a:p>
        </p:txBody>
      </p:sp>
      <p:sp>
        <p:nvSpPr>
          <p:cNvPr id="4" name="Price amount">
            <a:extLst xmlns:a="http://schemas.openxmlformats.org/drawingml/2006/main">
              <a:ext uri="{FF2B5EF4-FFF2-40B4-BE49-F238E27FC236}">
                <a16:creationId xmlns:a16="http://schemas.microsoft.com/office/drawing/2014/main" id="{AFF27747-4A8E-4B3B-8E39-29AF52C7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46170"/>
            <a:ext cx="71437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68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16800" b="1">
                <a:solidFill>
                  <a:srgbClr val="D5A756"/>
                </a:solidFill>
                <a:latin typeface="Sora"/>
                <a:ea typeface="Sora"/>
                <a:cs typeface="Sora"/>
              </a:rPr>
              <a:t>395</a:t>
            </a:r>
          </a:p>
        </p:txBody>
      </p:sp>
      <p:sp>
        <p:nvSpPr>
          <p:cNvPr id="5" name="Body per month, per business ">
            <a:extLst xmlns:a="http://schemas.openxmlformats.org/drawingml/2006/main">
              <a:ext uri="{FF2B5EF4-FFF2-40B4-BE49-F238E27FC236}">
                <a16:creationId xmlns:a16="http://schemas.microsoft.com/office/drawing/2014/main" id="{11547614-C47D-45EE-A318-BCE7C714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59892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92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92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per month, per business location</a:t>
            </a:r>
          </a:p>
        </p:txBody>
      </p:sp>
      <p:sp>
        <p:nvSpPr>
          <p:cNvPr id="6" name="Pricing heading 0">
            <a:extLst xmlns:a="http://schemas.openxmlformats.org/drawingml/2006/main">
              <a:ext uri="{FF2B5EF4-FFF2-40B4-BE49-F238E27FC236}">
                <a16:creationId xmlns:a16="http://schemas.microsoft.com/office/drawing/2014/main" id="{6ECA86E3-8206-4DA1-B72A-B0C45444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9367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77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No setup fee</a:t>
            </a:r>
          </a:p>
        </p:txBody>
      </p:sp>
      <p:sp>
        <p:nvSpPr>
          <p:cNvPr id="7" name="Body No separate setup charge">
            <a:extLst xmlns:a="http://schemas.openxmlformats.org/drawingml/2006/main">
              <a:ext uri="{FF2B5EF4-FFF2-40B4-BE49-F238E27FC236}">
                <a16:creationId xmlns:a16="http://schemas.microsoft.com/office/drawing/2014/main" id="{7CD8189A-78EC-4720-A112-FA2A64A5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503295"/>
            <a:ext cx="647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No separate setup charge.</a:t>
            </a:r>
          </a:p>
        </p:txBody>
      </p:sp>
      <p:sp>
        <p:nvSpPr>
          <p:cNvPr id="8" name="Pricing heading 1">
            <a:extLst xmlns:a="http://schemas.openxmlformats.org/drawingml/2006/main">
              <a:ext uri="{FF2B5EF4-FFF2-40B4-BE49-F238E27FC236}">
                <a16:creationId xmlns:a16="http://schemas.microsoft.com/office/drawing/2014/main" id="{918DE6C6-AD7A-4BCC-88CC-FED70294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360545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77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No term commitment</a:t>
            </a:r>
          </a:p>
        </p:txBody>
      </p:sp>
      <p:sp>
        <p:nvSpPr>
          <p:cNvPr id="9" name="Body Monthly service without ">
            <a:extLst xmlns:a="http://schemas.openxmlformats.org/drawingml/2006/main">
              <a:ext uri="{FF2B5EF4-FFF2-40B4-BE49-F238E27FC236}">
                <a16:creationId xmlns:a16="http://schemas.microsoft.com/office/drawing/2014/main" id="{FF2C23EF-F849-41CD-B3B7-33455B87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70170"/>
            <a:ext cx="647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Monthly service without a fixed-term contract.</a:t>
            </a:r>
          </a:p>
        </p:txBody>
      </p:sp>
      <p:sp>
        <p:nvSpPr>
          <p:cNvPr id="10" name="Pricing heading 2">
            <a:extLst xmlns:a="http://schemas.openxmlformats.org/drawingml/2006/main">
              <a:ext uri="{FF2B5EF4-FFF2-40B4-BE49-F238E27FC236}">
                <a16:creationId xmlns:a16="http://schemas.microsoft.com/office/drawing/2014/main" id="{E506AB73-58CB-4463-898E-167CE88F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02742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77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Non-refundable payments</a:t>
            </a:r>
          </a:p>
        </p:txBody>
      </p:sp>
      <p:sp>
        <p:nvSpPr>
          <p:cNvPr id="11" name="Body Payments already made ar">
            <a:extLst xmlns:a="http://schemas.openxmlformats.org/drawingml/2006/main">
              <a:ext uri="{FF2B5EF4-FFF2-40B4-BE49-F238E27FC236}">
                <a16:creationId xmlns:a16="http://schemas.microsoft.com/office/drawing/2014/main" id="{59B27919-DBE8-45BB-8255-FFD05046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837045"/>
            <a:ext cx="647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Payments already made are non-refundable.</a:t>
            </a:r>
          </a:p>
        </p:txBody>
      </p:sp>
      <p:sp>
        <p:nvSpPr>
          <p:cNvPr id="14" name="Offer scope">
            <a:extLst xmlns:a="http://schemas.openxmlformats.org/drawingml/2006/main">
              <a:ext uri="{FF2B5EF4-FFF2-40B4-BE49-F238E27FC236}">
                <a16:creationId xmlns:a16="http://schemas.microsoft.com/office/drawing/2014/main" id="{DD004379-9D32-4822-AC8E-2D4DB5C5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906000"/>
            <a:ext cx="1609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575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Each additional location needs its own plan.</a:t>
            </a:r>
          </a:p>
        </p:txBody>
      </p:sp>
      <p:sp>
        <p:nvSpPr>
          <p:cNvPr id="16" name="Pricing heading 2 4">
            <a:extLst xmlns:a="http://schemas.openxmlformats.org/drawingml/2006/main">
              <a:ext uri="{FF2B5EF4-FFF2-40B4-BE49-F238E27FC236}">
                <a16:creationId xmlns:a16="http://schemas.microsoft.com/office/drawing/2014/main" id="{E506AB73-58CB-4463-898E-167CE88F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694295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77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77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Every MapScore service</a:t>
            </a:r>
          </a:p>
        </p:txBody>
      </p:sp>
      <p:sp>
        <p:nvSpPr>
          <p:cNvPr id="17" name="Body Payments already made ar 4">
            <a:extLst xmlns:a="http://schemas.openxmlformats.org/drawingml/2006/main">
              <a:ext uri="{FF2B5EF4-FFF2-40B4-BE49-F238E27FC236}">
                <a16:creationId xmlns:a16="http://schemas.microsoft.com/office/drawing/2014/main" id="{59B27919-DBE8-45BB-8255-FFD05046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503920"/>
            <a:ext cx="647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22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Profile, reviews, listings, content, reporting and support.</a:t>
            </a:r>
          </a:p>
        </p:txBody>
      </p:sp>
    </p:spTree>
    <p:extLst>
      <p:ext uri="{BB962C8B-B14F-4D97-AF65-F5344CB8AC3E}">
        <p14:creationId xmlns:p14="http://schemas.microsoft.com/office/powerpoint/2010/main" val="16020172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41BDC-552D-4F96-928B-D654427C14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c3b01eeb34b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F4CD7-F7C8-4489-B78B-CADFF9BD29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a7bd37d6e4fda"/>
          <a:stretch xmlns:a="http://schemas.openxmlformats.org/drawingml/2006/main"/>
        </p:blipFill>
        <p:spPr>
          <a:xfrm xmlns:a="http://schemas.openxmlformats.org/drawingml/2006/main">
            <a:off x="1047750" y="476250"/>
            <a:ext cx="4381500" cy="1460500"/>
          </a:xfrm>
          <a:prstGeom xmlns:a="http://schemas.openxmlformats.org/drawingml/2006/main" prst="rect">
            <a:avLst/>
          </a:prstGeom>
        </p:spPr>
      </p:pic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688A08CB-646D-4E62-AD86-E383E784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5125"/>
            <a:ext cx="10001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6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Your next move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6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starts with a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6600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6600" b="1">
                <a:solidFill>
                  <a:srgbClr val="F6EFE3"/>
                </a:solidFill>
                <a:latin typeface="Sora"/>
                <a:ea typeface="Sora"/>
                <a:cs typeface="Sora"/>
              </a:rPr>
              <a:t>free audit.</a:t>
            </a:r>
          </a:p>
        </p:txBody>
      </p:sp>
      <p:sp>
        <p:nvSpPr>
          <p:cNvPr id="4" name="Arrange call link">
            <a:extLst xmlns:a="http://schemas.openxmlformats.org/drawingml/2006/main">
              <a:ext uri="{FF2B5EF4-FFF2-40B4-BE49-F238E27FC236}">
                <a16:creationId xmlns:a16="http://schemas.microsoft.com/office/drawing/2014/main" id="{94685F1F-8C51-4E3E-9789-5AF826D8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334250"/>
            <a:ext cx="952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defPPr>
            <a:lvl1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1pPr>
            <a:lvl2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2pPr>
            <a:lvl3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3pPr>
            <a:lvl4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4pPr>
            <a:lvl5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5pPr>
            <a:lvl6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6pPr>
            <a:lvl7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7pPr>
            <a:lvl8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8pPr>
            <a:lvl9pPr algn="l"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3000" b="1">
                <a:solidFill>
                  <a:srgbClr val="D5A756"/>
                </a:solidFill>
                <a:latin typeface="Sora"/>
                <a:ea typeface="Sora"/>
                <a:cs typeface="Sora"/>
              </a:defRPr>
            </a:pPr>
            <a:r>
              <a:rPr sz="3000" b="1">
                <a:solidFill>
                  <a:srgbClr val="D5A756"/>
                </a:solidFill>
                <a:latin typeface="Sora"/>
                <a:ea typeface="Sora"/>
                <a:cs typeface="Sora"/>
                <a:hlinkClick xmlns:ns0="http://schemas.openxmlformats.org/officeDocument/2006/relationships" ns0:id="rId6"/>
              </a:rPr>
              <a:t>Book a Free Guided Audit</a:t>
            </a:r>
          </a:p>
        </p:txBody>
      </p:sp>
      <p:sp>
        <p:nvSpPr>
          <p:cNvPr id="5" name="Audit link">
            <a:extLst xmlns:a="http://schemas.openxmlformats.org/drawingml/2006/main">
              <a:ext uri="{FF2B5EF4-FFF2-40B4-BE49-F238E27FC236}">
                <a16:creationId xmlns:a16="http://schemas.microsoft.com/office/drawing/2014/main" id="{9D4A864D-F10A-4D6A-95B4-F332F668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38200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defPPr>
            <a:lvl1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1pPr>
            <a:lvl2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2pPr>
            <a:lvl3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3pPr>
            <a:lvl4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4pPr>
            <a:lvl5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5pPr>
            <a:lvl6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6pPr>
            <a:lvl7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7pPr>
            <a:lvl8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8pPr>
            <a:lvl9pPr algn="l"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625" b="1">
                <a:solidFill>
                  <a:srgbClr val="F6EFE3"/>
                </a:solidFill>
                <a:latin typeface="Sora"/>
                <a:ea typeface="Sora"/>
                <a:cs typeface="Sora"/>
              </a:defRPr>
            </a:pPr>
            <a:r>
              <a:rPr sz="2625" b="1">
                <a:solidFill>
                  <a:srgbClr val="F6EFE3"/>
                </a:solidFill>
                <a:latin typeface="Sora"/>
                <a:ea typeface="Sora"/>
                <a:cs typeface="Sora"/>
              </a:rPr>
              <a:t>A 30-minute call. Your CBB marketing analyst guides the audit with you.</a:t>
            </a:r>
          </a:p>
        </p:txBody>
      </p:sp>
      <p:sp>
        <p:nvSpPr>
          <p:cNvPr id="6" name="Contact information">
            <a:extLst xmlns:a="http://schemas.openxmlformats.org/drawingml/2006/main">
              <a:ext uri="{FF2B5EF4-FFF2-40B4-BE49-F238E27FC236}">
                <a16:creationId xmlns:a16="http://schemas.microsoft.com/office/drawing/2014/main" id="{823E7F97-1373-4544-BFBE-C64CEB3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4297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defPPr>
            <a:lvl1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1pPr>
            <a:lvl2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2pPr>
            <a:lvl3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3pPr>
            <a:lvl4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4pPr>
            <a:lvl5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5pPr>
            <a:lvl6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6pPr>
            <a:lvl7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7pPr>
            <a:lvl8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8pPr>
            <a:lvl9pPr algn="l"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david@coveredbridgebrands.com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950" b="0">
                <a:solidFill>
                  <a:srgbClr val="B9BEC4"/>
                </a:solidFill>
                <a:latin typeface="Manrope"/>
                <a:ea typeface="Manrope"/>
                <a:cs typeface="Manrope"/>
              </a:defRPr>
            </a:pPr>
            <a:r>
              <a:rPr sz="1950" b="0">
                <a:solidFill>
                  <a:srgbClr val="B9BEC4"/>
                </a:solidFill>
                <a:latin typeface="Manrope"/>
                <a:ea typeface="Manrope"/>
                <a:cs typeface="Manrope"/>
              </a:rPr>
              <a:t>814-893-1075</a:t>
            </a:r>
          </a:p>
        </p:txBody>
      </p:sp>
    </p:spTree>
    <p:extLst>
      <p:ext uri="{BB962C8B-B14F-4D97-AF65-F5344CB8AC3E}">
        <p14:creationId xmlns:p14="http://schemas.microsoft.com/office/powerpoint/2010/main" val="1806670535"/>
      </p:ext>
    </p:extLst>
  </p:cSld>
</p:sld>
</file>

<file path=ppt/theme/theme1.xml><?xml version="1.0" encoding="utf-8"?>
<a:theme xmlns:a="http://schemas.openxmlformats.org/drawingml/2006/main" name="ChatGPT">
  <a:themeElements>
    <a:clrScheme name="CBB MapScore">
      <a:dk1>
        <a:srgbClr val="0A0B0C"/>
      </a:dk1>
      <a:lt1>
        <a:srgbClr val="FFFFFF"/>
      </a:lt1>
      <a:dk2>
        <a:srgbClr val="171B20"/>
      </a:dk2>
      <a:lt2>
        <a:srgbClr val="F6EFE3"/>
      </a:lt2>
      <a:accent1>
        <a:srgbClr val="D5A756"/>
      </a:accent1>
      <a:accent2>
        <a:srgbClr val="F3CF7C"/>
      </a:accent2>
      <a:accent3>
        <a:srgbClr val="A2732F"/>
      </a:accent3>
      <a:accent4>
        <a:srgbClr val="56606B"/>
      </a:accent4>
      <a:accent5>
        <a:srgbClr val="F6EFE3"/>
      </a:accent5>
      <a:accent6>
        <a:srgbClr val="121415"/>
      </a:accent6>
      <a:hlink>
        <a:srgbClr val="D5A756"/>
      </a:hlink>
      <a:folHlink>
        <a:srgbClr val="F3CF7C"/>
      </a:folHlink>
    </a:clrScheme>
    <a:fontScheme name="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CBB MapScor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2026-10-17T06:32:54.9500000Z</dcterms:created>
  <dcterms:modified xsi:type="dcterms:W3CDTF">2026-10-17T06:32:54.9500000Z</dcterms:modified>
</coreProperties>
</file>